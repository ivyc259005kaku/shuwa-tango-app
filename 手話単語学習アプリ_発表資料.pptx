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7" r:id="rId1"/>
  </p:sldMasterIdLst>
  <p:notesMasterIdLst>
    <p:notesMasterId r:id="rId20"/>
  </p:notesMasterIdLst>
  <p:sldIdLst>
    <p:sldId id="256" r:id="rId2"/>
    <p:sldId id="273" r:id="rId3"/>
    <p:sldId id="274" r:id="rId4"/>
    <p:sldId id="257" r:id="rId5"/>
    <p:sldId id="259" r:id="rId6"/>
    <p:sldId id="266" r:id="rId7"/>
    <p:sldId id="258" r:id="rId8"/>
    <p:sldId id="269" r:id="rId9"/>
    <p:sldId id="270" r:id="rId10"/>
    <p:sldId id="271" r:id="rId11"/>
    <p:sldId id="272" r:id="rId12"/>
    <p:sldId id="260" r:id="rId13"/>
    <p:sldId id="261" r:id="rId14"/>
    <p:sldId id="262" r:id="rId15"/>
    <p:sldId id="263" r:id="rId16"/>
    <p:sldId id="264" r:id="rId17"/>
    <p:sldId id="267" r:id="rId18"/>
    <p:sldId id="268" r:id="rId19"/>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3C7E"/>
    <a:srgbClr val="ED5551"/>
    <a:srgbClr val="0E4D3C"/>
    <a:srgbClr val="F8FB8D"/>
    <a:srgbClr val="0088EE"/>
    <a:srgbClr val="F6B0E5"/>
    <a:srgbClr val="376CAD"/>
    <a:srgbClr val="626262"/>
    <a:srgbClr val="FFFFFF"/>
    <a:srgbClr val="FBDA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3" autoAdjust="0"/>
    <p:restoredTop sz="71536" autoAdjust="0"/>
  </p:normalViewPr>
  <p:slideViewPr>
    <p:cSldViewPr snapToGrid="0" snapToObjects="1">
      <p:cViewPr varScale="1">
        <p:scale>
          <a:sx n="56" d="100"/>
          <a:sy n="56" d="100"/>
        </p:scale>
        <p:origin x="34" y="134"/>
      </p:cViewPr>
      <p:guideLst/>
    </p:cSldViewPr>
  </p:slideViewPr>
  <p:outlineViewPr>
    <p:cViewPr>
      <p:scale>
        <a:sx n="33" d="100"/>
        <a:sy n="33" d="100"/>
      </p:scale>
      <p:origin x="0" y="0"/>
    </p:cViewPr>
  </p:outlineViewPr>
  <p:notesTextViewPr>
    <p:cViewPr>
      <p:scale>
        <a:sx n="150" d="100"/>
        <a:sy n="150" d="100"/>
      </p:scale>
      <p:origin x="0" y="-100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429407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情報処理学科</a:t>
            </a:r>
            <a:r>
              <a:rPr lang="en-US" altLang="ja-JP" dirty="0"/>
              <a:t>2</a:t>
            </a:r>
            <a:r>
              <a:rPr lang="ja-JP" altLang="en-US" dirty="0"/>
              <a:t>年の賀来ら</a:t>
            </a:r>
            <a:r>
              <a:rPr lang="ja-JP" altLang="en-US" dirty="0" err="1"/>
              <a:t>らです</a:t>
            </a:r>
            <a:r>
              <a:rPr lang="ja-JP" altLang="en-US" dirty="0"/>
              <a:t>。</a:t>
            </a:r>
            <a:br>
              <a:rPr lang="en-US" altLang="ja-JP" dirty="0"/>
            </a:br>
            <a:r>
              <a:rPr lang="ja-JP" altLang="en-US" dirty="0"/>
              <a:t>手話単語学習アプリ」について発表します。</a:t>
            </a:r>
            <a:endParaRPr lang="en-US" altLang="ja-JP" dirty="0"/>
          </a:p>
          <a:p>
            <a:r>
              <a:rPr lang="ja-JP" altLang="en-US" dirty="0"/>
              <a:t>このアプリは、誰でも、いつでも、手軽に手話を学べる</a:t>
            </a:r>
            <a:r>
              <a:rPr lang="en-US" altLang="ja-JP" dirty="0"/>
              <a:t>Web</a:t>
            </a:r>
            <a:r>
              <a:rPr lang="ja-JP" altLang="en-US" dirty="0"/>
              <a:t>アプリです。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今日の発表の流れです。最初に手話をめぐる現状をお話しし、なぜこのアプリを作ったか、アプリの紹介とデモ、こだわった点と苦労した点、最後に今後の課題とまとめをお話しします。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ja-JP" altLang="en-US" dirty="0"/>
              <a:t>国連</a:t>
            </a:r>
            <a:r>
              <a:rPr lang="en-US" altLang="ja-JP" dirty="0"/>
              <a:t>(</a:t>
            </a:r>
            <a:r>
              <a:rPr lang="ja-JP" altLang="en-US" dirty="0"/>
              <a:t>世界のルール</a:t>
            </a:r>
            <a:r>
              <a:rPr lang="en-US" altLang="ja-JP" dirty="0"/>
              <a:t>)</a:t>
            </a:r>
            <a:br>
              <a:rPr lang="en-US" altLang="ja-JP" dirty="0"/>
            </a:br>
            <a:r>
              <a:rPr lang="en-US" altLang="ja-JP" dirty="0"/>
              <a:t>2017</a:t>
            </a:r>
            <a:r>
              <a:rPr lang="ja-JP" altLang="en-US" dirty="0"/>
              <a:t>年</a:t>
            </a:r>
            <a:r>
              <a:rPr lang="en-US" altLang="ja-JP" dirty="0"/>
              <a:t>12</a:t>
            </a:r>
            <a:r>
              <a:rPr lang="ja-JP" altLang="en-US" dirty="0"/>
              <a:t>月</a:t>
            </a:r>
            <a:r>
              <a:rPr lang="en-US" altLang="ja-JP" dirty="0"/>
              <a:t>19</a:t>
            </a:r>
            <a:r>
              <a:rPr lang="ja-JP" altLang="en-US" dirty="0"/>
              <a:t>日、国連総会が</a:t>
            </a:r>
            <a:r>
              <a:rPr lang="en-US" altLang="ja-JP" dirty="0"/>
              <a:t>9</a:t>
            </a:r>
            <a:r>
              <a:rPr lang="ja-JP" altLang="en-US" dirty="0"/>
              <a:t>月</a:t>
            </a:r>
            <a:r>
              <a:rPr lang="en-US" altLang="ja-JP" dirty="0"/>
              <a:t>23</a:t>
            </a:r>
            <a:r>
              <a:rPr lang="ja-JP" altLang="en-US" dirty="0"/>
              <a:t>日を「国際手話言語デー」と決議</a:t>
            </a:r>
          </a:p>
          <a:p>
            <a:pPr rtl="0"/>
            <a:r>
              <a:rPr lang="ja-JP" altLang="en-US" dirty="0"/>
              <a:t>内容は、手話が音声言語と同じ言語であると認め、</a:t>
            </a:r>
            <a:r>
              <a:rPr lang="ja-JP" altLang="en-US" dirty="0" err="1"/>
              <a:t>ろう</a:t>
            </a:r>
            <a:r>
              <a:rPr lang="ja-JP" altLang="en-US" dirty="0"/>
              <a:t>者の人権を守るために各国が社会全体で手話への意識を高めること</a:t>
            </a:r>
          </a:p>
          <a:p>
            <a:pPr rtl="0"/>
            <a:r>
              <a:rPr lang="en-US" altLang="ja-JP" dirty="0"/>
              <a:t>9</a:t>
            </a:r>
            <a:r>
              <a:rPr lang="ja-JP" altLang="en-US" dirty="0"/>
              <a:t>月</a:t>
            </a:r>
            <a:r>
              <a:rPr lang="en-US" altLang="ja-JP" dirty="0"/>
              <a:t>23</a:t>
            </a:r>
            <a:r>
              <a:rPr lang="ja-JP" altLang="en-US" dirty="0"/>
              <a:t>日は世界</a:t>
            </a:r>
            <a:r>
              <a:rPr lang="ja-JP" altLang="en-US" dirty="0" err="1"/>
              <a:t>ろう</a:t>
            </a:r>
            <a:r>
              <a:rPr lang="ja-JP" altLang="en-US" dirty="0"/>
              <a:t>連盟の設立記念日でもある</a:t>
            </a:r>
          </a:p>
          <a:p>
            <a:pPr rtl="0"/>
            <a:r>
              <a:rPr lang="ja-JP" altLang="en-US" dirty="0"/>
              <a:t>これは条約ではなく「決議</a:t>
            </a:r>
            <a:r>
              <a:rPr lang="en-US" altLang="ja-JP" dirty="0"/>
              <a:t>(</a:t>
            </a:r>
            <a:r>
              <a:rPr lang="ja-JP" altLang="en-US" dirty="0"/>
              <a:t>記念日の制定</a:t>
            </a:r>
            <a:r>
              <a:rPr lang="en-US" altLang="ja-JP" dirty="0"/>
              <a:t>)</a:t>
            </a:r>
            <a:r>
              <a:rPr lang="ja-JP" altLang="en-US" dirty="0"/>
              <a:t>」。条約にあたるのは</a:t>
            </a:r>
            <a:r>
              <a:rPr lang="en-US" altLang="ja-JP" dirty="0"/>
              <a:t>2006</a:t>
            </a:r>
            <a:r>
              <a:rPr lang="ja-JP" altLang="en-US" dirty="0"/>
              <a:t>年の障害者権利条約で、日本は</a:t>
            </a:r>
            <a:r>
              <a:rPr lang="en-US" altLang="ja-JP" dirty="0"/>
              <a:t>2014</a:t>
            </a:r>
            <a:r>
              <a:rPr lang="ja-JP" altLang="en-US" dirty="0"/>
              <a:t>年に批准</a:t>
            </a:r>
            <a:br>
              <a:rPr lang="en-US" altLang="ja-JP" dirty="0"/>
            </a:br>
            <a:r>
              <a:rPr lang="ja-JP" altLang="en-US" b="1" dirty="0"/>
              <a:t>法律</a:t>
            </a:r>
            <a:r>
              <a:rPr lang="en-US" altLang="ja-JP" b="1" dirty="0"/>
              <a:t>(</a:t>
            </a:r>
            <a:r>
              <a:rPr lang="ja-JP" altLang="en-US" b="1" dirty="0"/>
              <a:t>国のルール</a:t>
            </a:r>
            <a:r>
              <a:rPr lang="en-US" altLang="ja-JP" b="1" dirty="0"/>
              <a:t>)</a:t>
            </a:r>
            <a:endParaRPr lang="ja-JP" altLang="en-US" dirty="0"/>
          </a:p>
          <a:p>
            <a:pPr rtl="0"/>
            <a:r>
              <a:rPr lang="en-US" altLang="ja-JP" b="1" dirty="0"/>
              <a:t>2022</a:t>
            </a:r>
            <a:r>
              <a:rPr lang="ja-JP" altLang="en-US" b="1" dirty="0"/>
              <a:t>年</a:t>
            </a:r>
            <a:r>
              <a:rPr lang="en-US" altLang="ja-JP" b="1" dirty="0"/>
              <a:t>5</a:t>
            </a:r>
            <a:r>
              <a:rPr lang="ja-JP" altLang="en-US" b="1" dirty="0"/>
              <a:t>月 障害者情報アクセシビリティ・コミュニケーション施策推進法</a:t>
            </a:r>
            <a:r>
              <a:rPr lang="ja-JP" altLang="en-US" dirty="0"/>
              <a:t> </a:t>
            </a:r>
          </a:p>
          <a:p>
            <a:pPr lvl="1" rtl="0"/>
            <a:r>
              <a:rPr lang="ja-JP" altLang="en-US" dirty="0"/>
              <a:t>障害のある人が情報を得て意思疎通できる環境づくりを、国の施策にした法律</a:t>
            </a:r>
          </a:p>
          <a:p>
            <a:pPr lvl="1" rtl="0"/>
            <a:r>
              <a:rPr lang="ja-JP" altLang="en-US" dirty="0"/>
              <a:t>手話通訳の派遣などを求める根拠になる</a:t>
            </a:r>
          </a:p>
          <a:p>
            <a:pPr lvl="1" rtl="0"/>
            <a:r>
              <a:rPr lang="ja-JP" altLang="en-US" dirty="0"/>
              <a:t>手話言語法をつくる検討も、附帯決議に盛り込まれた</a:t>
            </a:r>
          </a:p>
          <a:p>
            <a:pPr rtl="0"/>
            <a:r>
              <a:rPr lang="en-US" altLang="ja-JP" b="1" dirty="0"/>
              <a:t>2025</a:t>
            </a:r>
            <a:r>
              <a:rPr lang="ja-JP" altLang="en-US" b="1" dirty="0"/>
              <a:t>年</a:t>
            </a:r>
            <a:r>
              <a:rPr lang="en-US" altLang="ja-JP" b="1" dirty="0"/>
              <a:t>6</a:t>
            </a:r>
            <a:r>
              <a:rPr lang="ja-JP" altLang="en-US" b="1" dirty="0"/>
              <a:t>月 手話施策推進法</a:t>
            </a:r>
            <a:r>
              <a:rPr lang="ja-JP" altLang="en-US" dirty="0"/>
              <a:t> </a:t>
            </a:r>
          </a:p>
          <a:p>
            <a:pPr lvl="1" rtl="0"/>
            <a:r>
              <a:rPr lang="ja-JP" altLang="en-US" dirty="0"/>
              <a:t>全会一致で成立し、公布日に施行</a:t>
            </a:r>
          </a:p>
          <a:p>
            <a:pPr lvl="1" rtl="0"/>
            <a:r>
              <a:rPr lang="ja-JP" altLang="en-US" dirty="0"/>
              <a:t>手話を「言語その他の重要な意思疎通の手段」と位置づけた</a:t>
            </a:r>
          </a:p>
          <a:p>
            <a:pPr lvl="1" rtl="0"/>
            <a:r>
              <a:rPr lang="ja-JP" altLang="en-US" dirty="0"/>
              <a:t>柱は「手話の習得・使用の環境整備」「手話文化の保存・継承・発展」「国民の理解と関心の増進」の</a:t>
            </a:r>
            <a:r>
              <a:rPr lang="en-US" altLang="ja-JP" dirty="0"/>
              <a:t>3</a:t>
            </a:r>
            <a:r>
              <a:rPr lang="ja-JP" altLang="en-US" dirty="0"/>
              <a:t>つ</a:t>
            </a:r>
          </a:p>
          <a:p>
            <a:pPr lvl="1" rtl="0"/>
            <a:r>
              <a:rPr lang="ja-JP" altLang="en-US"/>
              <a:t>国と地方自治体の責務も定めた</a:t>
            </a:r>
          </a:p>
          <a:p>
            <a:pPr rtl="0"/>
            <a:endParaRPr lang="ja-JP" altLang="en-US" dirty="0"/>
          </a:p>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手話単語を学ぶには、</a:t>
            </a:r>
            <a:r>
              <a:rPr lang="en-US" altLang="ja-JP" dirty="0"/>
              <a:t>500</a:t>
            </a:r>
            <a:r>
              <a:rPr lang="ja-JP" altLang="en-US" dirty="0"/>
              <a:t>ページ以上、重さにして約</a:t>
            </a:r>
            <a:r>
              <a:rPr lang="en-US" altLang="ja-JP" dirty="0"/>
              <a:t>750</a:t>
            </a:r>
            <a:r>
              <a:rPr lang="ja-JP" altLang="en-US" dirty="0"/>
              <a:t>グラムもある辞典が必要です。</a:t>
            </a:r>
            <a:br>
              <a:rPr lang="en-US" altLang="ja-JP" dirty="0"/>
            </a:br>
            <a:r>
              <a:rPr lang="ja-JP" altLang="en-US" dirty="0"/>
              <a:t>しかも手話は毎年新しい単語が追加されるため、情報収集だけでも大変です。</a:t>
            </a:r>
            <a:br>
              <a:rPr lang="en-US" altLang="ja-JP" dirty="0"/>
            </a:br>
            <a:r>
              <a:rPr lang="ja-JP" altLang="en-US" dirty="0"/>
              <a:t>そこで、隙間時間に手軽に学習できる仕組みが必要だと考え、このアプリを開発しました。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裏側の技術について説明します。</a:t>
            </a:r>
            <a:br>
              <a:rPr lang="en-US" altLang="ja-JP" dirty="0"/>
            </a:br>
            <a:r>
              <a:rPr lang="en-US" altLang="ja-JP" dirty="0"/>
              <a:t>PHP</a:t>
            </a:r>
            <a:r>
              <a:rPr lang="ja-JP" altLang="en-US" dirty="0"/>
              <a:t>のフレームワークである</a:t>
            </a:r>
            <a:r>
              <a:rPr lang="en-US" altLang="ja-JP" dirty="0"/>
              <a:t>Laravel</a:t>
            </a:r>
            <a:r>
              <a:rPr lang="ja-JP" altLang="en-US" dirty="0"/>
              <a:t>でサーバ側の処理を実装し、データは</a:t>
            </a:r>
            <a:r>
              <a:rPr lang="en-US" altLang="ja-JP" dirty="0"/>
              <a:t>MySQL</a:t>
            </a:r>
            <a:r>
              <a:rPr lang="ja-JP" altLang="en-US" dirty="0"/>
              <a:t>で管理、開発環境は</a:t>
            </a:r>
            <a:r>
              <a:rPr lang="en-US" altLang="ja-JP" dirty="0"/>
              <a:t>Docker</a:t>
            </a:r>
            <a:r>
              <a:rPr lang="ja-JP" altLang="en-US" dirty="0" err="1"/>
              <a:t>で統</a:t>
            </a:r>
            <a:r>
              <a:rPr lang="ja-JP" altLang="en-US" dirty="0"/>
              <a:t>一しました。また、ログイン状態はセッションを使って管理しており、クッキーに保存した</a:t>
            </a:r>
            <a:r>
              <a:rPr lang="en-US" altLang="ja-JP" dirty="0"/>
              <a:t>ID</a:t>
            </a:r>
            <a:r>
              <a:rPr lang="ja-JP" altLang="en-US" dirty="0"/>
              <a:t>と紐づけて状態を維持しています。管理者だけが単語管理画面にアクセスできるよう、ミドルウェアで権限制御も行っています。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主な機能をまとめると、</a:t>
            </a:r>
            <a:r>
              <a:rPr lang="en-US" altLang="ja-JP" dirty="0"/>
              <a:t>4</a:t>
            </a:r>
            <a:r>
              <a:rPr lang="ja-JP" altLang="en-US" dirty="0"/>
              <a:t>択</a:t>
            </a:r>
            <a:r>
              <a:rPr lang="en-US" altLang="ja-JP" dirty="0"/>
              <a:t>10</a:t>
            </a:r>
            <a:r>
              <a:rPr lang="ja-JP" altLang="en-US" dirty="0"/>
              <a:t>問のランダムクイズ、途中で中断しても続きから再開できる機能、学習進捗の確認、苦手単語の復習の</a:t>
            </a:r>
            <a:r>
              <a:rPr lang="en-US" altLang="ja-JP" dirty="0"/>
              <a:t>4</a:t>
            </a:r>
            <a:r>
              <a:rPr lang="ja-JP" altLang="en-US" dirty="0"/>
              <a:t>つです。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53736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管理者としてログインし、単語のイラストや4択問題を入力して登録します。</a:t>
            </a:r>
            <a:br>
              <a:rPr lang="en-US" altLang="ja-JP" dirty="0"/>
            </a:br>
            <a:r>
              <a:rPr lang="ja-JP" altLang="en-US" dirty="0"/>
              <a:t>登録した単語は単語管理の一覧画面でいつでも編集・削除できます。</a:t>
            </a:r>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続いて利用者側の画面です。</a:t>
            </a:r>
            <a:br>
              <a:rPr lang="en-US" altLang="ja-JP" dirty="0"/>
            </a:br>
            <a:r>
              <a:rPr lang="ja-JP" altLang="en-US" dirty="0"/>
              <a:t>ログイン後はホーム画面からすぐにクイズを始められ、前回途中で中断していた場合は続きから再開できます。</a:t>
            </a:r>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766173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クイズでは問題を開始すると4択形式で出題されます。学習進捗画面では正答率を確認でき、苦手単語一覧では間違えた単語を確認できます。</a:t>
            </a:r>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76250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アカウント設定画面からはパスワードの変更ができ、確認用パスワードが一致しない場合はエラーメッセージを表示します。</a:t>
            </a:r>
            <a:br>
              <a:rPr lang="en-US" altLang="ja-JP" dirty="0"/>
            </a:br>
            <a:r>
              <a:rPr lang="ja-JP" altLang="en-US" dirty="0"/>
              <a:t>なお、現在はパスワードを忘れた場合の再設定機能が未実装のため、今後メール送信の仕組みと合わせて実装していきたいと考えています。</a:t>
            </a:r>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300763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退会する場合はパスワード入力による本人確認を行い、確認ダイアログを経てホーム画面に戻る流れになっています。</a:t>
            </a:r>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29136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ここで実際にアプリを操作してお見せします。ログインしてクイズに挑戦し、最後に退会手続きの画面までご覧いただきます。(実機デモ)</a:t>
            </a:r>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小学生から高齢者まで幅広い年代が使うことを想定し、見やすいダークモードを実装しました。</a:t>
            </a:r>
            <a:br>
              <a:rPr lang="en-US" altLang="ja-JP" dirty="0"/>
            </a:br>
            <a:r>
              <a:rPr lang="ja-JP" altLang="en-US" dirty="0"/>
              <a:t>また、将来的なスマホアプリ化も見据えて、レスポンシブ対応も行っています。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ja-JP" altLang="en-US" dirty="0"/>
              <a:t>開発で一番苦労したのは環境構築です。当初</a:t>
            </a:r>
            <a:r>
              <a:rPr lang="en-US" altLang="ja-JP" dirty="0"/>
              <a:t>Windows</a:t>
            </a:r>
            <a:r>
              <a:rPr lang="ja-JP" altLang="en-US" dirty="0"/>
              <a:t>上で直接開発していましたが、データベースへの保存処理に想定以上の時間がかかる問題が発生しました。原因を調べたところ、</a:t>
            </a:r>
            <a:r>
              <a:rPr lang="en-US" altLang="ja-JP" dirty="0"/>
              <a:t>WSL2</a:t>
            </a:r>
            <a:r>
              <a:rPr lang="ja-JP" altLang="en-US" dirty="0"/>
              <a:t>という</a:t>
            </a:r>
            <a:r>
              <a:rPr lang="en-US" altLang="ja-JP" dirty="0"/>
              <a:t>Linux</a:t>
            </a:r>
            <a:r>
              <a:rPr lang="ja-JP" altLang="en-US" dirty="0"/>
              <a:t>環境上で作業する方が処理が高速だと分かり、開発環境を</a:t>
            </a:r>
            <a:r>
              <a:rPr lang="en-US" altLang="ja-JP" dirty="0"/>
              <a:t>WSL2</a:t>
            </a:r>
            <a:r>
              <a:rPr lang="ja-JP" altLang="en-US" dirty="0"/>
              <a:t>と</a:t>
            </a:r>
            <a:r>
              <a:rPr lang="en-US" altLang="ja-JP" dirty="0"/>
              <a:t>Docker</a:t>
            </a:r>
            <a:r>
              <a:rPr lang="ja-JP" altLang="en-US" dirty="0"/>
              <a:t>へ移行しました。</a:t>
            </a:r>
          </a:p>
          <a:p>
            <a:pPr rtl="0"/>
            <a:r>
              <a:rPr lang="en-US" altLang="ja-JP" dirty="0"/>
              <a:t>XAMPP</a:t>
            </a:r>
            <a:r>
              <a:rPr lang="ja-JP" altLang="en-US" dirty="0"/>
              <a:t>は自分の</a:t>
            </a:r>
            <a:r>
              <a:rPr lang="en-US" altLang="ja-JP" dirty="0"/>
              <a:t>PC</a:t>
            </a:r>
            <a:r>
              <a:rPr lang="ja-JP" altLang="en-US" dirty="0"/>
              <a:t>に直接インストールする方式ですが、</a:t>
            </a:r>
            <a:r>
              <a:rPr lang="en-US" altLang="ja-JP" dirty="0"/>
              <a:t>Docker</a:t>
            </a:r>
            <a:r>
              <a:rPr lang="ja-JP" altLang="en-US" dirty="0"/>
              <a:t>はコンテナという独立した環境に閉じ込める方式です。誰の</a:t>
            </a:r>
            <a:r>
              <a:rPr lang="en-US" altLang="ja-JP" dirty="0"/>
              <a:t>PC</a:t>
            </a:r>
            <a:r>
              <a:rPr lang="ja-JP" altLang="en-US" dirty="0"/>
              <a:t>でも同じ環境を再現でき、環境を汚さずに試行錯誤できるのが利点です。実際、</a:t>
            </a:r>
            <a:r>
              <a:rPr lang="en-US" altLang="ja-JP" dirty="0"/>
              <a:t>Windows</a:t>
            </a:r>
            <a:r>
              <a:rPr lang="ja-JP" altLang="en-US" dirty="0"/>
              <a:t>上で直接開発していた時はデータベースへの保存が遅かったのですが、</a:t>
            </a:r>
            <a:r>
              <a:rPr lang="en-US" altLang="ja-JP" dirty="0"/>
              <a:t>Linux</a:t>
            </a:r>
            <a:r>
              <a:rPr lang="ja-JP" altLang="en-US" dirty="0"/>
              <a:t>環境である</a:t>
            </a:r>
            <a:r>
              <a:rPr lang="en-US" altLang="ja-JP" dirty="0"/>
              <a:t>WSL2</a:t>
            </a:r>
            <a:r>
              <a:rPr lang="ja-JP" altLang="en-US" dirty="0"/>
              <a:t>と</a:t>
            </a:r>
            <a:r>
              <a:rPr lang="en-US" altLang="ja-JP" dirty="0"/>
              <a:t>Docker</a:t>
            </a:r>
            <a:r>
              <a:rPr lang="ja-JP" altLang="en-US" dirty="0"/>
              <a:t>に切り替えたことで解決しました。</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今後の課題は</a:t>
            </a:r>
            <a:r>
              <a:rPr lang="en-US" altLang="ja-JP" dirty="0"/>
              <a:t>4</a:t>
            </a:r>
            <a:r>
              <a:rPr lang="ja-JP" altLang="en-US" dirty="0"/>
              <a:t>つあります。現在は市販の手話学習カードを使用しているため、このままでは製品化できません。今後は自分でイラストを生成できるようになり、オリジナル教材として提供したいと考えています。また、外部からのアクセス対応や、単語数の拡充・学習ランキング機能の追加も検討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分厚い手話辞典に代わる、手軽に学べるデジタル教材を目指して開発しました。環境構築のトラブルを乗り越えながら、</a:t>
            </a:r>
            <a:r>
              <a:rPr lang="en-US" altLang="ja-JP" dirty="0"/>
              <a:t>Laravel</a:t>
            </a:r>
            <a:r>
              <a:rPr lang="ja-JP" altLang="en-US" dirty="0"/>
              <a:t>・</a:t>
            </a:r>
            <a:r>
              <a:rPr lang="en-US" altLang="ja-JP" dirty="0"/>
              <a:t>MySQL</a:t>
            </a:r>
            <a:r>
              <a:rPr lang="ja-JP" altLang="en-US" dirty="0"/>
              <a:t>・</a:t>
            </a:r>
            <a:r>
              <a:rPr lang="en-US" altLang="ja-JP" dirty="0"/>
              <a:t>Docker</a:t>
            </a:r>
            <a:r>
              <a:rPr lang="ja-JP" altLang="en-US" dirty="0"/>
              <a:t>による開発の流れを実践的に学ぶことができました。今後も著作権の壁を越えるオリジナル教材化など、さらに発展させていきたいです。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以上で発表を終わります。ご質問があればお願いします。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2871232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ご清聴ありがとうございました。</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974997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3093888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5214284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7401080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1657291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620131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6447397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64020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8813552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262949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7282479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0258923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593263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88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10/5/2026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52687125"/>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120850" y="-1645920"/>
            <a:ext cx="4869469" cy="4312607"/>
          </a:xfrm>
          <a:prstGeom prst="ellipse">
            <a:avLst/>
          </a:prstGeom>
          <a:solidFill>
            <a:srgbClr val="F96167">
              <a:alpha val="22000"/>
            </a:srgbClr>
          </a:solidFill>
          <a:ln/>
        </p:spPr>
      </p:sp>
      <p:sp>
        <p:nvSpPr>
          <p:cNvPr id="3" name="Shape 1"/>
          <p:cNvSpPr/>
          <p:nvPr/>
        </p:nvSpPr>
        <p:spPr>
          <a:xfrm>
            <a:off x="-1371600" y="4114800"/>
            <a:ext cx="4114800" cy="4114800"/>
          </a:xfrm>
          <a:prstGeom prst="ellipse">
            <a:avLst/>
          </a:prstGeom>
          <a:solidFill>
            <a:srgbClr val="F9E795">
              <a:alpha val="15000"/>
            </a:srgbClr>
          </a:solidFill>
          <a:ln/>
        </p:spPr>
      </p:sp>
      <p:sp>
        <p:nvSpPr>
          <p:cNvPr id="6" name="Text 4"/>
          <p:cNvSpPr txBox="1"/>
          <p:nvPr/>
        </p:nvSpPr>
        <p:spPr>
          <a:xfrm>
            <a:off x="819681" y="4849970"/>
            <a:ext cx="10698480" cy="753273"/>
          </a:xfrm>
          <a:prstGeom prst="rect">
            <a:avLst/>
          </a:prstGeom>
          <a:noFill/>
          <a:ln/>
        </p:spPr>
        <p:txBody>
          <a:bodyPr wrap="square" lIns="0" tIns="0" rIns="0" bIns="0" rtlCol="0" anchor="ctr"/>
          <a:lstStyle/>
          <a:p>
            <a:pPr algn="ctr"/>
            <a:endParaRPr lang="en-US" sz="4400" dirty="0"/>
          </a:p>
        </p:txBody>
      </p:sp>
      <p:sp>
        <p:nvSpPr>
          <p:cNvPr id="7" name="Text 5"/>
          <p:cNvSpPr txBox="1"/>
          <p:nvPr/>
        </p:nvSpPr>
        <p:spPr>
          <a:xfrm>
            <a:off x="873025" y="4770697"/>
            <a:ext cx="10698480" cy="502920"/>
          </a:xfrm>
          <a:prstGeom prst="rect">
            <a:avLst/>
          </a:prstGeom>
          <a:noFill/>
          <a:ln/>
        </p:spPr>
        <p:txBody>
          <a:bodyPr wrap="square" lIns="0" tIns="0" rIns="0" bIns="0" rtlCol="0" anchor="ctr"/>
          <a:lstStyle/>
          <a:p>
            <a:pPr marL="0" indent="0" algn="ctr">
              <a:buNone/>
            </a:pPr>
            <a:r>
              <a:rPr lang="en-US" sz="3200" i="1" dirty="0">
                <a:solidFill>
                  <a:srgbClr val="FFFF00"/>
                </a:solidFill>
                <a:latin typeface="Calibri" pitchFamily="34" charset="0"/>
                <a:ea typeface="Calibri" pitchFamily="34" charset="-122"/>
                <a:cs typeface="Calibri" pitchFamily="34" charset="-120"/>
              </a:rPr>
              <a:t>誰でも、いつでも、</a:t>
            </a:r>
            <a:r>
              <a:rPr lang="en-US" sz="2800" i="1" dirty="0">
                <a:solidFill>
                  <a:srgbClr val="FFFF00"/>
                </a:solidFill>
                <a:latin typeface="Calibri" pitchFamily="34" charset="0"/>
                <a:ea typeface="Calibri" pitchFamily="34" charset="-122"/>
                <a:cs typeface="Calibri" pitchFamily="34" charset="-120"/>
              </a:rPr>
              <a:t>手軽に手話を学べる</a:t>
            </a:r>
            <a:r>
              <a:rPr lang="en-US" sz="3200" i="1" dirty="0">
                <a:solidFill>
                  <a:srgbClr val="FFFF00"/>
                </a:solidFill>
                <a:latin typeface="Calibri" pitchFamily="34" charset="0"/>
                <a:ea typeface="Calibri" pitchFamily="34" charset="-122"/>
                <a:cs typeface="Calibri" pitchFamily="34" charset="-120"/>
              </a:rPr>
              <a:t>Webアプリ</a:t>
            </a:r>
            <a:endParaRPr lang="en-US" sz="3200" dirty="0">
              <a:solidFill>
                <a:srgbClr val="FFFF00"/>
              </a:solidFill>
            </a:endParaRPr>
          </a:p>
        </p:txBody>
      </p:sp>
      <p:sp>
        <p:nvSpPr>
          <p:cNvPr id="8" name="Text 6"/>
          <p:cNvSpPr txBox="1"/>
          <p:nvPr/>
        </p:nvSpPr>
        <p:spPr>
          <a:xfrm>
            <a:off x="-46395" y="380914"/>
            <a:ext cx="5579189" cy="713558"/>
          </a:xfrm>
          <a:prstGeom prst="rect">
            <a:avLst/>
          </a:prstGeom>
          <a:noFill/>
          <a:ln/>
        </p:spPr>
        <p:txBody>
          <a:bodyPr wrap="square" lIns="0" tIns="0" rIns="0" bIns="0" rtlCol="0" anchor="ctr"/>
          <a:lstStyle/>
          <a:p>
            <a:pPr marL="0" indent="0" algn="ctr">
              <a:buNone/>
            </a:pPr>
            <a:r>
              <a:rPr lang="en-US" sz="2800" dirty="0">
                <a:solidFill>
                  <a:schemeClr val="bg1"/>
                </a:solidFill>
                <a:latin typeface="Calibri" pitchFamily="34" charset="0"/>
                <a:ea typeface="Calibri" pitchFamily="34" charset="-122"/>
                <a:cs typeface="Calibri" pitchFamily="34" charset="-120"/>
              </a:rPr>
              <a:t>Webアプリ開発実習 成果発表</a:t>
            </a:r>
            <a:endParaRPr lang="en-US" sz="2800" dirty="0">
              <a:solidFill>
                <a:schemeClr val="bg1"/>
              </a:solidFill>
            </a:endParaRPr>
          </a:p>
        </p:txBody>
      </p:sp>
      <p:sp>
        <p:nvSpPr>
          <p:cNvPr id="9" name="Text 7"/>
          <p:cNvSpPr txBox="1"/>
          <p:nvPr/>
        </p:nvSpPr>
        <p:spPr>
          <a:xfrm>
            <a:off x="746759" y="5825907"/>
            <a:ext cx="10698480" cy="365760"/>
          </a:xfrm>
          <a:prstGeom prst="rect">
            <a:avLst/>
          </a:prstGeom>
          <a:noFill/>
          <a:ln/>
        </p:spPr>
        <p:txBody>
          <a:bodyPr wrap="square" lIns="0" tIns="0" rIns="0" bIns="0" rtlCol="0" anchor="ctr"/>
          <a:lstStyle/>
          <a:p>
            <a:pPr marL="0" indent="0" algn="ctr">
              <a:buNone/>
            </a:pPr>
            <a:r>
              <a:rPr lang="ja-JP" altLang="en-US" sz="3200" b="1" dirty="0">
                <a:solidFill>
                  <a:schemeClr val="bg1"/>
                </a:solidFill>
                <a:latin typeface="Calibri" pitchFamily="34" charset="0"/>
                <a:ea typeface="Calibri" pitchFamily="34" charset="-122"/>
                <a:cs typeface="Calibri" pitchFamily="34" charset="-120"/>
              </a:rPr>
              <a:t>情報処理学科</a:t>
            </a:r>
            <a:r>
              <a:rPr lang="en-US" altLang="ja-JP" sz="3200" b="1" dirty="0">
                <a:solidFill>
                  <a:schemeClr val="bg1"/>
                </a:solidFill>
                <a:latin typeface="Calibri" pitchFamily="34" charset="0"/>
                <a:ea typeface="Calibri" pitchFamily="34" charset="-122"/>
                <a:cs typeface="Calibri" pitchFamily="34" charset="-120"/>
              </a:rPr>
              <a:t>2</a:t>
            </a:r>
            <a:r>
              <a:rPr lang="ja-JP" altLang="en-US" sz="3200" b="1" dirty="0">
                <a:solidFill>
                  <a:schemeClr val="bg1"/>
                </a:solidFill>
                <a:latin typeface="Calibri" pitchFamily="34" charset="0"/>
                <a:ea typeface="Calibri" pitchFamily="34" charset="-122"/>
                <a:cs typeface="Calibri" pitchFamily="34" charset="-120"/>
              </a:rPr>
              <a:t>年　賀来</a:t>
            </a:r>
            <a:r>
              <a:rPr lang="ja-JP" altLang="en-US" sz="3200" b="1" dirty="0" err="1">
                <a:solidFill>
                  <a:schemeClr val="bg1"/>
                </a:solidFill>
                <a:latin typeface="Calibri" pitchFamily="34" charset="0"/>
                <a:ea typeface="Calibri" pitchFamily="34" charset="-122"/>
                <a:cs typeface="Calibri" pitchFamily="34" charset="-120"/>
              </a:rPr>
              <a:t>　らら</a:t>
            </a:r>
            <a:endParaRPr lang="en-US" sz="3200" b="1" dirty="0">
              <a:solidFill>
                <a:schemeClr val="bg1"/>
              </a:solidFill>
            </a:endParaRPr>
          </a:p>
        </p:txBody>
      </p:sp>
      <p:grpSp>
        <p:nvGrpSpPr>
          <p:cNvPr id="10" name="グループ化 9">
            <a:extLst>
              <a:ext uri="{FF2B5EF4-FFF2-40B4-BE49-F238E27FC236}">
                <a16:creationId xmlns:a16="http://schemas.microsoft.com/office/drawing/2014/main" id="{EA3DD52E-38B0-4049-B0A1-EF98EDEC0D70}"/>
              </a:ext>
            </a:extLst>
          </p:cNvPr>
          <p:cNvGrpSpPr/>
          <p:nvPr/>
        </p:nvGrpSpPr>
        <p:grpSpPr>
          <a:xfrm>
            <a:off x="5296472" y="821518"/>
            <a:ext cx="1362736" cy="1180309"/>
            <a:chOff x="5257800" y="1248987"/>
            <a:chExt cx="1645920" cy="1689899"/>
          </a:xfrm>
        </p:grpSpPr>
        <p:sp>
          <p:nvSpPr>
            <p:cNvPr id="4" name="Shape 2"/>
            <p:cNvSpPr/>
            <p:nvPr/>
          </p:nvSpPr>
          <p:spPr>
            <a:xfrm>
              <a:off x="5257800" y="1248987"/>
              <a:ext cx="1645920" cy="1645920"/>
            </a:xfrm>
            <a:prstGeom prst="ellipse">
              <a:avLst/>
            </a:prstGeom>
            <a:solidFill>
              <a:srgbClr val="F8FB8D"/>
            </a:solidFill>
            <a:ln/>
          </p:spPr>
        </p:sp>
        <p:sp>
          <p:nvSpPr>
            <p:cNvPr id="5" name="Text 3"/>
            <p:cNvSpPr txBox="1"/>
            <p:nvPr/>
          </p:nvSpPr>
          <p:spPr>
            <a:xfrm>
              <a:off x="5406311" y="1388516"/>
              <a:ext cx="1497409" cy="1550370"/>
            </a:xfrm>
            <a:prstGeom prst="rect">
              <a:avLst/>
            </a:prstGeom>
            <a:noFill/>
            <a:ln/>
          </p:spPr>
          <p:txBody>
            <a:bodyPr wrap="square" lIns="0" tIns="0" rIns="0" bIns="0" rtlCol="0" anchor="ctr"/>
            <a:lstStyle/>
            <a:p>
              <a:pPr marL="0" indent="0" algn="ctr">
                <a:buNone/>
              </a:pPr>
              <a:r>
                <a:rPr lang="en-US" sz="6600" dirty="0">
                  <a:solidFill>
                    <a:srgbClr val="376CAD"/>
                  </a:solidFill>
                </a:rPr>
                <a:t>🤟</a:t>
              </a:r>
            </a:p>
          </p:txBody>
        </p:sp>
      </p:grpSp>
      <p:grpSp>
        <p:nvGrpSpPr>
          <p:cNvPr id="22" name="グループ化 21">
            <a:extLst>
              <a:ext uri="{FF2B5EF4-FFF2-40B4-BE49-F238E27FC236}">
                <a16:creationId xmlns:a16="http://schemas.microsoft.com/office/drawing/2014/main" id="{46B2DB1D-EC05-45B1-ACA2-8685845615AD}"/>
              </a:ext>
            </a:extLst>
          </p:cNvPr>
          <p:cNvGrpSpPr/>
          <p:nvPr/>
        </p:nvGrpSpPr>
        <p:grpSpPr>
          <a:xfrm>
            <a:off x="1242278" y="1968190"/>
            <a:ext cx="9853286" cy="2200624"/>
            <a:chOff x="2148970" y="1155784"/>
            <a:chExt cx="8773610" cy="1653787"/>
          </a:xfrm>
        </p:grpSpPr>
        <p:sp>
          <p:nvSpPr>
            <p:cNvPr id="21" name="四角形: 角を丸くする 20">
              <a:extLst>
                <a:ext uri="{FF2B5EF4-FFF2-40B4-BE49-F238E27FC236}">
                  <a16:creationId xmlns:a16="http://schemas.microsoft.com/office/drawing/2014/main" id="{1E11F142-131B-4DCB-BBE4-632C3FE352F5}"/>
                </a:ext>
              </a:extLst>
            </p:cNvPr>
            <p:cNvSpPr/>
            <p:nvPr/>
          </p:nvSpPr>
          <p:spPr>
            <a:xfrm>
              <a:off x="2148970" y="1155784"/>
              <a:ext cx="8773610" cy="165378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Text 4">
              <a:extLst>
                <a:ext uri="{FF2B5EF4-FFF2-40B4-BE49-F238E27FC236}">
                  <a16:creationId xmlns:a16="http://schemas.microsoft.com/office/drawing/2014/main" id="{A6694F7F-E7A4-4AF2-8989-BE587BD956B8}"/>
                </a:ext>
              </a:extLst>
            </p:cNvPr>
            <p:cNvSpPr txBox="1"/>
            <p:nvPr/>
          </p:nvSpPr>
          <p:spPr>
            <a:xfrm>
              <a:off x="2797583" y="1671616"/>
              <a:ext cx="7412988" cy="725665"/>
            </a:xfrm>
            <a:prstGeom prst="rect">
              <a:avLst/>
            </a:prstGeom>
            <a:noFill/>
            <a:ln/>
          </p:spPr>
          <p:txBody>
            <a:bodyPr wrap="square" lIns="0" tIns="0" rIns="0" bIns="0" rtlCol="0" anchor="ctr"/>
            <a:lstStyle/>
            <a:p>
              <a:pPr algn="ctr"/>
              <a:r>
                <a:rPr lang="en-US" altLang="ja-JP" sz="7200" b="1" dirty="0" err="1">
                  <a:solidFill>
                    <a:srgbClr val="0070C0"/>
                  </a:solidFill>
                  <a:latin typeface="HGPｺﾞｼｯｸE" panose="020B0900000000000000" pitchFamily="50" charset="-128"/>
                  <a:ea typeface="HGPｺﾞｼｯｸE" panose="020B0900000000000000" pitchFamily="50" charset="-128"/>
                  <a:cs typeface="Calibri" panose="020F0502020204030204" pitchFamily="34" charset="0"/>
                </a:rPr>
                <a:t>手話単語学習アプリ</a:t>
              </a:r>
              <a:endParaRPr lang="en-US" sz="7200" dirty="0">
                <a:solidFill>
                  <a:srgbClr val="0070C0"/>
                </a:solidFill>
                <a:latin typeface="HGPｺﾞｼｯｸE" panose="020B0900000000000000" pitchFamily="50" charset="-128"/>
                <a:ea typeface="HGPｺﾞｼｯｸE" panose="020B0900000000000000" pitchFamily="50" charset="-128"/>
              </a:endParaRPr>
            </a:p>
          </p:txBody>
        </p:sp>
        <p:sp>
          <p:nvSpPr>
            <p:cNvPr id="12" name="Text 4">
              <a:extLst>
                <a:ext uri="{FF2B5EF4-FFF2-40B4-BE49-F238E27FC236}">
                  <a16:creationId xmlns:a16="http://schemas.microsoft.com/office/drawing/2014/main" id="{43B4C6F1-DD82-4881-9ADB-CBD6C4E35C5E}"/>
                </a:ext>
              </a:extLst>
            </p:cNvPr>
            <p:cNvSpPr txBox="1"/>
            <p:nvPr/>
          </p:nvSpPr>
          <p:spPr>
            <a:xfrm>
              <a:off x="2449842" y="1516837"/>
              <a:ext cx="8171865" cy="1005840"/>
            </a:xfrm>
            <a:prstGeom prst="rect">
              <a:avLst/>
            </a:prstGeom>
            <a:noFill/>
            <a:ln/>
          </p:spPr>
          <p:txBody>
            <a:bodyPr wrap="square" lIns="0" tIns="0" rIns="0" bIns="0" rtlCol="0" anchor="ctr"/>
            <a:lstStyle/>
            <a:p>
              <a:pPr algn="ctr"/>
              <a:r>
                <a:rPr lang="en-US" altLang="ja-JP" sz="7200" b="1" dirty="0" err="1">
                  <a:solidFill>
                    <a:srgbClr val="ED5551"/>
                  </a:solidFill>
                  <a:latin typeface="HGPｺﾞｼｯｸE" panose="020B0900000000000000" pitchFamily="50" charset="-128"/>
                  <a:ea typeface="HGPｺﾞｼｯｸE" panose="020B0900000000000000" pitchFamily="50" charset="-128"/>
                  <a:cs typeface="Calibri" panose="020F0502020204030204" pitchFamily="34" charset="0"/>
                </a:rPr>
                <a:t>手話単語学習アプリ</a:t>
              </a:r>
              <a:endParaRPr lang="en-US" sz="7200" dirty="0">
                <a:solidFill>
                  <a:srgbClr val="ED5551"/>
                </a:solidFill>
                <a:latin typeface="HGPｺﾞｼｯｸE" panose="020B0900000000000000" pitchFamily="50" charset="-128"/>
                <a:ea typeface="HGPｺﾞｼｯｸE" panose="020B0900000000000000" pitchFamily="50" charset="-128"/>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背景"/>
          <p:cNvSpPr/>
          <p:nvPr/>
        </p:nvSpPr>
        <p:spPr>
          <a:xfrm>
            <a:off x="457200" y="365760"/>
            <a:ext cx="2377440" cy="731520"/>
          </a:xfrm>
          <a:prstGeom prst="roundRect">
            <a:avLst>
              <a:gd name="adj" fmla="val 50000"/>
            </a:avLst>
          </a:prstGeom>
          <a:solidFill>
            <a:srgbClr val="F96167"/>
          </a:solidFill>
          <a:ln w="12700">
            <a:solidFill>
              <a:srgbClr val="F96167"/>
            </a:solidFill>
            <a:prstDash val="solid"/>
          </a:ln>
        </p:spPr>
      </p:sp>
      <p:sp>
        <p:nvSpPr>
          <p:cNvPr id="3" name="見出し"/>
          <p:cNvSpPr txBox="1"/>
          <p:nvPr/>
        </p:nvSpPr>
        <p:spPr>
          <a:xfrm>
            <a:off x="457200" y="365760"/>
            <a:ext cx="2377440" cy="73152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目次</a:t>
            </a:r>
            <a:endParaRPr lang="en-US" sz="3200" dirty="0"/>
          </a:p>
        </p:txBody>
      </p:sp>
      <p:sp>
        <p:nvSpPr>
          <p:cNvPr id="4" name="目次カード1"/>
          <p:cNvSpPr/>
          <p:nvPr/>
        </p:nvSpPr>
        <p:spPr>
          <a:xfrm>
            <a:off x="457200" y="1554480"/>
            <a:ext cx="5440680" cy="1417320"/>
          </a:xfrm>
          <a:prstGeom prst="roundRect">
            <a:avLst>
              <a:gd name="adj" fmla="val 7742"/>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5" name="番号円1"/>
          <p:cNvSpPr/>
          <p:nvPr/>
        </p:nvSpPr>
        <p:spPr>
          <a:xfrm>
            <a:off x="731520" y="1874520"/>
            <a:ext cx="777240" cy="777240"/>
          </a:xfrm>
          <a:prstGeom prst="ellipse">
            <a:avLst/>
          </a:prstGeom>
          <a:solidFill>
            <a:srgbClr val="F96167"/>
          </a:solidFill>
          <a:ln w="12700">
            <a:solidFill>
              <a:srgbClr val="F96167"/>
            </a:solidFill>
            <a:prstDash val="solid"/>
          </a:ln>
        </p:spPr>
      </p:sp>
      <p:sp>
        <p:nvSpPr>
          <p:cNvPr id="6" name="番号1"/>
          <p:cNvSpPr txBox="1"/>
          <p:nvPr/>
        </p:nvSpPr>
        <p:spPr>
          <a:xfrm>
            <a:off x="731520" y="187452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7" name="項目名1"/>
          <p:cNvSpPr txBox="1"/>
          <p:nvPr/>
        </p:nvSpPr>
        <p:spPr>
          <a:xfrm>
            <a:off x="1737360" y="1706609"/>
            <a:ext cx="3931920" cy="566928"/>
          </a:xfrm>
          <a:prstGeom prst="rect">
            <a:avLst/>
          </a:prstGeom>
          <a:noFill/>
          <a:ln/>
        </p:spPr>
        <p:txBody>
          <a:bodyPr wrap="square" lIns="0" tIns="0" rIns="0" bIns="0" rtlCol="0" anchor="ctr"/>
          <a:lstStyle/>
          <a:p>
            <a:pPr marL="0" indent="0">
              <a:buNone/>
            </a:pPr>
            <a:r>
              <a:rPr lang="en-US" sz="2800" b="1" dirty="0">
                <a:solidFill>
                  <a:srgbClr val="2F3C7E"/>
                </a:solidFill>
                <a:latin typeface="Calibri" pitchFamily="34" charset="0"/>
                <a:ea typeface="Calibri" pitchFamily="34" charset="-122"/>
                <a:cs typeface="Calibri" pitchFamily="34" charset="-120"/>
              </a:rPr>
              <a:t>手話をめぐる現状</a:t>
            </a:r>
            <a:endParaRPr lang="en-US" sz="2800" dirty="0"/>
          </a:p>
        </p:txBody>
      </p:sp>
      <p:sp>
        <p:nvSpPr>
          <p:cNvPr id="8" name="項目説明1"/>
          <p:cNvSpPr txBox="1"/>
          <p:nvPr/>
        </p:nvSpPr>
        <p:spPr>
          <a:xfrm>
            <a:off x="1737360" y="2358839"/>
            <a:ext cx="3931920" cy="457200"/>
          </a:xfrm>
          <a:prstGeom prst="rect">
            <a:avLst/>
          </a:prstGeom>
          <a:noFill/>
          <a:ln/>
        </p:spPr>
        <p:txBody>
          <a:bodyPr wrap="square" lIns="0" tIns="0" rIns="0" bIns="0" rtlCol="0" anchor="t"/>
          <a:lstStyle/>
          <a:p>
            <a:pPr marL="0" indent="0">
              <a:buNone/>
            </a:pPr>
            <a:r>
              <a:rPr lang="en-US" sz="2400" dirty="0">
                <a:solidFill>
                  <a:srgbClr val="5A5A5A"/>
                </a:solidFill>
                <a:latin typeface="Calibri" pitchFamily="34" charset="0"/>
                <a:ea typeface="Calibri" pitchFamily="34" charset="-122"/>
                <a:cs typeface="Calibri" pitchFamily="34" charset="-120"/>
              </a:rPr>
              <a:t>国連・法整備と残る課題</a:t>
            </a:r>
            <a:endParaRPr lang="en-US" sz="2400" dirty="0"/>
          </a:p>
        </p:txBody>
      </p:sp>
      <p:sp>
        <p:nvSpPr>
          <p:cNvPr id="9" name="目次カード2"/>
          <p:cNvSpPr/>
          <p:nvPr/>
        </p:nvSpPr>
        <p:spPr>
          <a:xfrm>
            <a:off x="457200" y="3203719"/>
            <a:ext cx="5440680" cy="1417320"/>
          </a:xfrm>
          <a:prstGeom prst="roundRect">
            <a:avLst>
              <a:gd name="adj" fmla="val 7742"/>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10" name="番号円2"/>
          <p:cNvSpPr/>
          <p:nvPr/>
        </p:nvSpPr>
        <p:spPr>
          <a:xfrm>
            <a:off x="731520" y="3523759"/>
            <a:ext cx="777240" cy="777240"/>
          </a:xfrm>
          <a:prstGeom prst="ellipse">
            <a:avLst/>
          </a:prstGeom>
          <a:solidFill>
            <a:srgbClr val="2F3C7E"/>
          </a:solidFill>
          <a:ln w="12700">
            <a:solidFill>
              <a:srgbClr val="2F3C7E"/>
            </a:solidFill>
            <a:prstDash val="solid"/>
          </a:ln>
        </p:spPr>
      </p:sp>
      <p:sp>
        <p:nvSpPr>
          <p:cNvPr id="11" name="番号2"/>
          <p:cNvSpPr txBox="1"/>
          <p:nvPr/>
        </p:nvSpPr>
        <p:spPr>
          <a:xfrm>
            <a:off x="731520" y="3523759"/>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2" name="項目名2"/>
          <p:cNvSpPr txBox="1"/>
          <p:nvPr/>
        </p:nvSpPr>
        <p:spPr>
          <a:xfrm>
            <a:off x="1554480" y="3313447"/>
            <a:ext cx="4389120" cy="566928"/>
          </a:xfrm>
          <a:prstGeom prst="rect">
            <a:avLst/>
          </a:prstGeom>
          <a:noFill/>
          <a:ln/>
        </p:spPr>
        <p:txBody>
          <a:bodyPr wrap="square" lIns="0" tIns="0" rIns="0" bIns="0" rtlCol="0" anchor="ctr"/>
          <a:lstStyle/>
          <a:p>
            <a:pPr marL="0" indent="0">
              <a:buNone/>
            </a:pPr>
            <a:r>
              <a:rPr lang="en-US" sz="2800" b="1" dirty="0">
                <a:solidFill>
                  <a:srgbClr val="2F3C7E"/>
                </a:solidFill>
                <a:latin typeface="Calibri" pitchFamily="34" charset="0"/>
                <a:ea typeface="Calibri" pitchFamily="34" charset="-122"/>
                <a:cs typeface="Calibri" pitchFamily="34" charset="-120"/>
              </a:rPr>
              <a:t>なぜこのアプリを作ったか</a:t>
            </a:r>
            <a:endParaRPr lang="en-US" sz="2800" dirty="0"/>
          </a:p>
        </p:txBody>
      </p:sp>
      <p:sp>
        <p:nvSpPr>
          <p:cNvPr id="13" name="項目説明2"/>
          <p:cNvSpPr txBox="1"/>
          <p:nvPr/>
        </p:nvSpPr>
        <p:spPr>
          <a:xfrm>
            <a:off x="1737360" y="3999621"/>
            <a:ext cx="4114800" cy="457200"/>
          </a:xfrm>
          <a:prstGeom prst="rect">
            <a:avLst/>
          </a:prstGeom>
          <a:noFill/>
          <a:ln/>
        </p:spPr>
        <p:txBody>
          <a:bodyPr wrap="square" lIns="0" tIns="0" rIns="0" bIns="0" rtlCol="0" anchor="t"/>
          <a:lstStyle/>
          <a:p>
            <a:pPr marL="0" indent="0">
              <a:buNone/>
            </a:pPr>
            <a:r>
              <a:rPr lang="en-US" sz="2400" dirty="0">
                <a:solidFill>
                  <a:srgbClr val="5A5A5A"/>
                </a:solidFill>
                <a:latin typeface="Calibri" pitchFamily="34" charset="0"/>
                <a:ea typeface="Calibri" pitchFamily="34" charset="-122"/>
                <a:cs typeface="Calibri" pitchFamily="34" charset="-120"/>
              </a:rPr>
              <a:t>分厚い辞典を持ち歩く大変さ</a:t>
            </a:r>
            <a:endParaRPr lang="en-US" sz="2400" dirty="0"/>
          </a:p>
        </p:txBody>
      </p:sp>
      <p:sp>
        <p:nvSpPr>
          <p:cNvPr id="14" name="目次カード3"/>
          <p:cNvSpPr/>
          <p:nvPr/>
        </p:nvSpPr>
        <p:spPr>
          <a:xfrm>
            <a:off x="457200" y="4937760"/>
            <a:ext cx="5440680" cy="1417320"/>
          </a:xfrm>
          <a:prstGeom prst="roundRect">
            <a:avLst>
              <a:gd name="adj" fmla="val 7742"/>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15" name="番号円3"/>
          <p:cNvSpPr/>
          <p:nvPr/>
        </p:nvSpPr>
        <p:spPr>
          <a:xfrm>
            <a:off x="736092" y="5172998"/>
            <a:ext cx="777240" cy="777240"/>
          </a:xfrm>
          <a:prstGeom prst="ellipse">
            <a:avLst/>
          </a:prstGeom>
          <a:solidFill>
            <a:srgbClr val="F96167"/>
          </a:solidFill>
          <a:ln w="12700">
            <a:solidFill>
              <a:srgbClr val="F96167"/>
            </a:solidFill>
            <a:prstDash val="solid"/>
          </a:ln>
        </p:spPr>
      </p:sp>
      <p:sp>
        <p:nvSpPr>
          <p:cNvPr id="16" name="番号3"/>
          <p:cNvSpPr txBox="1"/>
          <p:nvPr/>
        </p:nvSpPr>
        <p:spPr>
          <a:xfrm>
            <a:off x="736092" y="5172998"/>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7" name="項目名3"/>
          <p:cNvSpPr txBox="1"/>
          <p:nvPr/>
        </p:nvSpPr>
        <p:spPr>
          <a:xfrm>
            <a:off x="1737360" y="5113249"/>
            <a:ext cx="3931920" cy="566928"/>
          </a:xfrm>
          <a:prstGeom prst="rect">
            <a:avLst/>
          </a:prstGeom>
          <a:noFill/>
          <a:ln/>
        </p:spPr>
        <p:txBody>
          <a:bodyPr wrap="square" lIns="0" tIns="0" rIns="0" bIns="0" rtlCol="0" anchor="ctr"/>
          <a:lstStyle/>
          <a:p>
            <a:pPr marL="0" indent="0">
              <a:buNone/>
            </a:pPr>
            <a:r>
              <a:rPr lang="en-US" sz="2800" b="1" dirty="0">
                <a:solidFill>
                  <a:srgbClr val="2F3C7E"/>
                </a:solidFill>
                <a:latin typeface="Calibri" pitchFamily="34" charset="0"/>
                <a:ea typeface="Calibri" pitchFamily="34" charset="-122"/>
                <a:cs typeface="Calibri" pitchFamily="34" charset="-120"/>
              </a:rPr>
              <a:t>アプリの紹介</a:t>
            </a:r>
            <a:endParaRPr lang="en-US" sz="2800" dirty="0"/>
          </a:p>
        </p:txBody>
      </p:sp>
      <p:sp>
        <p:nvSpPr>
          <p:cNvPr id="18" name="項目説明3"/>
          <p:cNvSpPr txBox="1"/>
          <p:nvPr/>
        </p:nvSpPr>
        <p:spPr>
          <a:xfrm>
            <a:off x="1792224" y="5721326"/>
            <a:ext cx="4110228" cy="457200"/>
          </a:xfrm>
          <a:prstGeom prst="rect">
            <a:avLst/>
          </a:prstGeom>
          <a:noFill/>
          <a:ln/>
        </p:spPr>
        <p:txBody>
          <a:bodyPr wrap="square" lIns="0" tIns="0" rIns="0" bIns="0" rtlCol="0" anchor="t"/>
          <a:lstStyle/>
          <a:p>
            <a:pPr marL="0" indent="0">
              <a:buNone/>
            </a:pPr>
            <a:r>
              <a:rPr lang="en-US" sz="2400" dirty="0">
                <a:solidFill>
                  <a:srgbClr val="5A5A5A"/>
                </a:solidFill>
                <a:latin typeface="Calibri" pitchFamily="34" charset="0"/>
                <a:ea typeface="Calibri" pitchFamily="34" charset="-122"/>
                <a:cs typeface="Calibri" pitchFamily="34" charset="-120"/>
              </a:rPr>
              <a:t>技術・主な機能・画面の流れ</a:t>
            </a:r>
            <a:endParaRPr lang="en-US" sz="2400" dirty="0"/>
          </a:p>
        </p:txBody>
      </p:sp>
      <p:sp>
        <p:nvSpPr>
          <p:cNvPr id="19" name="目次カード4"/>
          <p:cNvSpPr/>
          <p:nvPr/>
        </p:nvSpPr>
        <p:spPr>
          <a:xfrm>
            <a:off x="6291072" y="1565064"/>
            <a:ext cx="5440680" cy="1417320"/>
          </a:xfrm>
          <a:prstGeom prst="roundRect">
            <a:avLst>
              <a:gd name="adj" fmla="val 7742"/>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20" name="番号円4"/>
          <p:cNvSpPr/>
          <p:nvPr/>
        </p:nvSpPr>
        <p:spPr>
          <a:xfrm>
            <a:off x="6565392" y="1933956"/>
            <a:ext cx="777240" cy="777240"/>
          </a:xfrm>
          <a:prstGeom prst="ellipse">
            <a:avLst/>
          </a:prstGeom>
          <a:solidFill>
            <a:srgbClr val="2F3C7E"/>
          </a:solidFill>
          <a:ln w="12700">
            <a:solidFill>
              <a:srgbClr val="2F3C7E"/>
            </a:solidFill>
            <a:prstDash val="solid"/>
          </a:ln>
        </p:spPr>
      </p:sp>
      <p:sp>
        <p:nvSpPr>
          <p:cNvPr id="21" name="番号4"/>
          <p:cNvSpPr txBox="1"/>
          <p:nvPr/>
        </p:nvSpPr>
        <p:spPr>
          <a:xfrm>
            <a:off x="6565392" y="1933956"/>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22" name="項目名4"/>
          <p:cNvSpPr txBox="1"/>
          <p:nvPr/>
        </p:nvSpPr>
        <p:spPr>
          <a:xfrm>
            <a:off x="7571232" y="1716880"/>
            <a:ext cx="3931920" cy="566928"/>
          </a:xfrm>
          <a:prstGeom prst="rect">
            <a:avLst/>
          </a:prstGeom>
          <a:noFill/>
          <a:ln/>
        </p:spPr>
        <p:txBody>
          <a:bodyPr wrap="square" lIns="0" tIns="0" rIns="0" bIns="0" rtlCol="0" anchor="ctr"/>
          <a:lstStyle/>
          <a:p>
            <a:pPr marL="0" indent="0">
              <a:buNone/>
            </a:pPr>
            <a:r>
              <a:rPr lang="en-US" sz="2800" b="1" dirty="0">
                <a:solidFill>
                  <a:srgbClr val="2F3C7E"/>
                </a:solidFill>
                <a:latin typeface="Calibri" pitchFamily="34" charset="0"/>
                <a:ea typeface="Calibri" pitchFamily="34" charset="-122"/>
                <a:cs typeface="Calibri" pitchFamily="34" charset="-120"/>
              </a:rPr>
              <a:t>デモ</a:t>
            </a:r>
            <a:endParaRPr lang="en-US" sz="2800" dirty="0"/>
          </a:p>
        </p:txBody>
      </p:sp>
      <p:sp>
        <p:nvSpPr>
          <p:cNvPr id="23" name="項目説明4"/>
          <p:cNvSpPr txBox="1"/>
          <p:nvPr/>
        </p:nvSpPr>
        <p:spPr>
          <a:xfrm>
            <a:off x="7616952" y="2400300"/>
            <a:ext cx="3931920" cy="457200"/>
          </a:xfrm>
          <a:prstGeom prst="rect">
            <a:avLst/>
          </a:prstGeom>
          <a:noFill/>
          <a:ln/>
        </p:spPr>
        <p:txBody>
          <a:bodyPr wrap="square" lIns="0" tIns="0" rIns="0" bIns="0" rtlCol="0" anchor="t"/>
          <a:lstStyle/>
          <a:p>
            <a:pPr marL="0" indent="0">
              <a:buNone/>
            </a:pPr>
            <a:r>
              <a:rPr lang="en-US" sz="2400" dirty="0">
                <a:solidFill>
                  <a:srgbClr val="5A5A5A"/>
                </a:solidFill>
                <a:latin typeface="Calibri" pitchFamily="34" charset="0"/>
                <a:ea typeface="Calibri" pitchFamily="34" charset="-122"/>
                <a:cs typeface="Calibri" pitchFamily="34" charset="-120"/>
              </a:rPr>
              <a:t>ログイン → クイズ → 退会</a:t>
            </a:r>
            <a:endParaRPr lang="en-US" sz="2400" dirty="0"/>
          </a:p>
        </p:txBody>
      </p:sp>
      <p:sp>
        <p:nvSpPr>
          <p:cNvPr id="24" name="目次カード5"/>
          <p:cNvSpPr/>
          <p:nvPr/>
        </p:nvSpPr>
        <p:spPr>
          <a:xfrm>
            <a:off x="6291072" y="3205097"/>
            <a:ext cx="5440680" cy="1417320"/>
          </a:xfrm>
          <a:prstGeom prst="roundRect">
            <a:avLst>
              <a:gd name="adj" fmla="val 7742"/>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25" name="番号円5"/>
          <p:cNvSpPr/>
          <p:nvPr/>
        </p:nvSpPr>
        <p:spPr>
          <a:xfrm>
            <a:off x="6565392" y="3525137"/>
            <a:ext cx="777240" cy="777240"/>
          </a:xfrm>
          <a:prstGeom prst="ellipse">
            <a:avLst/>
          </a:prstGeom>
          <a:solidFill>
            <a:srgbClr val="F96167"/>
          </a:solidFill>
          <a:ln w="12700">
            <a:solidFill>
              <a:srgbClr val="F96167"/>
            </a:solidFill>
            <a:prstDash val="solid"/>
          </a:ln>
        </p:spPr>
      </p:sp>
      <p:sp>
        <p:nvSpPr>
          <p:cNvPr id="26" name="番号5"/>
          <p:cNvSpPr txBox="1"/>
          <p:nvPr/>
        </p:nvSpPr>
        <p:spPr>
          <a:xfrm>
            <a:off x="6565392" y="3525137"/>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27" name="項目名5"/>
          <p:cNvSpPr txBox="1"/>
          <p:nvPr/>
        </p:nvSpPr>
        <p:spPr>
          <a:xfrm>
            <a:off x="7571232" y="3360420"/>
            <a:ext cx="3931920" cy="566928"/>
          </a:xfrm>
          <a:prstGeom prst="rect">
            <a:avLst/>
          </a:prstGeom>
          <a:noFill/>
          <a:ln/>
        </p:spPr>
        <p:txBody>
          <a:bodyPr wrap="square" lIns="0" tIns="0" rIns="0" bIns="0" rtlCol="0" anchor="ctr"/>
          <a:lstStyle/>
          <a:p>
            <a:pPr marL="0" indent="0">
              <a:buNone/>
            </a:pPr>
            <a:r>
              <a:rPr lang="en-US" sz="2800" b="1" dirty="0">
                <a:solidFill>
                  <a:srgbClr val="2F3C7E"/>
                </a:solidFill>
                <a:latin typeface="Calibri" pitchFamily="34" charset="0"/>
                <a:ea typeface="Calibri" pitchFamily="34" charset="-122"/>
                <a:cs typeface="Calibri" pitchFamily="34" charset="-120"/>
              </a:rPr>
              <a:t>こだわり・苦労した点</a:t>
            </a:r>
            <a:endParaRPr lang="en-US" sz="2800" dirty="0"/>
          </a:p>
        </p:txBody>
      </p:sp>
      <p:sp>
        <p:nvSpPr>
          <p:cNvPr id="28" name="項目説明5"/>
          <p:cNvSpPr txBox="1"/>
          <p:nvPr/>
        </p:nvSpPr>
        <p:spPr>
          <a:xfrm>
            <a:off x="7616952" y="4014777"/>
            <a:ext cx="3931920" cy="457200"/>
          </a:xfrm>
          <a:prstGeom prst="rect">
            <a:avLst/>
          </a:prstGeom>
          <a:noFill/>
          <a:ln/>
        </p:spPr>
        <p:txBody>
          <a:bodyPr wrap="square" lIns="0" tIns="0" rIns="0" bIns="0" rtlCol="0" anchor="t"/>
          <a:lstStyle/>
          <a:p>
            <a:pPr marL="0" indent="0">
              <a:buNone/>
            </a:pPr>
            <a:r>
              <a:rPr lang="en-US" sz="2400" dirty="0">
                <a:solidFill>
                  <a:srgbClr val="5A5A5A"/>
                </a:solidFill>
                <a:latin typeface="Calibri" pitchFamily="34" charset="0"/>
                <a:ea typeface="Calibri" pitchFamily="34" charset="-122"/>
                <a:cs typeface="Calibri" pitchFamily="34" charset="-120"/>
              </a:rPr>
              <a:t>ダークモード・環境構築</a:t>
            </a:r>
            <a:endParaRPr lang="en-US" sz="2400" dirty="0"/>
          </a:p>
        </p:txBody>
      </p:sp>
      <p:sp>
        <p:nvSpPr>
          <p:cNvPr id="29" name="目次カード6"/>
          <p:cNvSpPr/>
          <p:nvPr/>
        </p:nvSpPr>
        <p:spPr>
          <a:xfrm>
            <a:off x="6291072" y="4937760"/>
            <a:ext cx="5440680" cy="1417320"/>
          </a:xfrm>
          <a:prstGeom prst="roundRect">
            <a:avLst>
              <a:gd name="adj" fmla="val 7742"/>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30" name="番号円6"/>
          <p:cNvSpPr/>
          <p:nvPr/>
        </p:nvSpPr>
        <p:spPr>
          <a:xfrm>
            <a:off x="6565392" y="5257800"/>
            <a:ext cx="777240" cy="777240"/>
          </a:xfrm>
          <a:prstGeom prst="ellipse">
            <a:avLst/>
          </a:prstGeom>
          <a:solidFill>
            <a:srgbClr val="2F3C7E"/>
          </a:solidFill>
          <a:ln w="12700">
            <a:solidFill>
              <a:srgbClr val="2F3C7E"/>
            </a:solidFill>
            <a:prstDash val="solid"/>
          </a:ln>
        </p:spPr>
      </p:sp>
      <p:sp>
        <p:nvSpPr>
          <p:cNvPr id="31" name="番号6"/>
          <p:cNvSpPr txBox="1"/>
          <p:nvPr/>
        </p:nvSpPr>
        <p:spPr>
          <a:xfrm>
            <a:off x="6565392" y="5257800"/>
            <a:ext cx="77724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6</a:t>
            </a:r>
            <a:endParaRPr lang="en-US" sz="2800" dirty="0"/>
          </a:p>
        </p:txBody>
      </p:sp>
      <p:sp>
        <p:nvSpPr>
          <p:cNvPr id="32" name="項目名6"/>
          <p:cNvSpPr txBox="1"/>
          <p:nvPr/>
        </p:nvSpPr>
        <p:spPr>
          <a:xfrm>
            <a:off x="7616952" y="5113249"/>
            <a:ext cx="3931920" cy="566928"/>
          </a:xfrm>
          <a:prstGeom prst="rect">
            <a:avLst/>
          </a:prstGeom>
          <a:noFill/>
          <a:ln/>
        </p:spPr>
        <p:txBody>
          <a:bodyPr wrap="square" lIns="0" tIns="0" rIns="0" bIns="0" rtlCol="0" anchor="ctr"/>
          <a:lstStyle/>
          <a:p>
            <a:pPr marL="0" indent="0">
              <a:buNone/>
            </a:pPr>
            <a:r>
              <a:rPr lang="en-US" sz="2800" b="1" dirty="0">
                <a:solidFill>
                  <a:srgbClr val="2F3C7E"/>
                </a:solidFill>
                <a:latin typeface="Calibri" pitchFamily="34" charset="0"/>
                <a:ea typeface="Calibri" pitchFamily="34" charset="-122"/>
                <a:cs typeface="Calibri" pitchFamily="34" charset="-120"/>
              </a:rPr>
              <a:t>今後の課題・まとめ</a:t>
            </a:r>
            <a:endParaRPr lang="en-US" sz="2800" dirty="0"/>
          </a:p>
        </p:txBody>
      </p:sp>
      <p:sp>
        <p:nvSpPr>
          <p:cNvPr id="33" name="項目説明6"/>
          <p:cNvSpPr txBox="1"/>
          <p:nvPr/>
        </p:nvSpPr>
        <p:spPr>
          <a:xfrm>
            <a:off x="7616952" y="5724144"/>
            <a:ext cx="4114800" cy="457200"/>
          </a:xfrm>
          <a:prstGeom prst="rect">
            <a:avLst/>
          </a:prstGeom>
          <a:noFill/>
          <a:ln/>
        </p:spPr>
        <p:txBody>
          <a:bodyPr wrap="square" lIns="0" tIns="0" rIns="0" bIns="0" rtlCol="0" anchor="t"/>
          <a:lstStyle/>
          <a:p>
            <a:pPr marL="0" indent="0">
              <a:buNone/>
            </a:pPr>
            <a:r>
              <a:rPr lang="en-US" sz="2400" dirty="0">
                <a:solidFill>
                  <a:srgbClr val="5A5A5A"/>
                </a:solidFill>
                <a:latin typeface="Calibri" pitchFamily="34" charset="0"/>
                <a:ea typeface="Calibri" pitchFamily="34" charset="-122"/>
                <a:cs typeface="Calibri" pitchFamily="34" charset="-120"/>
              </a:rPr>
              <a:t>著作権・自作イラスト化など</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背景"/>
          <p:cNvSpPr/>
          <p:nvPr/>
        </p:nvSpPr>
        <p:spPr>
          <a:xfrm>
            <a:off x="457200" y="365760"/>
            <a:ext cx="4937760" cy="731520"/>
          </a:xfrm>
          <a:prstGeom prst="roundRect">
            <a:avLst>
              <a:gd name="adj" fmla="val 50000"/>
            </a:avLst>
          </a:prstGeom>
          <a:solidFill>
            <a:srgbClr val="F96167"/>
          </a:solidFill>
          <a:ln w="12700">
            <a:solidFill>
              <a:srgbClr val="F96167"/>
            </a:solidFill>
            <a:prstDash val="solid"/>
          </a:ln>
        </p:spPr>
      </p:sp>
      <p:sp>
        <p:nvSpPr>
          <p:cNvPr id="3" name="見出し"/>
          <p:cNvSpPr txBox="1"/>
          <p:nvPr/>
        </p:nvSpPr>
        <p:spPr>
          <a:xfrm>
            <a:off x="457200" y="365760"/>
            <a:ext cx="4937760" cy="73152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手話をめぐる現状</a:t>
            </a:r>
            <a:endParaRPr lang="en-US" sz="3200" dirty="0"/>
          </a:p>
        </p:txBody>
      </p:sp>
      <p:sp>
        <p:nvSpPr>
          <p:cNvPr id="4" name="年表カード1"/>
          <p:cNvSpPr/>
          <p:nvPr/>
        </p:nvSpPr>
        <p:spPr>
          <a:xfrm>
            <a:off x="457199" y="1371600"/>
            <a:ext cx="3849625" cy="2331720"/>
          </a:xfrm>
          <a:prstGeom prst="roundRect">
            <a:avLst>
              <a:gd name="adj" fmla="val 4706"/>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5" name="年1"/>
          <p:cNvSpPr txBox="1"/>
          <p:nvPr/>
        </p:nvSpPr>
        <p:spPr>
          <a:xfrm>
            <a:off x="731520" y="1508760"/>
            <a:ext cx="3026664" cy="685800"/>
          </a:xfrm>
          <a:prstGeom prst="rect">
            <a:avLst/>
          </a:prstGeom>
          <a:noFill/>
          <a:ln/>
        </p:spPr>
        <p:txBody>
          <a:bodyPr wrap="square" lIns="0" tIns="0" rIns="0" bIns="0" rtlCol="0" anchor="ctr"/>
          <a:lstStyle/>
          <a:p>
            <a:pPr marL="0" indent="0">
              <a:buNone/>
            </a:pPr>
            <a:r>
              <a:rPr lang="en-US" sz="4000" b="1" dirty="0">
                <a:solidFill>
                  <a:srgbClr val="F96167"/>
                </a:solidFill>
                <a:latin typeface="Calibri" pitchFamily="34" charset="0"/>
                <a:ea typeface="Calibri" pitchFamily="34" charset="-122"/>
                <a:cs typeface="Calibri" pitchFamily="34" charset="-120"/>
              </a:rPr>
              <a:t>2017</a:t>
            </a:r>
            <a:endParaRPr lang="en-US" sz="4000" dirty="0"/>
          </a:p>
        </p:txBody>
      </p:sp>
      <p:sp>
        <p:nvSpPr>
          <p:cNvPr id="6" name="出来事1"/>
          <p:cNvSpPr txBox="1"/>
          <p:nvPr/>
        </p:nvSpPr>
        <p:spPr>
          <a:xfrm>
            <a:off x="594358" y="2066544"/>
            <a:ext cx="3575305" cy="1261872"/>
          </a:xfrm>
          <a:prstGeom prst="rect">
            <a:avLst/>
          </a:prstGeom>
          <a:noFill/>
          <a:ln/>
        </p:spPr>
        <p:txBody>
          <a:bodyPr wrap="square" lIns="0" tIns="0" rIns="0" bIns="0" rtlCol="0" anchor="t"/>
          <a:lstStyle/>
          <a:p>
            <a:pPr marL="0" indent="0" algn="ctr">
              <a:buNone/>
            </a:pPr>
            <a:r>
              <a:rPr lang="en-US" sz="2800" b="1" dirty="0" err="1">
                <a:solidFill>
                  <a:srgbClr val="2F3C7E"/>
                </a:solidFill>
                <a:latin typeface="Calibri" pitchFamily="34" charset="0"/>
                <a:ea typeface="Calibri" pitchFamily="34" charset="-122"/>
                <a:cs typeface="Calibri" pitchFamily="34" charset="-120"/>
              </a:rPr>
              <a:t>国連</a:t>
            </a:r>
            <a:br>
              <a:rPr lang="en-US" sz="2800" b="1" dirty="0">
                <a:solidFill>
                  <a:srgbClr val="2F3C7E"/>
                </a:solidFill>
                <a:latin typeface="Calibri" pitchFamily="34" charset="0"/>
                <a:ea typeface="Calibri" pitchFamily="34" charset="-122"/>
                <a:cs typeface="Calibri" pitchFamily="34" charset="-120"/>
              </a:rPr>
            </a:br>
            <a:r>
              <a:rPr lang="en-US" sz="2800" b="1" dirty="0" err="1">
                <a:solidFill>
                  <a:srgbClr val="2F3C7E"/>
                </a:solidFill>
                <a:latin typeface="Calibri" pitchFamily="34" charset="0"/>
                <a:ea typeface="Calibri" pitchFamily="34" charset="-122"/>
                <a:cs typeface="Calibri" pitchFamily="34" charset="-120"/>
              </a:rPr>
              <a:t>国際手話言語デ</a:t>
            </a:r>
            <a:r>
              <a:rPr lang="en-US" sz="2800" b="1" dirty="0">
                <a:solidFill>
                  <a:srgbClr val="2F3C7E"/>
                </a:solidFill>
                <a:latin typeface="Calibri" pitchFamily="34" charset="0"/>
                <a:ea typeface="Calibri" pitchFamily="34" charset="-122"/>
                <a:cs typeface="Calibri" pitchFamily="34" charset="-120"/>
              </a:rPr>
              <a:t>ー</a:t>
            </a:r>
            <a:br>
              <a:rPr lang="en-US" sz="2800" b="1" dirty="0">
                <a:solidFill>
                  <a:srgbClr val="2F3C7E"/>
                </a:solidFill>
                <a:latin typeface="Calibri" pitchFamily="34" charset="0"/>
                <a:ea typeface="Calibri" pitchFamily="34" charset="-122"/>
                <a:cs typeface="Calibri" pitchFamily="34" charset="-120"/>
              </a:rPr>
            </a:br>
            <a:r>
              <a:rPr lang="en-US" sz="2800" b="1" dirty="0" err="1">
                <a:solidFill>
                  <a:srgbClr val="2F3C7E"/>
                </a:solidFill>
                <a:latin typeface="Calibri" pitchFamily="34" charset="0"/>
                <a:ea typeface="Calibri" pitchFamily="34" charset="-122"/>
                <a:cs typeface="Calibri" pitchFamily="34" charset="-120"/>
              </a:rPr>
              <a:t>制定</a:t>
            </a:r>
            <a:endParaRPr lang="en-US" sz="2800" dirty="0"/>
          </a:p>
        </p:txBody>
      </p:sp>
      <p:sp>
        <p:nvSpPr>
          <p:cNvPr id="8" name="年表カード2"/>
          <p:cNvSpPr/>
          <p:nvPr/>
        </p:nvSpPr>
        <p:spPr>
          <a:xfrm>
            <a:off x="4581144" y="1371600"/>
            <a:ext cx="3300984" cy="2331720"/>
          </a:xfrm>
          <a:prstGeom prst="roundRect">
            <a:avLst>
              <a:gd name="adj" fmla="val 4706"/>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9" name="年2"/>
          <p:cNvSpPr txBox="1"/>
          <p:nvPr/>
        </p:nvSpPr>
        <p:spPr>
          <a:xfrm>
            <a:off x="4801602" y="1508760"/>
            <a:ext cx="3026664" cy="685800"/>
          </a:xfrm>
          <a:prstGeom prst="rect">
            <a:avLst/>
          </a:prstGeom>
          <a:noFill/>
          <a:ln/>
        </p:spPr>
        <p:txBody>
          <a:bodyPr wrap="square" lIns="0" tIns="0" rIns="0" bIns="0" rtlCol="0" anchor="ctr"/>
          <a:lstStyle/>
          <a:p>
            <a:pPr marL="0" indent="0">
              <a:buNone/>
            </a:pPr>
            <a:r>
              <a:rPr lang="en-US" sz="4000" b="1" dirty="0">
                <a:solidFill>
                  <a:srgbClr val="F96167"/>
                </a:solidFill>
                <a:latin typeface="Calibri" pitchFamily="34" charset="0"/>
                <a:ea typeface="Calibri" pitchFamily="34" charset="-122"/>
                <a:cs typeface="Calibri" pitchFamily="34" charset="-120"/>
              </a:rPr>
              <a:t>2022</a:t>
            </a:r>
            <a:endParaRPr lang="en-US" sz="4000" dirty="0"/>
          </a:p>
        </p:txBody>
      </p:sp>
      <p:sp>
        <p:nvSpPr>
          <p:cNvPr id="10" name="出来事2"/>
          <p:cNvSpPr txBox="1"/>
          <p:nvPr/>
        </p:nvSpPr>
        <p:spPr>
          <a:xfrm>
            <a:off x="4581145" y="2386709"/>
            <a:ext cx="3300983" cy="920162"/>
          </a:xfrm>
          <a:prstGeom prst="rect">
            <a:avLst/>
          </a:prstGeom>
          <a:noFill/>
          <a:ln/>
        </p:spPr>
        <p:txBody>
          <a:bodyPr wrap="square" lIns="0" tIns="0" rIns="0" bIns="0" rtlCol="0" anchor="t"/>
          <a:lstStyle/>
          <a:p>
            <a:pPr marL="0" indent="0" algn="ctr">
              <a:buNone/>
            </a:pPr>
            <a:r>
              <a:rPr lang="en-US" sz="2800" b="1" dirty="0" err="1">
                <a:solidFill>
                  <a:srgbClr val="2F3C7E"/>
                </a:solidFill>
                <a:latin typeface="Calibri" pitchFamily="34" charset="0"/>
                <a:ea typeface="Calibri" pitchFamily="34" charset="-122"/>
                <a:cs typeface="Calibri" pitchFamily="34" charset="-120"/>
              </a:rPr>
              <a:t>情報保障の</a:t>
            </a:r>
            <a:br>
              <a:rPr lang="en-US" sz="2800" b="1" dirty="0">
                <a:solidFill>
                  <a:srgbClr val="2F3C7E"/>
                </a:solidFill>
                <a:latin typeface="Calibri" pitchFamily="34" charset="0"/>
                <a:ea typeface="Calibri" pitchFamily="34" charset="-122"/>
                <a:cs typeface="Calibri" pitchFamily="34" charset="-120"/>
              </a:rPr>
            </a:br>
            <a:r>
              <a:rPr lang="en-US" sz="2800" b="1" dirty="0" err="1">
                <a:solidFill>
                  <a:srgbClr val="2F3C7E"/>
                </a:solidFill>
                <a:latin typeface="Calibri" pitchFamily="34" charset="0"/>
                <a:ea typeface="Calibri" pitchFamily="34" charset="-122"/>
                <a:cs typeface="Calibri" pitchFamily="34" charset="-120"/>
              </a:rPr>
              <a:t>法律成立</a:t>
            </a:r>
            <a:endParaRPr lang="en-US" sz="2800" dirty="0"/>
          </a:p>
        </p:txBody>
      </p:sp>
      <p:sp>
        <p:nvSpPr>
          <p:cNvPr id="12" name="年表カード3"/>
          <p:cNvSpPr/>
          <p:nvPr/>
        </p:nvSpPr>
        <p:spPr>
          <a:xfrm>
            <a:off x="8156448" y="1371600"/>
            <a:ext cx="3575304" cy="2331720"/>
          </a:xfrm>
          <a:prstGeom prst="roundRect">
            <a:avLst>
              <a:gd name="adj" fmla="val 4706"/>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13" name="年3"/>
          <p:cNvSpPr txBox="1"/>
          <p:nvPr/>
        </p:nvSpPr>
        <p:spPr>
          <a:xfrm>
            <a:off x="8430768" y="1508760"/>
            <a:ext cx="3026664" cy="685800"/>
          </a:xfrm>
          <a:prstGeom prst="rect">
            <a:avLst/>
          </a:prstGeom>
          <a:noFill/>
          <a:ln/>
        </p:spPr>
        <p:txBody>
          <a:bodyPr wrap="square" lIns="0" tIns="0" rIns="0" bIns="0" rtlCol="0" anchor="ctr"/>
          <a:lstStyle/>
          <a:p>
            <a:pPr marL="0" indent="0">
              <a:buNone/>
            </a:pPr>
            <a:r>
              <a:rPr lang="en-US" sz="4000" b="1" dirty="0">
                <a:solidFill>
                  <a:srgbClr val="F96167"/>
                </a:solidFill>
                <a:latin typeface="Calibri" pitchFamily="34" charset="0"/>
                <a:ea typeface="Calibri" pitchFamily="34" charset="-122"/>
                <a:cs typeface="Calibri" pitchFamily="34" charset="-120"/>
              </a:rPr>
              <a:t>2025</a:t>
            </a:r>
            <a:endParaRPr lang="en-US" sz="4000" dirty="0"/>
          </a:p>
        </p:txBody>
      </p:sp>
      <p:sp>
        <p:nvSpPr>
          <p:cNvPr id="14" name="出来事3"/>
          <p:cNvSpPr txBox="1"/>
          <p:nvPr/>
        </p:nvSpPr>
        <p:spPr>
          <a:xfrm>
            <a:off x="8430768" y="2313556"/>
            <a:ext cx="3026664" cy="1130599"/>
          </a:xfrm>
          <a:prstGeom prst="rect">
            <a:avLst/>
          </a:prstGeom>
          <a:noFill/>
          <a:ln/>
        </p:spPr>
        <p:txBody>
          <a:bodyPr wrap="square" lIns="0" tIns="0" rIns="0" bIns="0" rtlCol="0" anchor="t"/>
          <a:lstStyle/>
          <a:p>
            <a:pPr marL="0" indent="0" algn="ctr">
              <a:buNone/>
            </a:pPr>
            <a:r>
              <a:rPr lang="en-US" sz="2800" b="1" dirty="0" err="1">
                <a:solidFill>
                  <a:srgbClr val="2F3C7E"/>
                </a:solidFill>
                <a:latin typeface="Calibri" pitchFamily="34" charset="0"/>
                <a:ea typeface="Calibri" pitchFamily="34" charset="-122"/>
                <a:cs typeface="Calibri" pitchFamily="34" charset="-120"/>
              </a:rPr>
              <a:t>手話施策推進法</a:t>
            </a:r>
            <a:br>
              <a:rPr lang="en-US" sz="2800" b="1" dirty="0">
                <a:solidFill>
                  <a:srgbClr val="2F3C7E"/>
                </a:solidFill>
                <a:latin typeface="Calibri" pitchFamily="34" charset="0"/>
                <a:ea typeface="Calibri" pitchFamily="34" charset="-122"/>
                <a:cs typeface="Calibri" pitchFamily="34" charset="-120"/>
              </a:rPr>
            </a:br>
            <a:r>
              <a:rPr lang="en-US" sz="2800" b="1" dirty="0" err="1">
                <a:solidFill>
                  <a:srgbClr val="2F3C7E"/>
                </a:solidFill>
                <a:latin typeface="Calibri" pitchFamily="34" charset="0"/>
                <a:ea typeface="Calibri" pitchFamily="34" charset="-122"/>
                <a:cs typeface="Calibri" pitchFamily="34" charset="-120"/>
              </a:rPr>
              <a:t>成立</a:t>
            </a:r>
            <a:endParaRPr lang="en-US" sz="2800" dirty="0"/>
          </a:p>
        </p:txBody>
      </p:sp>
      <p:sp>
        <p:nvSpPr>
          <p:cNvPr id="16" name="課題見出し背景"/>
          <p:cNvSpPr/>
          <p:nvPr/>
        </p:nvSpPr>
        <p:spPr>
          <a:xfrm>
            <a:off x="457200" y="3931920"/>
            <a:ext cx="2926080" cy="548640"/>
          </a:xfrm>
          <a:prstGeom prst="roundRect">
            <a:avLst>
              <a:gd name="adj" fmla="val 50000"/>
            </a:avLst>
          </a:prstGeom>
          <a:solidFill>
            <a:srgbClr val="F96167"/>
          </a:solidFill>
          <a:ln w="12700">
            <a:solidFill>
              <a:srgbClr val="F96167"/>
            </a:solidFill>
            <a:prstDash val="solid"/>
          </a:ln>
        </p:spPr>
      </p:sp>
      <p:sp>
        <p:nvSpPr>
          <p:cNvPr id="17" name="課題見出し"/>
          <p:cNvSpPr txBox="1"/>
          <p:nvPr/>
        </p:nvSpPr>
        <p:spPr>
          <a:xfrm>
            <a:off x="457200" y="3931920"/>
            <a:ext cx="292608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残る課題</a:t>
            </a:r>
            <a:endParaRPr lang="en-US" sz="2400" dirty="0"/>
          </a:p>
        </p:txBody>
      </p:sp>
      <p:sp>
        <p:nvSpPr>
          <p:cNvPr id="18" name="課題カード1"/>
          <p:cNvSpPr/>
          <p:nvPr/>
        </p:nvSpPr>
        <p:spPr>
          <a:xfrm>
            <a:off x="457199" y="4663440"/>
            <a:ext cx="5550408" cy="1783080"/>
          </a:xfrm>
          <a:prstGeom prst="roundRect">
            <a:avLst>
              <a:gd name="adj" fmla="val 6154"/>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19" name="課題1見出し"/>
          <p:cNvSpPr txBox="1"/>
          <p:nvPr/>
        </p:nvSpPr>
        <p:spPr>
          <a:xfrm>
            <a:off x="731520" y="4773168"/>
            <a:ext cx="5001768" cy="411480"/>
          </a:xfrm>
          <a:prstGeom prst="rect">
            <a:avLst/>
          </a:prstGeom>
          <a:noFill/>
          <a:ln/>
        </p:spPr>
        <p:txBody>
          <a:bodyPr wrap="square" lIns="0" tIns="0" rIns="0" bIns="0" rtlCol="0" anchor="ctr"/>
          <a:lstStyle/>
          <a:p>
            <a:pPr marL="0" indent="0">
              <a:buNone/>
            </a:pPr>
            <a:r>
              <a:rPr lang="en-US" sz="3200" b="1" dirty="0" err="1">
                <a:solidFill>
                  <a:srgbClr val="2F3C7E"/>
                </a:solidFill>
                <a:latin typeface="Calibri" pitchFamily="34" charset="0"/>
                <a:ea typeface="Calibri" pitchFamily="34" charset="-122"/>
                <a:cs typeface="Calibri" pitchFamily="34" charset="-120"/>
              </a:rPr>
              <a:t>支える人材</a:t>
            </a:r>
            <a:endParaRPr lang="en-US" sz="3200" dirty="0"/>
          </a:p>
        </p:txBody>
      </p:sp>
      <p:sp>
        <p:nvSpPr>
          <p:cNvPr id="20" name="通訳者数"/>
          <p:cNvSpPr txBox="1"/>
          <p:nvPr/>
        </p:nvSpPr>
        <p:spPr>
          <a:xfrm>
            <a:off x="731520" y="5343729"/>
            <a:ext cx="5001768" cy="457200"/>
          </a:xfrm>
          <a:prstGeom prst="rect">
            <a:avLst/>
          </a:prstGeom>
          <a:noFill/>
          <a:ln/>
        </p:spPr>
        <p:txBody>
          <a:bodyPr wrap="square" lIns="0" tIns="0" rIns="0" bIns="0" rtlCol="0" anchor="ctr"/>
          <a:lstStyle/>
          <a:p>
            <a:pPr marL="0" indent="0">
              <a:buNone/>
            </a:pPr>
            <a:r>
              <a:rPr lang="en-US" sz="3200" b="1" dirty="0">
                <a:solidFill>
                  <a:srgbClr val="F96167"/>
                </a:solidFill>
                <a:latin typeface="Calibri" pitchFamily="34" charset="0"/>
                <a:ea typeface="Calibri" pitchFamily="34" charset="-122"/>
                <a:cs typeface="Calibri" pitchFamily="34" charset="-120"/>
              </a:rPr>
              <a:t>約1万人</a:t>
            </a:r>
            <a:r>
              <a:rPr lang="en-US" sz="1400" dirty="0">
                <a:solidFill>
                  <a:srgbClr val="5A5A5A"/>
                </a:solidFill>
                <a:latin typeface="Calibri" pitchFamily="34" charset="0"/>
                <a:ea typeface="Calibri" pitchFamily="34" charset="-122"/>
                <a:cs typeface="Calibri" pitchFamily="34" charset="-120"/>
              </a:rPr>
              <a:t>  </a:t>
            </a:r>
            <a:r>
              <a:rPr lang="en-US" sz="2000" b="1" dirty="0">
                <a:solidFill>
                  <a:srgbClr val="5A5A5A"/>
                </a:solidFill>
                <a:latin typeface="Calibri" pitchFamily="34" charset="0"/>
                <a:ea typeface="Calibri" pitchFamily="34" charset="-122"/>
                <a:cs typeface="Calibri" pitchFamily="34" charset="-120"/>
              </a:rPr>
              <a:t>手話通訳者(都道府県登録)</a:t>
            </a:r>
            <a:endParaRPr lang="en-US" sz="2000" b="1" dirty="0"/>
          </a:p>
        </p:txBody>
      </p:sp>
      <p:sp>
        <p:nvSpPr>
          <p:cNvPr id="21" name="通訳士数"/>
          <p:cNvSpPr txBox="1"/>
          <p:nvPr/>
        </p:nvSpPr>
        <p:spPr>
          <a:xfrm>
            <a:off x="731520" y="5822098"/>
            <a:ext cx="5001768" cy="457200"/>
          </a:xfrm>
          <a:prstGeom prst="rect">
            <a:avLst/>
          </a:prstGeom>
          <a:noFill/>
          <a:ln/>
        </p:spPr>
        <p:txBody>
          <a:bodyPr wrap="square" lIns="0" tIns="0" rIns="0" bIns="0" rtlCol="0" anchor="ctr"/>
          <a:lstStyle/>
          <a:p>
            <a:pPr marL="0" indent="0">
              <a:buNone/>
            </a:pPr>
            <a:r>
              <a:rPr lang="en-US" sz="3200" b="1" dirty="0">
                <a:solidFill>
                  <a:srgbClr val="F96167"/>
                </a:solidFill>
                <a:latin typeface="Calibri" pitchFamily="34" charset="0"/>
                <a:ea typeface="Calibri" pitchFamily="34" charset="-122"/>
                <a:cs typeface="Calibri" pitchFamily="34" charset="-120"/>
              </a:rPr>
              <a:t>約4,300人</a:t>
            </a:r>
            <a:r>
              <a:rPr lang="en-US" sz="1400" dirty="0">
                <a:solidFill>
                  <a:srgbClr val="5A5A5A"/>
                </a:solidFill>
                <a:latin typeface="Calibri" pitchFamily="34" charset="0"/>
                <a:ea typeface="Calibri" pitchFamily="34" charset="-122"/>
                <a:cs typeface="Calibri" pitchFamily="34" charset="-120"/>
              </a:rPr>
              <a:t>  </a:t>
            </a:r>
            <a:r>
              <a:rPr lang="en-US" sz="2000" b="1" dirty="0">
                <a:solidFill>
                  <a:srgbClr val="5A5A5A"/>
                </a:solidFill>
                <a:latin typeface="Calibri" pitchFamily="34" charset="0"/>
                <a:ea typeface="Calibri" pitchFamily="34" charset="-122"/>
                <a:cs typeface="Calibri" pitchFamily="34" charset="-120"/>
              </a:rPr>
              <a:t>手話通訳士(国家資格)</a:t>
            </a:r>
            <a:endParaRPr lang="en-US" sz="2000" b="1" dirty="0"/>
          </a:p>
        </p:txBody>
      </p:sp>
      <p:sp>
        <p:nvSpPr>
          <p:cNvPr id="23" name="課題カード2"/>
          <p:cNvSpPr/>
          <p:nvPr/>
        </p:nvSpPr>
        <p:spPr>
          <a:xfrm>
            <a:off x="6181344" y="4663440"/>
            <a:ext cx="5550408" cy="1783080"/>
          </a:xfrm>
          <a:prstGeom prst="roundRect">
            <a:avLst>
              <a:gd name="adj" fmla="val 6154"/>
            </a:avLst>
          </a:prstGeom>
          <a:solidFill>
            <a:srgbClr val="FFFFFF"/>
          </a:solidFill>
          <a:ln w="12700">
            <a:solidFill>
              <a:srgbClr val="FFFFFF"/>
            </a:solidFill>
            <a:prstDash val="solid"/>
          </a:ln>
          <a:effectLst>
            <a:outerShdw blurRad="76200" dist="25400" dir="5400000" algn="bl" rotWithShape="0">
              <a:srgbClr val="000000">
                <a:alpha val="18000"/>
              </a:srgbClr>
            </a:outerShdw>
          </a:effectLst>
        </p:spPr>
      </p:sp>
      <p:sp>
        <p:nvSpPr>
          <p:cNvPr id="25" name="課題2本文"/>
          <p:cNvSpPr txBox="1"/>
          <p:nvPr/>
        </p:nvSpPr>
        <p:spPr>
          <a:xfrm>
            <a:off x="6455664" y="5591870"/>
            <a:ext cx="5001768" cy="706969"/>
          </a:xfrm>
          <a:prstGeom prst="rect">
            <a:avLst/>
          </a:prstGeom>
          <a:noFill/>
          <a:ln/>
        </p:spPr>
        <p:txBody>
          <a:bodyPr wrap="square" lIns="0" tIns="0" rIns="0" bIns="0" rtlCol="0" anchor="t"/>
          <a:lstStyle/>
          <a:p>
            <a:pPr marL="0" indent="0">
              <a:spcAft>
                <a:spcPts val="300"/>
              </a:spcAft>
              <a:buNone/>
            </a:pPr>
            <a:r>
              <a:rPr lang="en-US" sz="2000" b="1" dirty="0">
                <a:solidFill>
                  <a:srgbClr val="5A5A5A"/>
                </a:solidFill>
                <a:latin typeface="Calibri" pitchFamily="34" charset="0"/>
                <a:ea typeface="Calibri" pitchFamily="34" charset="-122"/>
                <a:cs typeface="Calibri" pitchFamily="34" charset="-120"/>
              </a:rPr>
              <a:t>・手話を習得・使用できる環境の整備</a:t>
            </a:r>
            <a:endParaRPr lang="en-US" sz="2000" b="1" dirty="0"/>
          </a:p>
          <a:p>
            <a:pPr marL="0" indent="0">
              <a:spcAft>
                <a:spcPts val="300"/>
              </a:spcAft>
              <a:buNone/>
            </a:pPr>
            <a:r>
              <a:rPr lang="en-US" sz="2000" b="1" dirty="0">
                <a:solidFill>
                  <a:srgbClr val="5A5A5A"/>
                </a:solidFill>
                <a:latin typeface="Calibri" pitchFamily="34" charset="0"/>
                <a:ea typeface="Calibri" pitchFamily="34" charset="-122"/>
                <a:cs typeface="Calibri" pitchFamily="34" charset="-120"/>
              </a:rPr>
              <a:t>・国民の理解と関心の増進</a:t>
            </a:r>
            <a:endParaRPr lang="en-US" sz="2000" b="1" dirty="0"/>
          </a:p>
          <a:p>
            <a:pPr marL="0" indent="0">
              <a:spcAft>
                <a:spcPts val="300"/>
              </a:spcAft>
              <a:buNone/>
            </a:pPr>
            <a:endParaRPr lang="en-US" sz="2000" b="1" dirty="0"/>
          </a:p>
        </p:txBody>
      </p:sp>
      <p:sp>
        <p:nvSpPr>
          <p:cNvPr id="26" name="課題2本文">
            <a:extLst>
              <a:ext uri="{FF2B5EF4-FFF2-40B4-BE49-F238E27FC236}">
                <a16:creationId xmlns:a16="http://schemas.microsoft.com/office/drawing/2014/main" id="{CD8555F7-8011-46B1-89D1-BD248A2C0C49}"/>
              </a:ext>
            </a:extLst>
          </p:cNvPr>
          <p:cNvSpPr txBox="1"/>
          <p:nvPr/>
        </p:nvSpPr>
        <p:spPr>
          <a:xfrm>
            <a:off x="6455664" y="4789139"/>
            <a:ext cx="5982681" cy="594360"/>
          </a:xfrm>
          <a:prstGeom prst="rect">
            <a:avLst/>
          </a:prstGeom>
          <a:noFill/>
          <a:ln/>
        </p:spPr>
        <p:txBody>
          <a:bodyPr wrap="square" lIns="0" tIns="0" rIns="0" bIns="0" rtlCol="0" anchor="t"/>
          <a:lstStyle/>
          <a:p>
            <a:pPr marL="0" indent="0">
              <a:spcAft>
                <a:spcPts val="300"/>
              </a:spcAft>
              <a:buNone/>
            </a:pPr>
            <a:r>
              <a:rPr lang="en-US" sz="3200" b="1" dirty="0" err="1">
                <a:solidFill>
                  <a:srgbClr val="2F3C7E"/>
                </a:solidFill>
                <a:latin typeface="Calibri" pitchFamily="34" charset="0"/>
                <a:ea typeface="Calibri" pitchFamily="34" charset="-122"/>
                <a:cs typeface="Calibri" pitchFamily="34" charset="-120"/>
              </a:rPr>
              <a:t>法の基本理念に</a:t>
            </a:r>
            <a:r>
              <a:rPr lang="ja-JP" altLang="en-US" sz="3200" b="1" dirty="0">
                <a:solidFill>
                  <a:srgbClr val="2F3C7E"/>
                </a:solidFill>
                <a:latin typeface="Calibri" pitchFamily="34" charset="0"/>
                <a:ea typeface="Calibri" pitchFamily="34" charset="-122"/>
                <a:cs typeface="Calibri" pitchFamily="34" charset="-120"/>
              </a:rPr>
              <a:t>よる</a:t>
            </a:r>
            <a:r>
              <a:rPr lang="en-US" sz="3200" b="1" dirty="0">
                <a:solidFill>
                  <a:srgbClr val="2F3C7E"/>
                </a:solidFill>
                <a:latin typeface="Calibri" pitchFamily="34" charset="0"/>
                <a:ea typeface="Calibri" pitchFamily="34" charset="-122"/>
                <a:cs typeface="Calibri" pitchFamily="34" charset="-120"/>
              </a:rPr>
              <a:t>2本柱</a:t>
            </a:r>
            <a:endParaRPr lang="en-US" sz="3200" dirty="0"/>
          </a:p>
          <a:p>
            <a:pPr marL="0" indent="0">
              <a:spcAft>
                <a:spcPts val="300"/>
              </a:spcAft>
              <a:buNone/>
            </a:pP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5" name="Shape 0">
            <a:extLst>
              <a:ext uri="{FF2B5EF4-FFF2-40B4-BE49-F238E27FC236}">
                <a16:creationId xmlns:a16="http://schemas.microsoft.com/office/drawing/2014/main" id="{1501C129-11A7-4455-BBD3-EEE42B32DCC8}"/>
              </a:ext>
            </a:extLst>
          </p:cNvPr>
          <p:cNvSpPr/>
          <p:nvPr/>
        </p:nvSpPr>
        <p:spPr>
          <a:xfrm>
            <a:off x="310821" y="313853"/>
            <a:ext cx="5501899" cy="640080"/>
          </a:xfrm>
          <a:prstGeom prst="roundRect">
            <a:avLst>
              <a:gd name="adj" fmla="val 50000"/>
            </a:avLst>
          </a:prstGeom>
          <a:solidFill>
            <a:srgbClr val="F96167"/>
          </a:solidFill>
          <a:ln/>
        </p:spPr>
      </p:sp>
      <p:sp>
        <p:nvSpPr>
          <p:cNvPr id="4" name="Text 2"/>
          <p:cNvSpPr txBox="1"/>
          <p:nvPr/>
        </p:nvSpPr>
        <p:spPr>
          <a:xfrm>
            <a:off x="510436" y="349832"/>
            <a:ext cx="5501899" cy="656605"/>
          </a:xfrm>
          <a:prstGeom prst="rect">
            <a:avLst/>
          </a:prstGeom>
          <a:noFill/>
          <a:ln/>
        </p:spPr>
        <p:txBody>
          <a:bodyPr wrap="square" lIns="0" tIns="0" rIns="0" bIns="0" rtlCol="0" anchor="ctr"/>
          <a:lstStyle/>
          <a:p>
            <a:pPr marL="0" indent="0">
              <a:buNone/>
            </a:pPr>
            <a:r>
              <a:rPr lang="en-US" sz="3200" b="1" dirty="0" err="1">
                <a:solidFill>
                  <a:schemeClr val="bg1"/>
                </a:solidFill>
                <a:latin typeface="Calibri" panose="020F0502020204030204" pitchFamily="34" charset="0"/>
                <a:ea typeface="Calibri" panose="020F0502020204030204" pitchFamily="34" charset="0"/>
                <a:cs typeface="Calibri" panose="020F0502020204030204" pitchFamily="34" charset="0"/>
              </a:rPr>
              <a:t>なぜこのアプリを作ったか</a:t>
            </a:r>
            <a:endParaRPr lang="en-US" sz="3200" dirty="0">
              <a:solidFill>
                <a:schemeClr val="bg1"/>
              </a:solidFill>
            </a:endParaRPr>
          </a:p>
        </p:txBody>
      </p:sp>
      <p:sp>
        <p:nvSpPr>
          <p:cNvPr id="5" name="Shape 3"/>
          <p:cNvSpPr/>
          <p:nvPr/>
        </p:nvSpPr>
        <p:spPr>
          <a:xfrm>
            <a:off x="259172" y="1260141"/>
            <a:ext cx="5186908" cy="5057351"/>
          </a:xfrm>
          <a:prstGeom prst="roundRect">
            <a:avLst>
              <a:gd name="adj" fmla="val 3659"/>
            </a:avLst>
          </a:prstGeom>
          <a:solidFill>
            <a:schemeClr val="bg1"/>
          </a:solidFill>
          <a:ln/>
        </p:spPr>
        <p:txBody>
          <a:bodyPr/>
          <a:lstStyle/>
          <a:p>
            <a:endParaRPr lang="ja-JP" altLang="en-US" dirty="0">
              <a:solidFill>
                <a:srgbClr val="2F3C7E"/>
              </a:solidFill>
            </a:endParaRPr>
          </a:p>
        </p:txBody>
      </p:sp>
      <p:sp>
        <p:nvSpPr>
          <p:cNvPr id="6" name="Text 4"/>
          <p:cNvSpPr txBox="1"/>
          <p:nvPr/>
        </p:nvSpPr>
        <p:spPr>
          <a:xfrm>
            <a:off x="1193956" y="2271395"/>
            <a:ext cx="1730416" cy="881315"/>
          </a:xfrm>
          <a:prstGeom prst="rect">
            <a:avLst/>
          </a:prstGeom>
          <a:noFill/>
          <a:ln/>
        </p:spPr>
        <p:txBody>
          <a:bodyPr wrap="square" lIns="0" tIns="0" rIns="0" bIns="0" rtlCol="0" anchor="ctr"/>
          <a:lstStyle/>
          <a:p>
            <a:pPr marL="0" indent="0" algn="ctr">
              <a:buNone/>
            </a:pPr>
            <a:r>
              <a:rPr lang="en-US" sz="7200" b="1" dirty="0">
                <a:solidFill>
                  <a:srgbClr val="2F3C7E"/>
                </a:solidFill>
                <a:latin typeface="Calibri" panose="020F0502020204030204" pitchFamily="34" charset="0"/>
                <a:ea typeface="Calibri" panose="020F0502020204030204" pitchFamily="34" charset="0"/>
                <a:cs typeface="Calibri" panose="020F0502020204030204" pitchFamily="34" charset="0"/>
              </a:rPr>
              <a:t>500</a:t>
            </a:r>
            <a:endParaRPr lang="en-US" sz="7200" dirty="0">
              <a:solidFill>
                <a:srgbClr val="2F3C7E"/>
              </a:solidFill>
            </a:endParaRPr>
          </a:p>
        </p:txBody>
      </p:sp>
      <p:sp>
        <p:nvSpPr>
          <p:cNvPr id="7" name="Text 5"/>
          <p:cNvSpPr txBox="1"/>
          <p:nvPr/>
        </p:nvSpPr>
        <p:spPr>
          <a:xfrm>
            <a:off x="2834640" y="2348773"/>
            <a:ext cx="2356027" cy="666513"/>
          </a:xfrm>
          <a:prstGeom prst="rect">
            <a:avLst/>
          </a:prstGeom>
          <a:noFill/>
          <a:ln/>
        </p:spPr>
        <p:txBody>
          <a:bodyPr wrap="square" lIns="0" tIns="0" rIns="0" bIns="0" rtlCol="0" anchor="ctr"/>
          <a:lstStyle/>
          <a:p>
            <a:pPr marL="0" indent="0" algn="ctr">
              <a:buNone/>
            </a:pPr>
            <a:r>
              <a:rPr lang="en-US" sz="3200" b="1" dirty="0">
                <a:solidFill>
                  <a:srgbClr val="2F3C7E"/>
                </a:solidFill>
                <a:latin typeface="Calibri" pitchFamily="34" charset="0"/>
                <a:ea typeface="Calibri" pitchFamily="34" charset="-122"/>
                <a:cs typeface="Calibri" pitchFamily="34" charset="-120"/>
              </a:rPr>
              <a:t>ページ以上</a:t>
            </a:r>
            <a:endParaRPr lang="en-US" sz="3200" b="1" dirty="0">
              <a:solidFill>
                <a:srgbClr val="2F3C7E"/>
              </a:solidFill>
            </a:endParaRPr>
          </a:p>
        </p:txBody>
      </p:sp>
      <p:sp>
        <p:nvSpPr>
          <p:cNvPr id="9" name="Text 7"/>
          <p:cNvSpPr txBox="1"/>
          <p:nvPr/>
        </p:nvSpPr>
        <p:spPr>
          <a:xfrm>
            <a:off x="5691053" y="1565940"/>
            <a:ext cx="6192893" cy="4589045"/>
          </a:xfrm>
          <a:prstGeom prst="rect">
            <a:avLst/>
          </a:prstGeom>
          <a:noFill/>
          <a:ln w="38100">
            <a:solidFill>
              <a:srgbClr val="ED5551"/>
            </a:solidFill>
            <a:prstDash val="solid"/>
          </a:ln>
        </p:spPr>
        <p:txBody>
          <a:bodyPr wrap="square" lIns="0" tIns="0" rIns="0" bIns="0" rtlCol="0" anchor="t"/>
          <a:lstStyle/>
          <a:p>
            <a:pPr marL="228600" indent="-252000">
              <a:spcAft>
                <a:spcPts val="4200"/>
              </a:spcAft>
              <a:buSzPct val="100000"/>
              <a:buChar char="●"/>
            </a:pPr>
            <a:r>
              <a:rPr lang="en-US" altLang="ja-JP" sz="3600" dirty="0">
                <a:solidFill>
                  <a:schemeClr val="bg1"/>
                </a:solidFill>
                <a:latin typeface="Calibri" pitchFamily="34" charset="0"/>
                <a:ea typeface="Calibri" pitchFamily="34" charset="-122"/>
                <a:cs typeface="Calibri" pitchFamily="34" charset="-120"/>
              </a:rPr>
              <a:t>500</a:t>
            </a:r>
            <a:r>
              <a:rPr lang="ja-JP" altLang="en-US" sz="3600" dirty="0">
                <a:solidFill>
                  <a:schemeClr val="bg1"/>
                </a:solidFill>
                <a:latin typeface="Calibri" pitchFamily="34" charset="0"/>
                <a:ea typeface="Calibri" pitchFamily="34" charset="-122"/>
                <a:cs typeface="Calibri" pitchFamily="34" charset="-120"/>
              </a:rPr>
              <a:t>ページ以上（約</a:t>
            </a:r>
            <a:r>
              <a:rPr lang="en-US" altLang="ja-JP" sz="3600" dirty="0">
                <a:solidFill>
                  <a:schemeClr val="bg1"/>
                </a:solidFill>
                <a:latin typeface="Calibri" pitchFamily="34" charset="0"/>
                <a:ea typeface="Calibri" pitchFamily="34" charset="-122"/>
                <a:cs typeface="Calibri" pitchFamily="34" charset="-120"/>
              </a:rPr>
              <a:t>750g</a:t>
            </a:r>
            <a:r>
              <a:rPr lang="ja-JP" altLang="en-US" sz="3600" dirty="0">
                <a:solidFill>
                  <a:schemeClr val="bg1"/>
                </a:solidFill>
                <a:latin typeface="Calibri" pitchFamily="34" charset="0"/>
                <a:ea typeface="Calibri" pitchFamily="34" charset="-122"/>
                <a:cs typeface="Calibri" pitchFamily="34" charset="-120"/>
              </a:rPr>
              <a:t>）の</a:t>
            </a:r>
            <a:r>
              <a:rPr lang="en-US" sz="3600" dirty="0" err="1">
                <a:solidFill>
                  <a:schemeClr val="bg1"/>
                </a:solidFill>
                <a:latin typeface="Calibri" pitchFamily="34" charset="0"/>
                <a:ea typeface="Calibri" pitchFamily="34" charset="-122"/>
                <a:cs typeface="Calibri" pitchFamily="34" charset="-120"/>
              </a:rPr>
              <a:t>辞典を持ち歩</a:t>
            </a:r>
            <a:r>
              <a:rPr lang="ja-JP" altLang="en-US" sz="3600" dirty="0">
                <a:solidFill>
                  <a:schemeClr val="bg1"/>
                </a:solidFill>
                <a:latin typeface="Calibri" pitchFamily="34" charset="0"/>
                <a:ea typeface="Calibri" pitchFamily="34" charset="-122"/>
                <a:cs typeface="Calibri" pitchFamily="34" charset="-120"/>
              </a:rPr>
              <a:t>きたくない</a:t>
            </a:r>
            <a:endParaRPr lang="en-US" sz="3600" dirty="0">
              <a:solidFill>
                <a:schemeClr val="bg1"/>
              </a:solidFill>
            </a:endParaRPr>
          </a:p>
          <a:p>
            <a:pPr marL="228600" indent="-252000">
              <a:spcAft>
                <a:spcPts val="4200"/>
              </a:spcAft>
              <a:buSzPct val="100000"/>
              <a:buChar char="●"/>
            </a:pPr>
            <a:r>
              <a:rPr lang="en-US" sz="3600" dirty="0" err="1">
                <a:solidFill>
                  <a:schemeClr val="bg1"/>
                </a:solidFill>
                <a:latin typeface="Calibri" pitchFamily="34" charset="0"/>
                <a:ea typeface="Calibri" pitchFamily="34" charset="-122"/>
                <a:cs typeface="Calibri" pitchFamily="34" charset="-120"/>
              </a:rPr>
              <a:t>毎年</a:t>
            </a:r>
            <a:r>
              <a:rPr lang="ja-JP" altLang="en-US" sz="3600" dirty="0">
                <a:solidFill>
                  <a:schemeClr val="bg1"/>
                </a:solidFill>
                <a:latin typeface="Calibri" pitchFamily="34" charset="0"/>
                <a:ea typeface="Calibri" pitchFamily="34" charset="-122"/>
                <a:cs typeface="Calibri" pitchFamily="34" charset="-120"/>
              </a:rPr>
              <a:t>増える手話単語</a:t>
            </a:r>
            <a:br>
              <a:rPr lang="en-US" altLang="ja-JP" sz="3600" dirty="0">
                <a:solidFill>
                  <a:schemeClr val="bg1"/>
                </a:solidFill>
                <a:latin typeface="Calibri" pitchFamily="34" charset="0"/>
                <a:ea typeface="Calibri" pitchFamily="34" charset="-122"/>
                <a:cs typeface="Calibri" pitchFamily="34" charset="-120"/>
              </a:rPr>
            </a:br>
            <a:r>
              <a:rPr lang="en-US" sz="3600" dirty="0" err="1">
                <a:solidFill>
                  <a:schemeClr val="bg1"/>
                </a:solidFill>
                <a:latin typeface="Calibri" pitchFamily="34" charset="0"/>
                <a:ea typeface="Calibri" pitchFamily="34" charset="-122"/>
                <a:cs typeface="Calibri" pitchFamily="34" charset="-120"/>
              </a:rPr>
              <a:t>情報収集だけでも大変</a:t>
            </a:r>
            <a:endParaRPr lang="en-US" sz="3600" dirty="0">
              <a:solidFill>
                <a:schemeClr val="bg1"/>
              </a:solidFill>
            </a:endParaRPr>
          </a:p>
          <a:p>
            <a:pPr marL="228600" indent="-252000">
              <a:spcAft>
                <a:spcPts val="4200"/>
              </a:spcAft>
              <a:buSzPct val="100000"/>
              <a:buChar char="●"/>
            </a:pPr>
            <a:r>
              <a:rPr lang="ja-JP" altLang="en-US" sz="3600" dirty="0">
                <a:solidFill>
                  <a:schemeClr val="bg1"/>
                </a:solidFill>
                <a:latin typeface="Calibri" pitchFamily="34" charset="0"/>
                <a:ea typeface="Calibri" pitchFamily="34" charset="-122"/>
                <a:cs typeface="Calibri" pitchFamily="34" charset="-120"/>
              </a:rPr>
              <a:t>隙間時間に</a:t>
            </a:r>
            <a:r>
              <a:rPr lang="en-US" sz="3600" dirty="0" err="1">
                <a:solidFill>
                  <a:schemeClr val="bg1"/>
                </a:solidFill>
                <a:latin typeface="Calibri" pitchFamily="34" charset="0"/>
                <a:ea typeface="Calibri" pitchFamily="34" charset="-122"/>
                <a:cs typeface="Calibri" pitchFamily="34" charset="-120"/>
              </a:rPr>
              <a:t>学習できる</a:t>
            </a:r>
            <a:br>
              <a:rPr lang="en-US" sz="3600" dirty="0">
                <a:solidFill>
                  <a:schemeClr val="bg1"/>
                </a:solidFill>
                <a:latin typeface="Calibri" pitchFamily="34" charset="0"/>
                <a:ea typeface="Calibri" pitchFamily="34" charset="-122"/>
                <a:cs typeface="Calibri" pitchFamily="34" charset="-120"/>
              </a:rPr>
            </a:br>
            <a:r>
              <a:rPr lang="en-US" sz="3600" dirty="0" err="1">
                <a:solidFill>
                  <a:schemeClr val="bg1"/>
                </a:solidFill>
                <a:latin typeface="Calibri" pitchFamily="34" charset="0"/>
                <a:ea typeface="Calibri" pitchFamily="34" charset="-122"/>
                <a:cs typeface="Calibri" pitchFamily="34" charset="-120"/>
              </a:rPr>
              <a:t>仕組みが必要</a:t>
            </a:r>
            <a:r>
              <a:rPr lang="ja-JP" altLang="en-US" sz="3600" dirty="0">
                <a:solidFill>
                  <a:schemeClr val="bg1"/>
                </a:solidFill>
                <a:latin typeface="Calibri" pitchFamily="34" charset="0"/>
                <a:ea typeface="Calibri" pitchFamily="34" charset="-122"/>
                <a:cs typeface="Calibri" pitchFamily="34" charset="-120"/>
              </a:rPr>
              <a:t>と思った</a:t>
            </a:r>
            <a:endParaRPr lang="en-US" sz="3600" dirty="0">
              <a:solidFill>
                <a:schemeClr val="bg1"/>
              </a:solidFill>
            </a:endParaRPr>
          </a:p>
        </p:txBody>
      </p:sp>
      <p:sp>
        <p:nvSpPr>
          <p:cNvPr id="11" name="Text 4">
            <a:extLst>
              <a:ext uri="{FF2B5EF4-FFF2-40B4-BE49-F238E27FC236}">
                <a16:creationId xmlns:a16="http://schemas.microsoft.com/office/drawing/2014/main" id="{08927013-1706-42D3-A47E-C50498761F96}"/>
              </a:ext>
            </a:extLst>
          </p:cNvPr>
          <p:cNvSpPr txBox="1"/>
          <p:nvPr/>
        </p:nvSpPr>
        <p:spPr>
          <a:xfrm>
            <a:off x="1026429" y="3356507"/>
            <a:ext cx="2225040" cy="864620"/>
          </a:xfrm>
          <a:prstGeom prst="rect">
            <a:avLst/>
          </a:prstGeom>
          <a:noFill/>
          <a:ln/>
        </p:spPr>
        <p:txBody>
          <a:bodyPr wrap="square" lIns="0" tIns="0" rIns="0" bIns="0" rtlCol="0" anchor="ctr"/>
          <a:lstStyle/>
          <a:p>
            <a:pPr marL="0" indent="0" algn="ctr">
              <a:buNone/>
            </a:pPr>
            <a:r>
              <a:rPr lang="en-US" sz="7200" b="1" dirty="0">
                <a:solidFill>
                  <a:srgbClr val="2F3C7E"/>
                </a:solidFill>
                <a:latin typeface="Calibri" panose="020F0502020204030204" pitchFamily="34" charset="0"/>
                <a:ea typeface="Calibri" panose="020F0502020204030204" pitchFamily="34" charset="0"/>
                <a:cs typeface="Calibri" panose="020F0502020204030204" pitchFamily="34" charset="0"/>
              </a:rPr>
              <a:t>3500</a:t>
            </a:r>
            <a:endParaRPr lang="en-US" sz="7200" dirty="0">
              <a:solidFill>
                <a:srgbClr val="2F3C7E"/>
              </a:solidFill>
            </a:endParaRPr>
          </a:p>
        </p:txBody>
      </p:sp>
      <p:sp>
        <p:nvSpPr>
          <p:cNvPr id="12" name="Text 5">
            <a:extLst>
              <a:ext uri="{FF2B5EF4-FFF2-40B4-BE49-F238E27FC236}">
                <a16:creationId xmlns:a16="http://schemas.microsoft.com/office/drawing/2014/main" id="{516FD0EC-E527-4F8C-A440-73529CB30BB8}"/>
              </a:ext>
            </a:extLst>
          </p:cNvPr>
          <p:cNvSpPr txBox="1"/>
          <p:nvPr/>
        </p:nvSpPr>
        <p:spPr>
          <a:xfrm>
            <a:off x="3351643" y="3524638"/>
            <a:ext cx="1746813" cy="457200"/>
          </a:xfrm>
          <a:prstGeom prst="rect">
            <a:avLst/>
          </a:prstGeom>
          <a:noFill/>
          <a:ln/>
        </p:spPr>
        <p:txBody>
          <a:bodyPr wrap="square" lIns="0" tIns="0" rIns="0" bIns="0" rtlCol="0" anchor="ctr"/>
          <a:lstStyle/>
          <a:p>
            <a:pPr marL="0" indent="0" algn="ctr">
              <a:buNone/>
            </a:pPr>
            <a:r>
              <a:rPr lang="ja-JP" altLang="en-US" sz="3200" b="1" dirty="0">
                <a:solidFill>
                  <a:srgbClr val="2F3C7E"/>
                </a:solidFill>
                <a:latin typeface="Calibri" pitchFamily="34" charset="0"/>
                <a:ea typeface="Calibri" pitchFamily="34" charset="-122"/>
                <a:cs typeface="Calibri" pitchFamily="34" charset="-120"/>
              </a:rPr>
              <a:t>単語</a:t>
            </a:r>
            <a:r>
              <a:rPr lang="en-US" sz="3200" b="1" dirty="0" err="1">
                <a:solidFill>
                  <a:srgbClr val="2F3C7E"/>
                </a:solidFill>
                <a:latin typeface="Calibri" pitchFamily="34" charset="0"/>
                <a:ea typeface="Calibri" pitchFamily="34" charset="-122"/>
                <a:cs typeface="Calibri" pitchFamily="34" charset="-120"/>
              </a:rPr>
              <a:t>以上</a:t>
            </a:r>
            <a:endParaRPr lang="en-US" sz="3200" b="1" dirty="0">
              <a:solidFill>
                <a:srgbClr val="2F3C7E"/>
              </a:solidFill>
            </a:endParaRPr>
          </a:p>
        </p:txBody>
      </p:sp>
      <p:sp>
        <p:nvSpPr>
          <p:cNvPr id="13" name="Text 5">
            <a:extLst>
              <a:ext uri="{FF2B5EF4-FFF2-40B4-BE49-F238E27FC236}">
                <a16:creationId xmlns:a16="http://schemas.microsoft.com/office/drawing/2014/main" id="{1452EA02-E0A4-49E0-8DD3-01B2D27A9557}"/>
              </a:ext>
            </a:extLst>
          </p:cNvPr>
          <p:cNvSpPr txBox="1"/>
          <p:nvPr/>
        </p:nvSpPr>
        <p:spPr>
          <a:xfrm flipH="1">
            <a:off x="2317781" y="4492700"/>
            <a:ext cx="652655" cy="457200"/>
          </a:xfrm>
          <a:prstGeom prst="rect">
            <a:avLst/>
          </a:prstGeom>
          <a:noFill/>
          <a:ln/>
        </p:spPr>
        <p:txBody>
          <a:bodyPr wrap="square" lIns="0" tIns="0" rIns="0" bIns="0" rtlCol="0" anchor="ctr"/>
          <a:lstStyle/>
          <a:p>
            <a:pPr marL="0" indent="0" algn="ctr">
              <a:buNone/>
            </a:pPr>
            <a:r>
              <a:rPr lang="en-US" altLang="ja-JP" sz="6000" b="1" dirty="0">
                <a:solidFill>
                  <a:srgbClr val="2F3C7E"/>
                </a:solidFill>
                <a:latin typeface="Calibri" pitchFamily="34" charset="0"/>
                <a:ea typeface="Calibri" pitchFamily="34" charset="-122"/>
                <a:cs typeface="Calibri" pitchFamily="34" charset="-120"/>
              </a:rPr>
              <a:t>×</a:t>
            </a:r>
            <a:endParaRPr lang="en-US" sz="6000" dirty="0">
              <a:solidFill>
                <a:srgbClr val="2F3C7E"/>
              </a:solidFill>
            </a:endParaRPr>
          </a:p>
        </p:txBody>
      </p:sp>
      <p:sp>
        <p:nvSpPr>
          <p:cNvPr id="14" name="Text 5">
            <a:extLst>
              <a:ext uri="{FF2B5EF4-FFF2-40B4-BE49-F238E27FC236}">
                <a16:creationId xmlns:a16="http://schemas.microsoft.com/office/drawing/2014/main" id="{0C018A0A-518B-4CD6-899B-5FFE08B41F0A}"/>
              </a:ext>
            </a:extLst>
          </p:cNvPr>
          <p:cNvSpPr txBox="1"/>
          <p:nvPr/>
        </p:nvSpPr>
        <p:spPr>
          <a:xfrm>
            <a:off x="2064008" y="4887704"/>
            <a:ext cx="1287635" cy="457200"/>
          </a:xfrm>
          <a:prstGeom prst="rect">
            <a:avLst/>
          </a:prstGeom>
          <a:noFill/>
          <a:ln/>
        </p:spPr>
        <p:txBody>
          <a:bodyPr wrap="square" lIns="0" tIns="0" rIns="0" bIns="0" rtlCol="0" anchor="ctr"/>
          <a:lstStyle/>
          <a:p>
            <a:pPr marL="0" indent="0" algn="ctr">
              <a:buNone/>
            </a:pPr>
            <a:r>
              <a:rPr lang="ja-JP" altLang="en-US" sz="2000" dirty="0">
                <a:solidFill>
                  <a:srgbClr val="2F3C7E"/>
                </a:solidFill>
                <a:latin typeface="Calibri" pitchFamily="34" charset="0"/>
                <a:ea typeface="Calibri" pitchFamily="34" charset="-122"/>
                <a:cs typeface="Calibri" pitchFamily="34" charset="-120"/>
              </a:rPr>
              <a:t>（かける）</a:t>
            </a:r>
            <a:endParaRPr lang="en-US" sz="2000" dirty="0">
              <a:solidFill>
                <a:srgbClr val="2F3C7E"/>
              </a:solidFill>
            </a:endParaRPr>
          </a:p>
        </p:txBody>
      </p:sp>
      <p:sp>
        <p:nvSpPr>
          <p:cNvPr id="15" name="Text 4">
            <a:extLst>
              <a:ext uri="{FF2B5EF4-FFF2-40B4-BE49-F238E27FC236}">
                <a16:creationId xmlns:a16="http://schemas.microsoft.com/office/drawing/2014/main" id="{D6492F6E-E48D-4840-BDCF-A1DC84939330}"/>
              </a:ext>
            </a:extLst>
          </p:cNvPr>
          <p:cNvSpPr txBox="1"/>
          <p:nvPr/>
        </p:nvSpPr>
        <p:spPr>
          <a:xfrm>
            <a:off x="2209863" y="5266147"/>
            <a:ext cx="868489" cy="881315"/>
          </a:xfrm>
          <a:prstGeom prst="rect">
            <a:avLst/>
          </a:prstGeom>
          <a:noFill/>
          <a:ln/>
        </p:spPr>
        <p:txBody>
          <a:bodyPr wrap="square" lIns="0" tIns="0" rIns="0" bIns="0" rtlCol="0" anchor="ctr"/>
          <a:lstStyle/>
          <a:p>
            <a:pPr marL="0" indent="0" algn="ctr">
              <a:buNone/>
            </a:pPr>
            <a:r>
              <a:rPr lang="en-US" sz="7200" b="1" u="sng" dirty="0">
                <a:solidFill>
                  <a:srgbClr val="2F3C7E"/>
                </a:solidFill>
                <a:latin typeface="Calibri" panose="020F0502020204030204" pitchFamily="34" charset="0"/>
                <a:ea typeface="Calibri" panose="020F0502020204030204" pitchFamily="34" charset="0"/>
                <a:cs typeface="Calibri" panose="020F0502020204030204" pitchFamily="34" charset="0"/>
              </a:rPr>
              <a:t>3</a:t>
            </a:r>
            <a:endParaRPr lang="en-US" sz="7200" u="sng" dirty="0">
              <a:solidFill>
                <a:srgbClr val="2F3C7E"/>
              </a:solidFill>
            </a:endParaRPr>
          </a:p>
        </p:txBody>
      </p:sp>
      <p:sp>
        <p:nvSpPr>
          <p:cNvPr id="16" name="Text 5">
            <a:extLst>
              <a:ext uri="{FF2B5EF4-FFF2-40B4-BE49-F238E27FC236}">
                <a16:creationId xmlns:a16="http://schemas.microsoft.com/office/drawing/2014/main" id="{391EC969-C684-49BF-89FF-CC662FD91855}"/>
              </a:ext>
            </a:extLst>
          </p:cNvPr>
          <p:cNvSpPr txBox="1"/>
          <p:nvPr/>
        </p:nvSpPr>
        <p:spPr>
          <a:xfrm>
            <a:off x="3418376" y="5597859"/>
            <a:ext cx="1746813" cy="457200"/>
          </a:xfrm>
          <a:prstGeom prst="rect">
            <a:avLst/>
          </a:prstGeom>
          <a:noFill/>
          <a:ln/>
        </p:spPr>
        <p:txBody>
          <a:bodyPr wrap="square" lIns="0" tIns="0" rIns="0" bIns="0" rtlCol="0" anchor="ctr"/>
          <a:lstStyle/>
          <a:p>
            <a:pPr marL="0" indent="0" algn="ctr">
              <a:buNone/>
            </a:pPr>
            <a:r>
              <a:rPr lang="ja-JP" altLang="en-US" sz="3200" b="1" dirty="0">
                <a:solidFill>
                  <a:srgbClr val="2F3C7E"/>
                </a:solidFill>
                <a:latin typeface="Calibri" pitchFamily="34" charset="0"/>
                <a:ea typeface="Calibri" pitchFamily="34" charset="-122"/>
                <a:cs typeface="Calibri" pitchFamily="34" charset="-120"/>
              </a:rPr>
              <a:t>冊</a:t>
            </a:r>
            <a:r>
              <a:rPr lang="en-US" sz="3200" b="1" dirty="0" err="1">
                <a:solidFill>
                  <a:srgbClr val="2F3C7E"/>
                </a:solidFill>
                <a:latin typeface="Calibri" pitchFamily="34" charset="0"/>
                <a:ea typeface="Calibri" pitchFamily="34" charset="-122"/>
                <a:cs typeface="Calibri" pitchFamily="34" charset="-120"/>
              </a:rPr>
              <a:t>以上</a:t>
            </a:r>
            <a:endParaRPr lang="en-US" sz="3200" b="1" dirty="0">
              <a:solidFill>
                <a:srgbClr val="2F3C7E"/>
              </a:solidFill>
            </a:endParaRPr>
          </a:p>
        </p:txBody>
      </p:sp>
      <p:pic>
        <p:nvPicPr>
          <p:cNvPr id="18" name="グラフィックス 17" descr="本">
            <a:extLst>
              <a:ext uri="{FF2B5EF4-FFF2-40B4-BE49-F238E27FC236}">
                <a16:creationId xmlns:a16="http://schemas.microsoft.com/office/drawing/2014/main" id="{25714359-5042-463F-92A0-64740AF33E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164" y="5447534"/>
            <a:ext cx="780613" cy="780613"/>
          </a:xfrm>
          <a:prstGeom prst="rect">
            <a:avLst/>
          </a:prstGeom>
        </p:spPr>
      </p:pic>
      <p:pic>
        <p:nvPicPr>
          <p:cNvPr id="20" name="グラフィックス 19" descr="開いた本">
            <a:extLst>
              <a:ext uri="{FF2B5EF4-FFF2-40B4-BE49-F238E27FC236}">
                <a16:creationId xmlns:a16="http://schemas.microsoft.com/office/drawing/2014/main" id="{142E238D-DD0D-49B8-84E2-FCF75DFB969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1164" y="2415221"/>
            <a:ext cx="700028" cy="700028"/>
          </a:xfrm>
          <a:prstGeom prst="rect">
            <a:avLst/>
          </a:prstGeom>
        </p:spPr>
      </p:pic>
      <p:pic>
        <p:nvPicPr>
          <p:cNvPr id="22" name="グラフィックス 21" descr="鉛筆">
            <a:extLst>
              <a:ext uri="{FF2B5EF4-FFF2-40B4-BE49-F238E27FC236}">
                <a16:creationId xmlns:a16="http://schemas.microsoft.com/office/drawing/2014/main" id="{80740C5F-0A16-490E-A746-F4976ACD473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1164" y="3590613"/>
            <a:ext cx="652655" cy="652655"/>
          </a:xfrm>
          <a:prstGeom prst="rect">
            <a:avLst/>
          </a:prstGeom>
        </p:spPr>
      </p:pic>
      <p:sp>
        <p:nvSpPr>
          <p:cNvPr id="23" name="四角形: 角を丸くする 22">
            <a:extLst>
              <a:ext uri="{FF2B5EF4-FFF2-40B4-BE49-F238E27FC236}">
                <a16:creationId xmlns:a16="http://schemas.microsoft.com/office/drawing/2014/main" id="{4153AE0B-52F6-4118-9C62-360CA46712DA}"/>
              </a:ext>
            </a:extLst>
          </p:cNvPr>
          <p:cNvSpPr/>
          <p:nvPr/>
        </p:nvSpPr>
        <p:spPr>
          <a:xfrm>
            <a:off x="333203" y="1810334"/>
            <a:ext cx="4943068" cy="2546513"/>
          </a:xfrm>
          <a:prstGeom prst="roundRect">
            <a:avLst/>
          </a:prstGeom>
          <a:noFill/>
          <a:ln w="38100">
            <a:solidFill>
              <a:srgbClr val="ED555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2F3C7E"/>
              </a:solidFill>
            </a:endParaRPr>
          </a:p>
        </p:txBody>
      </p:sp>
      <p:sp>
        <p:nvSpPr>
          <p:cNvPr id="2" name="四角形: 角を丸くする 1">
            <a:extLst>
              <a:ext uri="{FF2B5EF4-FFF2-40B4-BE49-F238E27FC236}">
                <a16:creationId xmlns:a16="http://schemas.microsoft.com/office/drawing/2014/main" id="{822965DA-48E8-466B-AA55-F6E422ACA9A0}"/>
              </a:ext>
            </a:extLst>
          </p:cNvPr>
          <p:cNvSpPr/>
          <p:nvPr/>
        </p:nvSpPr>
        <p:spPr>
          <a:xfrm>
            <a:off x="1525730" y="1467498"/>
            <a:ext cx="2236761" cy="744828"/>
          </a:xfrm>
          <a:prstGeom prst="roundRect">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2F3C7E"/>
              </a:solidFill>
            </a:endParaRPr>
          </a:p>
        </p:txBody>
      </p:sp>
      <p:sp>
        <p:nvSpPr>
          <p:cNvPr id="21" name="Text 5">
            <a:extLst>
              <a:ext uri="{FF2B5EF4-FFF2-40B4-BE49-F238E27FC236}">
                <a16:creationId xmlns:a16="http://schemas.microsoft.com/office/drawing/2014/main" id="{3639AB3F-1604-4CA0-AF0D-5BDD3098A818}"/>
              </a:ext>
            </a:extLst>
          </p:cNvPr>
          <p:cNvSpPr txBox="1"/>
          <p:nvPr/>
        </p:nvSpPr>
        <p:spPr>
          <a:xfrm>
            <a:off x="1770703" y="1610821"/>
            <a:ext cx="1746813" cy="457200"/>
          </a:xfrm>
          <a:prstGeom prst="rect">
            <a:avLst/>
          </a:prstGeom>
          <a:noFill/>
          <a:ln/>
        </p:spPr>
        <p:txBody>
          <a:bodyPr wrap="square" lIns="0" tIns="0" rIns="0" bIns="0" rtlCol="0" anchor="ctr"/>
          <a:lstStyle/>
          <a:p>
            <a:pPr marL="0" indent="0" algn="ctr">
              <a:buNone/>
            </a:pPr>
            <a:r>
              <a:rPr lang="ja-JP" altLang="en-US" sz="3200" b="1" dirty="0">
                <a:solidFill>
                  <a:srgbClr val="2F3C7E"/>
                </a:solidFill>
                <a:latin typeface="Calibri" pitchFamily="34" charset="0"/>
                <a:ea typeface="Calibri" pitchFamily="34" charset="-122"/>
                <a:cs typeface="Calibri" pitchFamily="34" charset="-120"/>
              </a:rPr>
              <a:t>１冊の量</a:t>
            </a:r>
            <a:endParaRPr lang="en-US" sz="3200" b="1" dirty="0">
              <a:solidFill>
                <a:srgbClr val="2F3C7E"/>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5" name="Shape 3"/>
          <p:cNvSpPr/>
          <p:nvPr/>
        </p:nvSpPr>
        <p:spPr>
          <a:xfrm>
            <a:off x="457200" y="1393371"/>
            <a:ext cx="11247120" cy="1536295"/>
          </a:xfrm>
          <a:prstGeom prst="roundRect">
            <a:avLst>
              <a:gd name="adj" fmla="val 6452"/>
            </a:avLst>
          </a:prstGeom>
          <a:solidFill>
            <a:srgbClr val="FFFFFF"/>
          </a:solidFill>
          <a:ln w="12700">
            <a:solidFill>
              <a:srgbClr val="EAD9D0"/>
            </a:solidFill>
            <a:prstDash val="solid"/>
          </a:ln>
        </p:spPr>
        <p:txBody>
          <a:bodyPr/>
          <a:lstStyle/>
          <a:p>
            <a:endParaRPr lang="ja-JP" altLang="en-US" dirty="0"/>
          </a:p>
        </p:txBody>
      </p:sp>
      <p:sp>
        <p:nvSpPr>
          <p:cNvPr id="6" name="Shape 4"/>
          <p:cNvSpPr/>
          <p:nvPr/>
        </p:nvSpPr>
        <p:spPr>
          <a:xfrm>
            <a:off x="685800" y="1751765"/>
            <a:ext cx="868680" cy="868680"/>
          </a:xfrm>
          <a:prstGeom prst="ellipse">
            <a:avLst/>
          </a:prstGeom>
          <a:solidFill>
            <a:srgbClr val="2F3C7E"/>
          </a:solidFill>
          <a:ln/>
        </p:spPr>
      </p:sp>
      <p:sp>
        <p:nvSpPr>
          <p:cNvPr id="7" name="Text 5"/>
          <p:cNvSpPr txBox="1"/>
          <p:nvPr/>
        </p:nvSpPr>
        <p:spPr>
          <a:xfrm>
            <a:off x="685800" y="1753907"/>
            <a:ext cx="868680" cy="868680"/>
          </a:xfrm>
          <a:prstGeom prst="rect">
            <a:avLst/>
          </a:prstGeom>
          <a:noFill/>
          <a:ln/>
        </p:spPr>
        <p:txBody>
          <a:bodyPr wrap="square" lIns="0" tIns="0" rIns="0" bIns="0" rtlCol="0" anchor="ctr"/>
          <a:lstStyle/>
          <a:p>
            <a:pPr marL="0" indent="0" algn="ctr">
              <a:buNone/>
            </a:pPr>
            <a:r>
              <a:rPr lang="en-US" sz="2660" dirty="0">
                <a:solidFill>
                  <a:schemeClr val="bg1"/>
                </a:solidFill>
              </a:rPr>
              <a:t>🛠️</a:t>
            </a:r>
          </a:p>
        </p:txBody>
      </p:sp>
      <p:sp>
        <p:nvSpPr>
          <p:cNvPr id="8" name="Text 6"/>
          <p:cNvSpPr txBox="1"/>
          <p:nvPr/>
        </p:nvSpPr>
        <p:spPr>
          <a:xfrm>
            <a:off x="1783080" y="1514212"/>
            <a:ext cx="9601200" cy="457200"/>
          </a:xfrm>
          <a:prstGeom prst="rect">
            <a:avLst/>
          </a:prstGeom>
          <a:noFill/>
          <a:ln/>
        </p:spPr>
        <p:txBody>
          <a:bodyPr wrap="square" lIns="0" tIns="0" rIns="0" bIns="0" rtlCol="0" anchor="ctr"/>
          <a:lstStyle/>
          <a:p>
            <a:pPr marL="0" indent="0">
              <a:buNone/>
            </a:pPr>
            <a:r>
              <a:rPr lang="en-US" sz="3200" b="1" dirty="0">
                <a:solidFill>
                  <a:srgbClr val="2F3C7E"/>
                </a:solidFill>
                <a:latin typeface="Calibri" pitchFamily="34" charset="0"/>
                <a:ea typeface="Calibri" pitchFamily="34" charset="-122"/>
                <a:cs typeface="Calibri" pitchFamily="34" charset="-120"/>
              </a:rPr>
              <a:t>Laravel(PHP)/ MySQL / Docker(WSL2)</a:t>
            </a:r>
            <a:endParaRPr lang="en-US" sz="3200" dirty="0"/>
          </a:p>
        </p:txBody>
      </p:sp>
      <p:sp>
        <p:nvSpPr>
          <p:cNvPr id="9" name="Text 7"/>
          <p:cNvSpPr txBox="1"/>
          <p:nvPr/>
        </p:nvSpPr>
        <p:spPr>
          <a:xfrm>
            <a:off x="1783080" y="2123769"/>
            <a:ext cx="9601200" cy="731520"/>
          </a:xfrm>
          <a:prstGeom prst="rect">
            <a:avLst/>
          </a:prstGeom>
          <a:noFill/>
          <a:ln/>
        </p:spPr>
        <p:txBody>
          <a:bodyPr wrap="square" lIns="0" tIns="0" rIns="0" bIns="0" rtlCol="0" anchor="ctr"/>
          <a:lstStyle/>
          <a:p>
            <a:pPr marL="0" indent="0">
              <a:buNone/>
            </a:pPr>
            <a:r>
              <a:rPr lang="en-US" sz="2800" dirty="0">
                <a:solidFill>
                  <a:srgbClr val="5A5A5A"/>
                </a:solidFill>
                <a:latin typeface="Calibri" pitchFamily="34" charset="0"/>
                <a:ea typeface="Calibri" pitchFamily="34" charset="-122"/>
                <a:cs typeface="Calibri" pitchFamily="34" charset="-120"/>
              </a:rPr>
              <a:t>PHPのフレームワークLaravelでサーバ処理を実装。データはMySQLで管理し、開発環境はDockerで統一</a:t>
            </a:r>
            <a:endParaRPr lang="en-US" sz="2800" dirty="0"/>
          </a:p>
        </p:txBody>
      </p:sp>
      <p:sp>
        <p:nvSpPr>
          <p:cNvPr id="10" name="Shape 8"/>
          <p:cNvSpPr/>
          <p:nvPr/>
        </p:nvSpPr>
        <p:spPr>
          <a:xfrm>
            <a:off x="457200" y="3194087"/>
            <a:ext cx="11247120" cy="1537087"/>
          </a:xfrm>
          <a:prstGeom prst="roundRect">
            <a:avLst>
              <a:gd name="adj" fmla="val 6452"/>
            </a:avLst>
          </a:prstGeom>
          <a:solidFill>
            <a:srgbClr val="FFFFFF"/>
          </a:solidFill>
          <a:ln w="12700">
            <a:solidFill>
              <a:srgbClr val="EAD9D0"/>
            </a:solidFill>
            <a:prstDash val="solid"/>
          </a:ln>
        </p:spPr>
      </p:sp>
      <p:sp>
        <p:nvSpPr>
          <p:cNvPr id="11" name="Shape 9"/>
          <p:cNvSpPr/>
          <p:nvPr/>
        </p:nvSpPr>
        <p:spPr>
          <a:xfrm>
            <a:off x="685800" y="3556213"/>
            <a:ext cx="868680" cy="868680"/>
          </a:xfrm>
          <a:prstGeom prst="ellipse">
            <a:avLst/>
          </a:prstGeom>
          <a:solidFill>
            <a:srgbClr val="2F3C7E"/>
          </a:solidFill>
          <a:ln/>
        </p:spPr>
      </p:sp>
      <p:sp>
        <p:nvSpPr>
          <p:cNvPr id="12" name="Text 10"/>
          <p:cNvSpPr txBox="1"/>
          <p:nvPr/>
        </p:nvSpPr>
        <p:spPr>
          <a:xfrm>
            <a:off x="708660" y="3581295"/>
            <a:ext cx="868680" cy="868680"/>
          </a:xfrm>
          <a:prstGeom prst="rect">
            <a:avLst/>
          </a:prstGeom>
          <a:noFill/>
          <a:ln/>
        </p:spPr>
        <p:txBody>
          <a:bodyPr wrap="square" lIns="0" tIns="0" rIns="0" bIns="0" rtlCol="0" anchor="ctr"/>
          <a:lstStyle/>
          <a:p>
            <a:pPr marL="0" indent="0" algn="ctr">
              <a:buNone/>
            </a:pPr>
            <a:r>
              <a:rPr lang="en-US" sz="2660" dirty="0">
                <a:solidFill>
                  <a:schemeClr val="bg1"/>
                </a:solidFill>
              </a:rPr>
              <a:t>🔐</a:t>
            </a:r>
          </a:p>
        </p:txBody>
      </p:sp>
      <p:sp>
        <p:nvSpPr>
          <p:cNvPr id="13" name="Text 11"/>
          <p:cNvSpPr txBox="1"/>
          <p:nvPr/>
        </p:nvSpPr>
        <p:spPr>
          <a:xfrm>
            <a:off x="1828800" y="3327613"/>
            <a:ext cx="9601200" cy="457200"/>
          </a:xfrm>
          <a:prstGeom prst="rect">
            <a:avLst/>
          </a:prstGeom>
          <a:noFill/>
          <a:ln/>
        </p:spPr>
        <p:txBody>
          <a:bodyPr wrap="square" lIns="0" tIns="0" rIns="0" bIns="0" rtlCol="0" anchor="ctr"/>
          <a:lstStyle/>
          <a:p>
            <a:pPr marL="0" indent="0">
              <a:buNone/>
            </a:pPr>
            <a:r>
              <a:rPr lang="en-US" sz="3200" b="1" dirty="0">
                <a:solidFill>
                  <a:srgbClr val="2F3C7E"/>
                </a:solidFill>
                <a:latin typeface="Calibri" pitchFamily="34" charset="0"/>
                <a:ea typeface="Calibri" pitchFamily="34" charset="-122"/>
                <a:cs typeface="Calibri" pitchFamily="34" charset="-120"/>
              </a:rPr>
              <a:t>セッションでログイン状態を管理</a:t>
            </a:r>
            <a:endParaRPr lang="en-US" sz="3200" dirty="0"/>
          </a:p>
        </p:txBody>
      </p:sp>
      <p:sp>
        <p:nvSpPr>
          <p:cNvPr id="14" name="Text 12"/>
          <p:cNvSpPr txBox="1"/>
          <p:nvPr/>
        </p:nvSpPr>
        <p:spPr>
          <a:xfrm>
            <a:off x="1828800" y="3876253"/>
            <a:ext cx="9601200" cy="731520"/>
          </a:xfrm>
          <a:prstGeom prst="rect">
            <a:avLst/>
          </a:prstGeom>
          <a:noFill/>
          <a:ln/>
        </p:spPr>
        <p:txBody>
          <a:bodyPr wrap="square" lIns="0" tIns="0" rIns="0" bIns="0" rtlCol="0" anchor="ctr"/>
          <a:lstStyle/>
          <a:p>
            <a:r>
              <a:rPr lang="en-US" sz="2800" dirty="0" err="1">
                <a:solidFill>
                  <a:srgbClr val="5A5A5A"/>
                </a:solidFill>
                <a:latin typeface="Calibri" pitchFamily="34" charset="0"/>
                <a:ea typeface="Calibri" pitchFamily="34" charset="-122"/>
                <a:cs typeface="Calibri" pitchFamily="34" charset="-120"/>
              </a:rPr>
              <a:t>サ</a:t>
            </a:r>
            <a:r>
              <a:rPr lang="en-US" altLang="ja-JP" sz="2800" dirty="0" err="1">
                <a:solidFill>
                  <a:srgbClr val="5A5A5A"/>
                </a:solidFill>
                <a:latin typeface="Calibri" pitchFamily="34" charset="0"/>
                <a:ea typeface="Calibri" pitchFamily="34" charset="-122"/>
                <a:cs typeface="Calibri" pitchFamily="34" charset="-120"/>
              </a:rPr>
              <a:t>ーバ側</a:t>
            </a:r>
            <a:r>
              <a:rPr lang="ja-JP" altLang="en-US" sz="2800" dirty="0">
                <a:solidFill>
                  <a:srgbClr val="5A5A5A"/>
                </a:solidFill>
                <a:latin typeface="Calibri" pitchFamily="34" charset="0"/>
                <a:ea typeface="Calibri" pitchFamily="34" charset="-122"/>
                <a:cs typeface="Calibri" pitchFamily="34" charset="-120"/>
              </a:rPr>
              <a:t>にログイン情報を保持し、クッキーに保存した</a:t>
            </a:r>
            <a:r>
              <a:rPr lang="en-US" altLang="ja-JP" sz="2800" dirty="0">
                <a:solidFill>
                  <a:srgbClr val="5A5A5A"/>
                </a:solidFill>
                <a:latin typeface="Calibri" pitchFamily="34" charset="0"/>
                <a:ea typeface="Calibri" pitchFamily="34" charset="-122"/>
                <a:cs typeface="Calibri" pitchFamily="34" charset="-120"/>
              </a:rPr>
              <a:t>ID</a:t>
            </a:r>
            <a:r>
              <a:rPr lang="ja-JP" altLang="en-US" sz="2800" dirty="0">
                <a:solidFill>
                  <a:srgbClr val="5A5A5A"/>
                </a:solidFill>
                <a:latin typeface="Calibri" pitchFamily="34" charset="0"/>
                <a:ea typeface="Calibri" pitchFamily="34" charset="-122"/>
                <a:cs typeface="Calibri" pitchFamily="34" charset="-120"/>
              </a:rPr>
              <a:t>と紐づけて状態を維持する仕組み</a:t>
            </a:r>
            <a:endParaRPr lang="en-US" sz="2800" dirty="0"/>
          </a:p>
        </p:txBody>
      </p:sp>
      <p:sp>
        <p:nvSpPr>
          <p:cNvPr id="15" name="Shape 13"/>
          <p:cNvSpPr/>
          <p:nvPr/>
        </p:nvSpPr>
        <p:spPr>
          <a:xfrm>
            <a:off x="457200" y="4987066"/>
            <a:ext cx="11247120" cy="1537086"/>
          </a:xfrm>
          <a:prstGeom prst="roundRect">
            <a:avLst>
              <a:gd name="adj" fmla="val 6452"/>
            </a:avLst>
          </a:prstGeom>
          <a:solidFill>
            <a:srgbClr val="FFFFFF"/>
          </a:solidFill>
          <a:ln w="12700">
            <a:solidFill>
              <a:srgbClr val="EAD9D0"/>
            </a:solidFill>
            <a:prstDash val="solid"/>
          </a:ln>
        </p:spPr>
      </p:sp>
      <p:sp>
        <p:nvSpPr>
          <p:cNvPr id="16" name="Shape 14"/>
          <p:cNvSpPr/>
          <p:nvPr/>
        </p:nvSpPr>
        <p:spPr>
          <a:xfrm>
            <a:off x="685800" y="5326735"/>
            <a:ext cx="868680" cy="868680"/>
          </a:xfrm>
          <a:prstGeom prst="ellipse">
            <a:avLst/>
          </a:prstGeom>
          <a:solidFill>
            <a:srgbClr val="2F3C7E"/>
          </a:solidFill>
          <a:ln/>
        </p:spPr>
      </p:sp>
      <p:sp>
        <p:nvSpPr>
          <p:cNvPr id="17" name="Text 15"/>
          <p:cNvSpPr txBox="1"/>
          <p:nvPr/>
        </p:nvSpPr>
        <p:spPr>
          <a:xfrm>
            <a:off x="685800" y="5320161"/>
            <a:ext cx="868680" cy="868680"/>
          </a:xfrm>
          <a:prstGeom prst="rect">
            <a:avLst/>
          </a:prstGeom>
          <a:noFill/>
          <a:ln/>
        </p:spPr>
        <p:txBody>
          <a:bodyPr wrap="square" lIns="0" tIns="0" rIns="0" bIns="0" rtlCol="0" anchor="ctr"/>
          <a:lstStyle/>
          <a:p>
            <a:pPr marL="0" indent="0" algn="ctr">
              <a:buNone/>
            </a:pPr>
            <a:r>
              <a:rPr lang="en-US" sz="2660" dirty="0">
                <a:solidFill>
                  <a:schemeClr val="bg1"/>
                </a:solidFill>
              </a:rPr>
              <a:t>🛡️</a:t>
            </a:r>
          </a:p>
        </p:txBody>
      </p:sp>
      <p:sp>
        <p:nvSpPr>
          <p:cNvPr id="18" name="Text 16"/>
          <p:cNvSpPr txBox="1"/>
          <p:nvPr/>
        </p:nvSpPr>
        <p:spPr>
          <a:xfrm>
            <a:off x="1828800" y="5124226"/>
            <a:ext cx="9601200" cy="457200"/>
          </a:xfrm>
          <a:prstGeom prst="rect">
            <a:avLst/>
          </a:prstGeom>
          <a:noFill/>
          <a:ln/>
        </p:spPr>
        <p:txBody>
          <a:bodyPr wrap="square" lIns="0" tIns="0" rIns="0" bIns="0" rtlCol="0" anchor="ctr"/>
          <a:lstStyle/>
          <a:p>
            <a:pPr marL="0" indent="0">
              <a:buNone/>
            </a:pPr>
            <a:r>
              <a:rPr lang="en-US" sz="3200" b="1" dirty="0">
                <a:solidFill>
                  <a:srgbClr val="2F3C7E"/>
                </a:solidFill>
                <a:latin typeface="Calibri" pitchFamily="34" charset="0"/>
                <a:ea typeface="Calibri" pitchFamily="34" charset="-122"/>
                <a:cs typeface="Calibri" pitchFamily="34" charset="-120"/>
              </a:rPr>
              <a:t>管理者権限の制御(ミドルウェア)</a:t>
            </a:r>
            <a:endParaRPr lang="en-US" sz="3200" dirty="0"/>
          </a:p>
        </p:txBody>
      </p:sp>
      <p:sp>
        <p:nvSpPr>
          <p:cNvPr id="19" name="Text 17"/>
          <p:cNvSpPr txBox="1"/>
          <p:nvPr/>
        </p:nvSpPr>
        <p:spPr>
          <a:xfrm>
            <a:off x="1828800" y="5687029"/>
            <a:ext cx="9601200" cy="731520"/>
          </a:xfrm>
          <a:prstGeom prst="rect">
            <a:avLst/>
          </a:prstGeom>
          <a:noFill/>
          <a:ln/>
        </p:spPr>
        <p:txBody>
          <a:bodyPr wrap="square" lIns="0" tIns="0" rIns="0" bIns="0" rtlCol="0" anchor="ctr"/>
          <a:lstStyle/>
          <a:p>
            <a:pPr marL="0" indent="0">
              <a:buNone/>
            </a:pPr>
            <a:r>
              <a:rPr lang="en-US" sz="2800" dirty="0">
                <a:solidFill>
                  <a:srgbClr val="5A5A5A"/>
                </a:solidFill>
                <a:latin typeface="Calibri" pitchFamily="34" charset="0"/>
                <a:ea typeface="Calibri" pitchFamily="34" charset="-122"/>
                <a:cs typeface="Calibri" pitchFamily="34" charset="-120"/>
              </a:rPr>
              <a:t>role=adminのユーザーのみ単語管理画面にアクセス可能。EnsureUserIsAdminで制御</a:t>
            </a:r>
            <a:endParaRPr lang="en-US" sz="2800" dirty="0"/>
          </a:p>
        </p:txBody>
      </p:sp>
      <p:grpSp>
        <p:nvGrpSpPr>
          <p:cNvPr id="21" name="グループ化 20">
            <a:extLst>
              <a:ext uri="{FF2B5EF4-FFF2-40B4-BE49-F238E27FC236}">
                <a16:creationId xmlns:a16="http://schemas.microsoft.com/office/drawing/2014/main" id="{FB332354-56A0-4D4E-8FF3-A55F4C86C1E6}"/>
              </a:ext>
            </a:extLst>
          </p:cNvPr>
          <p:cNvGrpSpPr/>
          <p:nvPr/>
        </p:nvGrpSpPr>
        <p:grpSpPr>
          <a:xfrm>
            <a:off x="216061" y="569619"/>
            <a:ext cx="4716684" cy="643842"/>
            <a:chOff x="457200" y="453438"/>
            <a:chExt cx="4716684" cy="643842"/>
          </a:xfrm>
        </p:grpSpPr>
        <p:sp>
          <p:nvSpPr>
            <p:cNvPr id="22" name="Shape 0">
              <a:extLst>
                <a:ext uri="{FF2B5EF4-FFF2-40B4-BE49-F238E27FC236}">
                  <a16:creationId xmlns:a16="http://schemas.microsoft.com/office/drawing/2014/main" id="{06FDD50D-B56B-4669-8955-73A0D2D53469}"/>
                </a:ext>
              </a:extLst>
            </p:cNvPr>
            <p:cNvSpPr/>
            <p:nvPr/>
          </p:nvSpPr>
          <p:spPr>
            <a:xfrm>
              <a:off x="457200" y="457200"/>
              <a:ext cx="4716684" cy="640080"/>
            </a:xfrm>
            <a:prstGeom prst="roundRect">
              <a:avLst>
                <a:gd name="adj" fmla="val 50000"/>
              </a:avLst>
            </a:prstGeom>
            <a:solidFill>
              <a:srgbClr val="F96167"/>
            </a:solidFill>
            <a:ln/>
          </p:spPr>
        </p:sp>
        <p:sp>
          <p:nvSpPr>
            <p:cNvPr id="23" name="Text 2">
              <a:extLst>
                <a:ext uri="{FF2B5EF4-FFF2-40B4-BE49-F238E27FC236}">
                  <a16:creationId xmlns:a16="http://schemas.microsoft.com/office/drawing/2014/main" id="{AA60CBA1-0E7B-46F4-9264-CCA764CF7F18}"/>
                </a:ext>
              </a:extLst>
            </p:cNvPr>
            <p:cNvSpPr txBox="1"/>
            <p:nvPr/>
          </p:nvSpPr>
          <p:spPr>
            <a:xfrm>
              <a:off x="926939" y="453438"/>
              <a:ext cx="3515617" cy="640080"/>
            </a:xfrm>
            <a:prstGeom prst="rect">
              <a:avLst/>
            </a:prstGeom>
            <a:noFill/>
            <a:ln/>
          </p:spPr>
          <p:txBody>
            <a:bodyPr wrap="square" lIns="0" tIns="0" rIns="0" bIns="0" rtlCol="0" anchor="ctr"/>
            <a:lstStyle/>
            <a:p>
              <a:r>
                <a:rPr lang="en-US" altLang="ja-JP" sz="3200" b="1" dirty="0" err="1">
                  <a:solidFill>
                    <a:schemeClr val="bg1"/>
                  </a:solidFill>
                  <a:latin typeface="Calibri" panose="020F0502020204030204" pitchFamily="34" charset="0"/>
                  <a:ea typeface="Calibri" panose="020F0502020204030204" pitchFamily="34" charset="0"/>
                  <a:cs typeface="Calibri" panose="020F0502020204030204" pitchFamily="34" charset="0"/>
                </a:rPr>
                <a:t>サーバ側の仕組み</a:t>
              </a:r>
              <a:endParaRPr lang="en-US" altLang="ja-JP" sz="3200" dirty="0">
                <a:solidFill>
                  <a:schemeClr val="bg1"/>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0">
            <a:extLst>
              <a:ext uri="{FF2B5EF4-FFF2-40B4-BE49-F238E27FC236}">
                <a16:creationId xmlns:a16="http://schemas.microsoft.com/office/drawing/2014/main" id="{0218EC2F-B62F-499A-A883-F2C4E34A05CF}"/>
              </a:ext>
            </a:extLst>
          </p:cNvPr>
          <p:cNvSpPr/>
          <p:nvPr/>
        </p:nvSpPr>
        <p:spPr>
          <a:xfrm>
            <a:off x="315249" y="411480"/>
            <a:ext cx="2651760" cy="640080"/>
          </a:xfrm>
          <a:prstGeom prst="roundRect">
            <a:avLst>
              <a:gd name="adj" fmla="val 50000"/>
            </a:avLst>
          </a:prstGeom>
          <a:solidFill>
            <a:srgbClr val="F96167"/>
          </a:solidFill>
          <a:ln/>
        </p:spPr>
      </p:sp>
      <p:sp>
        <p:nvSpPr>
          <p:cNvPr id="4" name="Text 2"/>
          <p:cNvSpPr txBox="1"/>
          <p:nvPr/>
        </p:nvSpPr>
        <p:spPr>
          <a:xfrm>
            <a:off x="611561" y="411480"/>
            <a:ext cx="2355448" cy="640080"/>
          </a:xfrm>
          <a:prstGeom prst="rect">
            <a:avLst/>
          </a:prstGeom>
          <a:noFill/>
          <a:ln/>
        </p:spPr>
        <p:txBody>
          <a:bodyPr wrap="square" lIns="0" tIns="0" rIns="0" bIns="0" rtlCol="0" anchor="ctr"/>
          <a:lstStyle/>
          <a:p>
            <a:pPr marL="0" indent="0">
              <a:buNone/>
            </a:pPr>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rPr>
              <a:t>主な機能</a:t>
            </a:r>
            <a:endParaRPr lang="en-US" sz="3200" dirty="0">
              <a:solidFill>
                <a:schemeClr val="bg1"/>
              </a:solidFill>
            </a:endParaRPr>
          </a:p>
        </p:txBody>
      </p:sp>
      <p:sp>
        <p:nvSpPr>
          <p:cNvPr id="5" name="Shape 3"/>
          <p:cNvSpPr/>
          <p:nvPr/>
        </p:nvSpPr>
        <p:spPr>
          <a:xfrm>
            <a:off x="457200" y="1732952"/>
            <a:ext cx="2651760" cy="4415118"/>
          </a:xfrm>
          <a:prstGeom prst="roundRect">
            <a:avLst>
              <a:gd name="adj" fmla="val 4138"/>
            </a:avLst>
          </a:prstGeom>
          <a:solidFill>
            <a:srgbClr val="FFFFFF"/>
          </a:solidFill>
          <a:ln w="12700">
            <a:solidFill>
              <a:srgbClr val="EAD9D0"/>
            </a:solidFill>
            <a:prstDash val="solid"/>
          </a:ln>
          <a:effectLst>
            <a:outerShdw blurRad="76200" dist="25400" dir="5400000" algn="bl" rotWithShape="0">
              <a:srgbClr val="000000">
                <a:alpha val="12000"/>
              </a:srgbClr>
            </a:outerShdw>
          </a:effectLst>
        </p:spPr>
      </p:sp>
      <p:sp>
        <p:nvSpPr>
          <p:cNvPr id="6" name="Shape 4"/>
          <p:cNvSpPr/>
          <p:nvPr/>
        </p:nvSpPr>
        <p:spPr>
          <a:xfrm>
            <a:off x="1325880" y="2052991"/>
            <a:ext cx="914400" cy="936921"/>
          </a:xfrm>
          <a:prstGeom prst="ellipse">
            <a:avLst/>
          </a:prstGeom>
          <a:solidFill>
            <a:srgbClr val="F96167"/>
          </a:solidFill>
          <a:ln/>
        </p:spPr>
      </p:sp>
      <p:sp>
        <p:nvSpPr>
          <p:cNvPr id="7" name="Text 5"/>
          <p:cNvSpPr txBox="1"/>
          <p:nvPr/>
        </p:nvSpPr>
        <p:spPr>
          <a:xfrm>
            <a:off x="1325880" y="2052991"/>
            <a:ext cx="914400" cy="936921"/>
          </a:xfrm>
          <a:prstGeom prst="rect">
            <a:avLst/>
          </a:prstGeom>
          <a:noFill/>
          <a:ln/>
        </p:spPr>
        <p:txBody>
          <a:bodyPr wrap="square" lIns="0" tIns="0" rIns="0" bIns="0" rtlCol="0" anchor="ctr"/>
          <a:lstStyle/>
          <a:p>
            <a:pPr marL="0" indent="0" algn="ctr">
              <a:buNone/>
            </a:pPr>
            <a:r>
              <a:rPr lang="en-US" sz="3200" dirty="0">
                <a:solidFill>
                  <a:schemeClr val="bg1"/>
                </a:solidFill>
              </a:rPr>
              <a:t>📝</a:t>
            </a:r>
          </a:p>
        </p:txBody>
      </p:sp>
      <p:sp>
        <p:nvSpPr>
          <p:cNvPr id="8" name="Text 6"/>
          <p:cNvSpPr txBox="1"/>
          <p:nvPr/>
        </p:nvSpPr>
        <p:spPr>
          <a:xfrm>
            <a:off x="594360" y="3150272"/>
            <a:ext cx="2377440" cy="468460"/>
          </a:xfrm>
          <a:prstGeom prst="rect">
            <a:avLst/>
          </a:prstGeom>
          <a:noFill/>
          <a:ln/>
        </p:spPr>
        <p:txBody>
          <a:bodyPr wrap="square" lIns="0" tIns="0" rIns="0" bIns="0" rtlCol="0" anchor="ctr"/>
          <a:lstStyle/>
          <a:p>
            <a:pPr marL="0" indent="0" algn="ctr">
              <a:buNone/>
            </a:pPr>
            <a:r>
              <a:rPr lang="en-US" sz="3200" b="1" dirty="0">
                <a:solidFill>
                  <a:srgbClr val="2F3C7E"/>
                </a:solidFill>
                <a:latin typeface="Calibri" pitchFamily="34" charset="0"/>
                <a:ea typeface="Calibri" pitchFamily="34" charset="-122"/>
                <a:cs typeface="Calibri" pitchFamily="34" charset="-120"/>
              </a:rPr>
              <a:t>クイズ機能</a:t>
            </a:r>
            <a:endParaRPr lang="en-US" sz="3200" dirty="0"/>
          </a:p>
        </p:txBody>
      </p:sp>
      <p:sp>
        <p:nvSpPr>
          <p:cNvPr id="9" name="Text 7"/>
          <p:cNvSpPr txBox="1"/>
          <p:nvPr/>
        </p:nvSpPr>
        <p:spPr>
          <a:xfrm>
            <a:off x="640080" y="4012100"/>
            <a:ext cx="2286000" cy="2333513"/>
          </a:xfrm>
          <a:prstGeom prst="rect">
            <a:avLst/>
          </a:prstGeom>
          <a:noFill/>
          <a:ln/>
        </p:spPr>
        <p:txBody>
          <a:bodyPr wrap="square" lIns="0" tIns="0" rIns="0" bIns="0" rtlCol="0" anchor="t"/>
          <a:lstStyle/>
          <a:p>
            <a:pPr marL="0" indent="0" algn="ctr">
              <a:buNone/>
            </a:pPr>
            <a:r>
              <a:rPr lang="en-US" sz="3200" dirty="0">
                <a:solidFill>
                  <a:srgbClr val="5A5A5A"/>
                </a:solidFill>
                <a:latin typeface="Calibri" pitchFamily="34" charset="0"/>
                <a:ea typeface="Calibri" pitchFamily="34" charset="-122"/>
                <a:cs typeface="Calibri" pitchFamily="34" charset="-120"/>
              </a:rPr>
              <a:t>4択・10問</a:t>
            </a:r>
            <a:br>
              <a:rPr lang="en-US" sz="3200" dirty="0">
                <a:solidFill>
                  <a:srgbClr val="5A5A5A"/>
                </a:solidFill>
                <a:latin typeface="Calibri" pitchFamily="34" charset="0"/>
                <a:ea typeface="Calibri" pitchFamily="34" charset="-122"/>
                <a:cs typeface="Calibri" pitchFamily="34" charset="-120"/>
              </a:rPr>
            </a:br>
            <a:r>
              <a:rPr lang="en-US" sz="3200" dirty="0" err="1">
                <a:solidFill>
                  <a:srgbClr val="5A5A5A"/>
                </a:solidFill>
                <a:latin typeface="Calibri" pitchFamily="34" charset="0"/>
                <a:ea typeface="Calibri" pitchFamily="34" charset="-122"/>
                <a:cs typeface="Calibri" pitchFamily="34" charset="-120"/>
              </a:rPr>
              <a:t>ランダム</a:t>
            </a:r>
            <a:br>
              <a:rPr lang="en-US" sz="3200" dirty="0">
                <a:solidFill>
                  <a:srgbClr val="5A5A5A"/>
                </a:solidFill>
                <a:latin typeface="Calibri" pitchFamily="34" charset="0"/>
                <a:ea typeface="Calibri" pitchFamily="34" charset="-122"/>
                <a:cs typeface="Calibri" pitchFamily="34" charset="-120"/>
              </a:rPr>
            </a:br>
            <a:r>
              <a:rPr lang="en-US" sz="3200" dirty="0" err="1">
                <a:solidFill>
                  <a:srgbClr val="5A5A5A"/>
                </a:solidFill>
                <a:latin typeface="Calibri" pitchFamily="34" charset="0"/>
                <a:ea typeface="Calibri" pitchFamily="34" charset="-122"/>
                <a:cs typeface="Calibri" pitchFamily="34" charset="-120"/>
              </a:rPr>
              <a:t>出題</a:t>
            </a:r>
            <a:endParaRPr lang="en-US" sz="3200" dirty="0"/>
          </a:p>
        </p:txBody>
      </p:sp>
      <p:sp>
        <p:nvSpPr>
          <p:cNvPr id="10" name="Shape 8"/>
          <p:cNvSpPr/>
          <p:nvPr/>
        </p:nvSpPr>
        <p:spPr>
          <a:xfrm>
            <a:off x="3337560" y="1732951"/>
            <a:ext cx="2651760" cy="4415117"/>
          </a:xfrm>
          <a:prstGeom prst="roundRect">
            <a:avLst>
              <a:gd name="adj" fmla="val 4138"/>
            </a:avLst>
          </a:prstGeom>
          <a:solidFill>
            <a:srgbClr val="FFFFFF"/>
          </a:solidFill>
          <a:ln w="12700">
            <a:solidFill>
              <a:srgbClr val="EAD9D0"/>
            </a:solidFill>
            <a:prstDash val="solid"/>
          </a:ln>
          <a:effectLst>
            <a:outerShdw blurRad="76200" dist="25400" dir="5400000" algn="bl" rotWithShape="0">
              <a:srgbClr val="000000">
                <a:alpha val="12000"/>
              </a:srgbClr>
            </a:outerShdw>
          </a:effectLst>
        </p:spPr>
      </p:sp>
      <p:sp>
        <p:nvSpPr>
          <p:cNvPr id="11" name="Shape 9"/>
          <p:cNvSpPr/>
          <p:nvPr/>
        </p:nvSpPr>
        <p:spPr>
          <a:xfrm>
            <a:off x="4206240" y="2052991"/>
            <a:ext cx="914400" cy="936921"/>
          </a:xfrm>
          <a:prstGeom prst="ellipse">
            <a:avLst/>
          </a:prstGeom>
          <a:solidFill>
            <a:srgbClr val="2F3C7E"/>
          </a:solidFill>
          <a:ln/>
        </p:spPr>
      </p:sp>
      <p:sp>
        <p:nvSpPr>
          <p:cNvPr id="12" name="Text 10"/>
          <p:cNvSpPr txBox="1"/>
          <p:nvPr/>
        </p:nvSpPr>
        <p:spPr>
          <a:xfrm>
            <a:off x="4206240" y="2052991"/>
            <a:ext cx="914400" cy="936921"/>
          </a:xfrm>
          <a:prstGeom prst="rect">
            <a:avLst/>
          </a:prstGeom>
          <a:noFill/>
          <a:ln/>
        </p:spPr>
        <p:txBody>
          <a:bodyPr wrap="square" lIns="0" tIns="0" rIns="0" bIns="0" rtlCol="0" anchor="ctr"/>
          <a:lstStyle/>
          <a:p>
            <a:pPr marL="0" indent="0" algn="ctr">
              <a:buNone/>
            </a:pPr>
            <a:r>
              <a:rPr lang="en-US" sz="3200" dirty="0">
                <a:solidFill>
                  <a:schemeClr val="bg1"/>
                </a:solidFill>
              </a:rPr>
              <a:t>⏸️</a:t>
            </a:r>
          </a:p>
        </p:txBody>
      </p:sp>
      <p:sp>
        <p:nvSpPr>
          <p:cNvPr id="13" name="Text 11"/>
          <p:cNvSpPr txBox="1"/>
          <p:nvPr/>
        </p:nvSpPr>
        <p:spPr>
          <a:xfrm>
            <a:off x="3474720" y="3150272"/>
            <a:ext cx="2377440" cy="468460"/>
          </a:xfrm>
          <a:prstGeom prst="rect">
            <a:avLst/>
          </a:prstGeom>
          <a:noFill/>
          <a:ln/>
        </p:spPr>
        <p:txBody>
          <a:bodyPr wrap="square" lIns="0" tIns="0" rIns="0" bIns="0" rtlCol="0" anchor="ctr"/>
          <a:lstStyle/>
          <a:p>
            <a:pPr marL="0" indent="0" algn="ctr">
              <a:buNone/>
            </a:pPr>
            <a:r>
              <a:rPr lang="en-US" sz="3200" b="1" dirty="0">
                <a:solidFill>
                  <a:srgbClr val="2F3C7E"/>
                </a:solidFill>
                <a:latin typeface="Calibri" pitchFamily="34" charset="0"/>
                <a:ea typeface="Calibri" pitchFamily="34" charset="-122"/>
                <a:cs typeface="Calibri" pitchFamily="34" charset="-120"/>
              </a:rPr>
              <a:t>中断・再開</a:t>
            </a:r>
            <a:endParaRPr lang="en-US" sz="3200" dirty="0"/>
          </a:p>
        </p:txBody>
      </p:sp>
      <p:sp>
        <p:nvSpPr>
          <p:cNvPr id="14" name="Text 12"/>
          <p:cNvSpPr txBox="1"/>
          <p:nvPr/>
        </p:nvSpPr>
        <p:spPr>
          <a:xfrm>
            <a:off x="3595744" y="4012100"/>
            <a:ext cx="2286000" cy="2333513"/>
          </a:xfrm>
          <a:prstGeom prst="rect">
            <a:avLst/>
          </a:prstGeom>
          <a:noFill/>
          <a:ln/>
        </p:spPr>
        <p:txBody>
          <a:bodyPr wrap="square" lIns="0" tIns="0" rIns="0" bIns="0" rtlCol="0" anchor="t"/>
          <a:lstStyle/>
          <a:p>
            <a:pPr marL="0" indent="0" algn="ctr">
              <a:buNone/>
            </a:pPr>
            <a:r>
              <a:rPr lang="ja-JP" altLang="en-US" sz="3200" dirty="0">
                <a:solidFill>
                  <a:srgbClr val="5A5A5A"/>
                </a:solidFill>
                <a:latin typeface="Calibri" pitchFamily="34" charset="0"/>
                <a:ea typeface="Calibri" pitchFamily="34" charset="-122"/>
                <a:cs typeface="Calibri" pitchFamily="34" charset="-120"/>
              </a:rPr>
              <a:t>中断しても</a:t>
            </a:r>
            <a:r>
              <a:rPr lang="en-US" sz="3200" dirty="0" err="1">
                <a:solidFill>
                  <a:srgbClr val="5A5A5A"/>
                </a:solidFill>
                <a:latin typeface="Calibri" pitchFamily="34" charset="0"/>
                <a:ea typeface="Calibri" pitchFamily="34" charset="-122"/>
                <a:cs typeface="Calibri" pitchFamily="34" charset="-120"/>
              </a:rPr>
              <a:t>続きから</a:t>
            </a:r>
            <a:br>
              <a:rPr lang="en-US" sz="3200" dirty="0">
                <a:solidFill>
                  <a:srgbClr val="5A5A5A"/>
                </a:solidFill>
                <a:latin typeface="Calibri" pitchFamily="34" charset="0"/>
                <a:ea typeface="Calibri" pitchFamily="34" charset="-122"/>
                <a:cs typeface="Calibri" pitchFamily="34" charset="-120"/>
              </a:rPr>
            </a:br>
            <a:r>
              <a:rPr lang="en-US" sz="3200" dirty="0" err="1">
                <a:solidFill>
                  <a:srgbClr val="5A5A5A"/>
                </a:solidFill>
                <a:latin typeface="Calibri" pitchFamily="34" charset="0"/>
                <a:ea typeface="Calibri" pitchFamily="34" charset="-122"/>
                <a:cs typeface="Calibri" pitchFamily="34" charset="-120"/>
              </a:rPr>
              <a:t>再開できる</a:t>
            </a:r>
            <a:endParaRPr lang="en-US" sz="3200" dirty="0"/>
          </a:p>
        </p:txBody>
      </p:sp>
      <p:sp>
        <p:nvSpPr>
          <p:cNvPr id="15" name="Shape 13"/>
          <p:cNvSpPr/>
          <p:nvPr/>
        </p:nvSpPr>
        <p:spPr>
          <a:xfrm>
            <a:off x="6217920" y="1732952"/>
            <a:ext cx="2651760" cy="4415118"/>
          </a:xfrm>
          <a:prstGeom prst="roundRect">
            <a:avLst>
              <a:gd name="adj" fmla="val 4138"/>
            </a:avLst>
          </a:prstGeom>
          <a:solidFill>
            <a:srgbClr val="FFFFFF"/>
          </a:solidFill>
          <a:ln w="12700">
            <a:solidFill>
              <a:srgbClr val="EAD9D0"/>
            </a:solidFill>
            <a:prstDash val="solid"/>
          </a:ln>
          <a:effectLst>
            <a:outerShdw blurRad="76200" dist="25400" dir="5400000" algn="bl" rotWithShape="0">
              <a:srgbClr val="000000">
                <a:alpha val="12000"/>
              </a:srgbClr>
            </a:outerShdw>
          </a:effectLst>
        </p:spPr>
      </p:sp>
      <p:sp>
        <p:nvSpPr>
          <p:cNvPr id="16" name="Shape 14"/>
          <p:cNvSpPr/>
          <p:nvPr/>
        </p:nvSpPr>
        <p:spPr>
          <a:xfrm>
            <a:off x="7086600" y="2052991"/>
            <a:ext cx="914400" cy="936921"/>
          </a:xfrm>
          <a:prstGeom prst="ellipse">
            <a:avLst/>
          </a:prstGeom>
          <a:solidFill>
            <a:srgbClr val="F96167"/>
          </a:solidFill>
          <a:ln/>
        </p:spPr>
      </p:sp>
      <p:sp>
        <p:nvSpPr>
          <p:cNvPr id="17" name="Text 15"/>
          <p:cNvSpPr txBox="1"/>
          <p:nvPr/>
        </p:nvSpPr>
        <p:spPr>
          <a:xfrm>
            <a:off x="7086600" y="2052991"/>
            <a:ext cx="914400" cy="936921"/>
          </a:xfrm>
          <a:prstGeom prst="rect">
            <a:avLst/>
          </a:prstGeom>
          <a:noFill/>
          <a:ln/>
        </p:spPr>
        <p:txBody>
          <a:bodyPr wrap="square" lIns="0" tIns="0" rIns="0" bIns="0" rtlCol="0" anchor="ctr"/>
          <a:lstStyle/>
          <a:p>
            <a:pPr marL="0" indent="0" algn="ctr">
              <a:buNone/>
            </a:pPr>
            <a:r>
              <a:rPr lang="en-US" sz="3200" dirty="0">
                <a:solidFill>
                  <a:schemeClr val="bg1"/>
                </a:solidFill>
              </a:rPr>
              <a:t>📊</a:t>
            </a:r>
          </a:p>
        </p:txBody>
      </p:sp>
      <p:sp>
        <p:nvSpPr>
          <p:cNvPr id="18" name="Text 16"/>
          <p:cNvSpPr txBox="1"/>
          <p:nvPr/>
        </p:nvSpPr>
        <p:spPr>
          <a:xfrm>
            <a:off x="6355080" y="3150272"/>
            <a:ext cx="2377440" cy="468460"/>
          </a:xfrm>
          <a:prstGeom prst="rect">
            <a:avLst/>
          </a:prstGeom>
          <a:noFill/>
          <a:ln/>
        </p:spPr>
        <p:txBody>
          <a:bodyPr wrap="square" lIns="0" tIns="0" rIns="0" bIns="0" rtlCol="0" anchor="ctr"/>
          <a:lstStyle/>
          <a:p>
            <a:pPr marL="0" indent="0" algn="ctr">
              <a:buNone/>
            </a:pPr>
            <a:r>
              <a:rPr lang="en-US" sz="3200" b="1" dirty="0">
                <a:solidFill>
                  <a:srgbClr val="2F3C7E"/>
                </a:solidFill>
                <a:latin typeface="Calibri" pitchFamily="34" charset="0"/>
                <a:ea typeface="Calibri" pitchFamily="34" charset="-122"/>
                <a:cs typeface="Calibri" pitchFamily="34" charset="-120"/>
              </a:rPr>
              <a:t>学習進捗</a:t>
            </a:r>
            <a:endParaRPr lang="en-US" sz="3200" dirty="0"/>
          </a:p>
        </p:txBody>
      </p:sp>
      <p:sp>
        <p:nvSpPr>
          <p:cNvPr id="19" name="Text 17"/>
          <p:cNvSpPr txBox="1"/>
          <p:nvPr/>
        </p:nvSpPr>
        <p:spPr>
          <a:xfrm>
            <a:off x="6446520" y="4012100"/>
            <a:ext cx="2286000" cy="2333513"/>
          </a:xfrm>
          <a:prstGeom prst="rect">
            <a:avLst/>
          </a:prstGeom>
          <a:noFill/>
          <a:ln/>
        </p:spPr>
        <p:txBody>
          <a:bodyPr wrap="square" lIns="0" tIns="0" rIns="0" bIns="0" rtlCol="0" anchor="t"/>
          <a:lstStyle/>
          <a:p>
            <a:pPr marL="0" indent="0" algn="ctr">
              <a:buNone/>
            </a:pPr>
            <a:r>
              <a:rPr lang="en-US" sz="3200" dirty="0" err="1">
                <a:solidFill>
                  <a:srgbClr val="5A5A5A"/>
                </a:solidFill>
                <a:latin typeface="Calibri" pitchFamily="34" charset="0"/>
                <a:ea typeface="Calibri" pitchFamily="34" charset="-122"/>
                <a:cs typeface="Calibri" pitchFamily="34" charset="-120"/>
              </a:rPr>
              <a:t>正答率など学習状況を確認</a:t>
            </a:r>
            <a:endParaRPr lang="en-US" sz="3200" dirty="0"/>
          </a:p>
        </p:txBody>
      </p:sp>
      <p:sp>
        <p:nvSpPr>
          <p:cNvPr id="20" name="Shape 18"/>
          <p:cNvSpPr/>
          <p:nvPr/>
        </p:nvSpPr>
        <p:spPr>
          <a:xfrm>
            <a:off x="9098280" y="1732952"/>
            <a:ext cx="2651760" cy="4415116"/>
          </a:xfrm>
          <a:prstGeom prst="roundRect">
            <a:avLst>
              <a:gd name="adj" fmla="val 4138"/>
            </a:avLst>
          </a:prstGeom>
          <a:solidFill>
            <a:srgbClr val="FFFFFF"/>
          </a:solidFill>
          <a:ln w="12700">
            <a:solidFill>
              <a:srgbClr val="EAD9D0"/>
            </a:solidFill>
            <a:prstDash val="solid"/>
          </a:ln>
          <a:effectLst>
            <a:outerShdw blurRad="76200" dist="25400" dir="5400000" algn="bl" rotWithShape="0">
              <a:srgbClr val="000000">
                <a:alpha val="12000"/>
              </a:srgbClr>
            </a:outerShdw>
          </a:effectLst>
        </p:spPr>
      </p:sp>
      <p:sp>
        <p:nvSpPr>
          <p:cNvPr id="21" name="Shape 19"/>
          <p:cNvSpPr/>
          <p:nvPr/>
        </p:nvSpPr>
        <p:spPr>
          <a:xfrm>
            <a:off x="9966960" y="2052991"/>
            <a:ext cx="914400" cy="936921"/>
          </a:xfrm>
          <a:prstGeom prst="ellipse">
            <a:avLst/>
          </a:prstGeom>
          <a:solidFill>
            <a:srgbClr val="2F3C7E"/>
          </a:solidFill>
          <a:ln/>
        </p:spPr>
      </p:sp>
      <p:sp>
        <p:nvSpPr>
          <p:cNvPr id="22" name="Text 20"/>
          <p:cNvSpPr txBox="1"/>
          <p:nvPr/>
        </p:nvSpPr>
        <p:spPr>
          <a:xfrm>
            <a:off x="9966960" y="2052991"/>
            <a:ext cx="914400" cy="936921"/>
          </a:xfrm>
          <a:prstGeom prst="rect">
            <a:avLst/>
          </a:prstGeom>
          <a:noFill/>
          <a:ln/>
        </p:spPr>
        <p:txBody>
          <a:bodyPr wrap="square" lIns="0" tIns="0" rIns="0" bIns="0" rtlCol="0" anchor="ctr"/>
          <a:lstStyle/>
          <a:p>
            <a:pPr marL="0" indent="0" algn="ctr">
              <a:buNone/>
            </a:pPr>
            <a:r>
              <a:rPr lang="en-US" sz="3200" dirty="0">
                <a:solidFill>
                  <a:schemeClr val="bg1"/>
                </a:solidFill>
              </a:rPr>
              <a:t>🔖</a:t>
            </a:r>
          </a:p>
        </p:txBody>
      </p:sp>
      <p:sp>
        <p:nvSpPr>
          <p:cNvPr id="23" name="Text 21"/>
          <p:cNvSpPr txBox="1"/>
          <p:nvPr/>
        </p:nvSpPr>
        <p:spPr>
          <a:xfrm>
            <a:off x="9098280" y="3150272"/>
            <a:ext cx="2651760" cy="468460"/>
          </a:xfrm>
          <a:prstGeom prst="rect">
            <a:avLst/>
          </a:prstGeom>
          <a:noFill/>
          <a:ln/>
        </p:spPr>
        <p:txBody>
          <a:bodyPr wrap="square" lIns="0" tIns="0" rIns="0" bIns="0" rtlCol="0" anchor="ctr"/>
          <a:lstStyle/>
          <a:p>
            <a:pPr marL="0" indent="0" algn="ctr">
              <a:buNone/>
            </a:pPr>
            <a:r>
              <a:rPr lang="en-US" sz="3200" b="1" dirty="0">
                <a:solidFill>
                  <a:srgbClr val="2F3C7E"/>
                </a:solidFill>
                <a:latin typeface="Calibri" pitchFamily="34" charset="0"/>
                <a:ea typeface="Calibri" pitchFamily="34" charset="-122"/>
                <a:cs typeface="Calibri" pitchFamily="34" charset="-120"/>
              </a:rPr>
              <a:t>苦手単語一覧</a:t>
            </a:r>
            <a:endParaRPr lang="en-US" sz="3200" dirty="0"/>
          </a:p>
        </p:txBody>
      </p:sp>
      <p:sp>
        <p:nvSpPr>
          <p:cNvPr id="24" name="Text 22"/>
          <p:cNvSpPr txBox="1"/>
          <p:nvPr/>
        </p:nvSpPr>
        <p:spPr>
          <a:xfrm>
            <a:off x="9141311" y="4012100"/>
            <a:ext cx="2651760" cy="2262128"/>
          </a:xfrm>
          <a:prstGeom prst="rect">
            <a:avLst/>
          </a:prstGeom>
          <a:noFill/>
          <a:ln/>
        </p:spPr>
        <p:txBody>
          <a:bodyPr wrap="square" lIns="0" tIns="0" rIns="0" bIns="0" rtlCol="0" anchor="t"/>
          <a:lstStyle/>
          <a:p>
            <a:pPr marL="0" indent="0" algn="ctr">
              <a:buNone/>
            </a:pPr>
            <a:r>
              <a:rPr lang="en-US" sz="3200" dirty="0" err="1">
                <a:solidFill>
                  <a:srgbClr val="5A5A5A"/>
                </a:solidFill>
                <a:latin typeface="Calibri" pitchFamily="34" charset="0"/>
                <a:ea typeface="Calibri" pitchFamily="34" charset="-122"/>
                <a:cs typeface="Calibri" pitchFamily="34" charset="-120"/>
              </a:rPr>
              <a:t>間違えた</a:t>
            </a:r>
            <a:endParaRPr lang="en-US" sz="3200" dirty="0">
              <a:solidFill>
                <a:srgbClr val="5A5A5A"/>
              </a:solidFill>
              <a:latin typeface="Calibri" pitchFamily="34" charset="0"/>
              <a:ea typeface="Calibri" pitchFamily="34" charset="-122"/>
              <a:cs typeface="Calibri" pitchFamily="34" charset="-120"/>
            </a:endParaRPr>
          </a:p>
          <a:p>
            <a:pPr marL="0" indent="0" algn="ctr">
              <a:buNone/>
            </a:pPr>
            <a:r>
              <a:rPr lang="en-US" sz="3200" dirty="0" err="1">
                <a:solidFill>
                  <a:srgbClr val="5A5A5A"/>
                </a:solidFill>
                <a:latin typeface="Calibri" pitchFamily="34" charset="0"/>
                <a:ea typeface="Calibri" pitchFamily="34" charset="-122"/>
                <a:cs typeface="Calibri" pitchFamily="34" charset="-120"/>
              </a:rPr>
              <a:t>単語だけを</a:t>
            </a:r>
            <a:endParaRPr lang="en-US" sz="3200" dirty="0">
              <a:solidFill>
                <a:srgbClr val="5A5A5A"/>
              </a:solidFill>
              <a:latin typeface="Calibri" pitchFamily="34" charset="0"/>
              <a:ea typeface="Calibri" pitchFamily="34" charset="-122"/>
              <a:cs typeface="Calibri" pitchFamily="34" charset="-120"/>
            </a:endParaRPr>
          </a:p>
          <a:p>
            <a:pPr marL="0" indent="0" algn="ctr">
              <a:buNone/>
            </a:pPr>
            <a:r>
              <a:rPr lang="en-US" sz="3200" dirty="0" err="1">
                <a:solidFill>
                  <a:srgbClr val="5A5A5A"/>
                </a:solidFill>
                <a:latin typeface="Calibri" pitchFamily="34" charset="0"/>
                <a:ea typeface="Calibri" pitchFamily="34" charset="-122"/>
                <a:cs typeface="Calibri" pitchFamily="34" charset="-120"/>
              </a:rPr>
              <a:t>まとめて復習</a:t>
            </a:r>
            <a:endParaRPr lang="en-US" sz="3200" dirty="0"/>
          </a:p>
        </p:txBody>
      </p:sp>
    </p:spTree>
    <p:extLst>
      <p:ext uri="{BB962C8B-B14F-4D97-AF65-F5344CB8AC3E}">
        <p14:creationId xmlns:p14="http://schemas.microsoft.com/office/powerpoint/2010/main" val="1371043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7" name="Shape 0">
            <a:extLst>
              <a:ext uri="{FF2B5EF4-FFF2-40B4-BE49-F238E27FC236}">
                <a16:creationId xmlns:a16="http://schemas.microsoft.com/office/drawing/2014/main" id="{0218EC2F-B62F-499A-A883-F2C4E34A05CF}"/>
              </a:ext>
            </a:extLst>
          </p:cNvPr>
          <p:cNvSpPr/>
          <p:nvPr/>
        </p:nvSpPr>
        <p:spPr>
          <a:xfrm>
            <a:off x="315249" y="411480"/>
            <a:ext cx="2651760" cy="640080"/>
          </a:xfrm>
          <a:prstGeom prst="roundRect">
            <a:avLst>
              <a:gd name="adj" fmla="val 50000"/>
            </a:avLst>
          </a:prstGeom>
          <a:solidFill>
            <a:srgbClr val="F96167"/>
          </a:solidFill>
          <a:ln/>
        </p:spPr>
      </p:sp>
      <p:sp>
        <p:nvSpPr>
          <p:cNvPr id="4" name="Text 2"/>
          <p:cNvSpPr txBox="1"/>
          <p:nvPr/>
        </p:nvSpPr>
        <p:spPr>
          <a:xfrm>
            <a:off x="611561" y="411480"/>
            <a:ext cx="2355448" cy="640080"/>
          </a:xfrm>
          <a:prstGeom prst="rect">
            <a:avLst/>
          </a:prstGeom>
          <a:noFill/>
          <a:ln/>
        </p:spPr>
        <p:txBody>
          <a:bodyPr wrap="square" lIns="0" tIns="0" rIns="0" bIns="0" rtlCol="0" anchor="ctr"/>
          <a:lstStyle/>
          <a:p>
            <a:pPr marL="0" indent="0">
              <a:buNone/>
            </a:pPr>
            <a:r>
              <a:rPr lang="ja-JP" altLang="en-US" sz="3200" b="1" dirty="0">
                <a:solidFill>
                  <a:schemeClr val="bg1"/>
                </a:solidFill>
                <a:latin typeface="Calibri" panose="020F0502020204030204" pitchFamily="34" charset="0"/>
                <a:cs typeface="Calibri" panose="020F0502020204030204" pitchFamily="34" charset="0"/>
              </a:rPr>
              <a:t>画面の流れ</a:t>
            </a:r>
            <a:endParaRPr lang="en-US" sz="3200" dirty="0">
              <a:solidFill>
                <a:schemeClr val="bg1"/>
              </a:solidFill>
            </a:endParaRPr>
          </a:p>
        </p:txBody>
      </p:sp>
      <p:pic>
        <p:nvPicPr>
          <p:cNvPr id="26" name="図 25">
            <a:extLst>
              <a:ext uri="{FF2B5EF4-FFF2-40B4-BE49-F238E27FC236}">
                <a16:creationId xmlns:a16="http://schemas.microsoft.com/office/drawing/2014/main" id="{A1DCEC18-6514-43F0-A81C-08EC4364440E}"/>
              </a:ext>
            </a:extLst>
          </p:cNvPr>
          <p:cNvPicPr>
            <a:picLocks noChangeAspect="1"/>
          </p:cNvPicPr>
          <p:nvPr/>
        </p:nvPicPr>
        <p:blipFill>
          <a:blip r:embed="rId3"/>
          <a:stretch>
            <a:fillRect/>
          </a:stretch>
        </p:blipFill>
        <p:spPr>
          <a:xfrm>
            <a:off x="1700108" y="1344482"/>
            <a:ext cx="2446232" cy="2677309"/>
          </a:xfrm>
          <a:prstGeom prst="rect">
            <a:avLst/>
          </a:prstGeom>
        </p:spPr>
      </p:pic>
      <p:pic>
        <p:nvPicPr>
          <p:cNvPr id="28" name="図 27">
            <a:extLst>
              <a:ext uri="{FF2B5EF4-FFF2-40B4-BE49-F238E27FC236}">
                <a16:creationId xmlns:a16="http://schemas.microsoft.com/office/drawing/2014/main" id="{46BBB376-A76E-4F4F-BA4E-CDDAE6EECC8A}"/>
              </a:ext>
            </a:extLst>
          </p:cNvPr>
          <p:cNvPicPr>
            <a:picLocks noChangeAspect="1"/>
          </p:cNvPicPr>
          <p:nvPr/>
        </p:nvPicPr>
        <p:blipFill>
          <a:blip r:embed="rId4"/>
          <a:stretch>
            <a:fillRect/>
          </a:stretch>
        </p:blipFill>
        <p:spPr>
          <a:xfrm>
            <a:off x="9252078" y="1327297"/>
            <a:ext cx="2438611" cy="2659307"/>
          </a:xfrm>
          <a:prstGeom prst="rect">
            <a:avLst/>
          </a:prstGeom>
        </p:spPr>
      </p:pic>
      <p:pic>
        <p:nvPicPr>
          <p:cNvPr id="29" name="図 28">
            <a:extLst>
              <a:ext uri="{FF2B5EF4-FFF2-40B4-BE49-F238E27FC236}">
                <a16:creationId xmlns:a16="http://schemas.microsoft.com/office/drawing/2014/main" id="{74C951D5-9CB2-4445-AAFD-72F9F33DE4DB}"/>
              </a:ext>
            </a:extLst>
          </p:cNvPr>
          <p:cNvPicPr>
            <a:picLocks noChangeAspect="1"/>
          </p:cNvPicPr>
          <p:nvPr/>
        </p:nvPicPr>
        <p:blipFill>
          <a:blip r:embed="rId5"/>
          <a:stretch>
            <a:fillRect/>
          </a:stretch>
        </p:blipFill>
        <p:spPr>
          <a:xfrm>
            <a:off x="5338764" y="1344482"/>
            <a:ext cx="2720890" cy="2642123"/>
          </a:xfrm>
          <a:prstGeom prst="rect">
            <a:avLst/>
          </a:prstGeom>
        </p:spPr>
      </p:pic>
      <p:sp>
        <p:nvSpPr>
          <p:cNvPr id="35" name="四角形: 角を丸くする 34">
            <a:extLst>
              <a:ext uri="{FF2B5EF4-FFF2-40B4-BE49-F238E27FC236}">
                <a16:creationId xmlns:a16="http://schemas.microsoft.com/office/drawing/2014/main" id="{F93BC72D-BC07-4D4C-9F12-2ECA431AA5A1}"/>
              </a:ext>
            </a:extLst>
          </p:cNvPr>
          <p:cNvSpPr/>
          <p:nvPr/>
        </p:nvSpPr>
        <p:spPr>
          <a:xfrm>
            <a:off x="167818" y="2363096"/>
            <a:ext cx="1238486" cy="640080"/>
          </a:xfrm>
          <a:prstGeom prst="round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400" dirty="0"/>
              <a:t>管理者</a:t>
            </a:r>
          </a:p>
        </p:txBody>
      </p:sp>
      <p:sp>
        <p:nvSpPr>
          <p:cNvPr id="37" name="矢印: 右 36">
            <a:extLst>
              <a:ext uri="{FF2B5EF4-FFF2-40B4-BE49-F238E27FC236}">
                <a16:creationId xmlns:a16="http://schemas.microsoft.com/office/drawing/2014/main" id="{9D85BF9F-6FAE-4F32-996A-05663925294C}"/>
              </a:ext>
            </a:extLst>
          </p:cNvPr>
          <p:cNvSpPr/>
          <p:nvPr/>
        </p:nvSpPr>
        <p:spPr>
          <a:xfrm>
            <a:off x="4431126" y="1309296"/>
            <a:ext cx="622852" cy="2642122"/>
          </a:xfrm>
          <a:prstGeom prst="rightArrow">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2F3C7E"/>
              </a:solidFill>
            </a:endParaRPr>
          </a:p>
        </p:txBody>
      </p:sp>
      <p:sp>
        <p:nvSpPr>
          <p:cNvPr id="43" name="矢印: 右 42">
            <a:extLst>
              <a:ext uri="{FF2B5EF4-FFF2-40B4-BE49-F238E27FC236}">
                <a16:creationId xmlns:a16="http://schemas.microsoft.com/office/drawing/2014/main" id="{638AC535-21C9-46FC-9364-B0505A8CCEDC}"/>
              </a:ext>
            </a:extLst>
          </p:cNvPr>
          <p:cNvSpPr/>
          <p:nvPr/>
        </p:nvSpPr>
        <p:spPr>
          <a:xfrm>
            <a:off x="8344440" y="1309296"/>
            <a:ext cx="622852" cy="2642122"/>
          </a:xfrm>
          <a:prstGeom prst="rightArrow">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2F3C7E"/>
              </a:solidFill>
            </a:endParaRPr>
          </a:p>
        </p:txBody>
      </p:sp>
      <p:sp>
        <p:nvSpPr>
          <p:cNvPr id="17" name="Text 7">
            <a:extLst>
              <a:ext uri="{FF2B5EF4-FFF2-40B4-BE49-F238E27FC236}">
                <a16:creationId xmlns:a16="http://schemas.microsoft.com/office/drawing/2014/main" id="{37B12581-F328-4463-AAE6-C94CDF2122AB}"/>
              </a:ext>
            </a:extLst>
          </p:cNvPr>
          <p:cNvSpPr txBox="1"/>
          <p:nvPr/>
        </p:nvSpPr>
        <p:spPr>
          <a:xfrm>
            <a:off x="1661267" y="4210049"/>
            <a:ext cx="2385032" cy="2192585"/>
          </a:xfrm>
          <a:prstGeom prst="rect">
            <a:avLst/>
          </a:prstGeom>
          <a:noFill/>
          <a:ln w="38100">
            <a:solidFill>
              <a:schemeClr val="bg1"/>
            </a:solidFill>
            <a:prstDash val="sysDash"/>
          </a:ln>
        </p:spPr>
        <p:txBody>
          <a:bodyPr wrap="square" lIns="0" tIns="0" rIns="0" bIns="0" rtlCol="0" anchor="ctr"/>
          <a:lstStyle/>
          <a:p>
            <a:pPr algn="ctr">
              <a:spcAft>
                <a:spcPts val="4200"/>
              </a:spcAft>
              <a:buSzPct val="100000"/>
            </a:pPr>
            <a:endParaRPr lang="en-US" sz="2800" dirty="0">
              <a:solidFill>
                <a:schemeClr val="bg1"/>
              </a:solidFill>
            </a:endParaRPr>
          </a:p>
        </p:txBody>
      </p:sp>
      <p:sp>
        <p:nvSpPr>
          <p:cNvPr id="20" name="Text 7">
            <a:extLst>
              <a:ext uri="{FF2B5EF4-FFF2-40B4-BE49-F238E27FC236}">
                <a16:creationId xmlns:a16="http://schemas.microsoft.com/office/drawing/2014/main" id="{679CC904-3359-4FD9-983C-F64C35ADC3C6}"/>
              </a:ext>
            </a:extLst>
          </p:cNvPr>
          <p:cNvSpPr txBox="1"/>
          <p:nvPr/>
        </p:nvSpPr>
        <p:spPr>
          <a:xfrm>
            <a:off x="9305657" y="4210050"/>
            <a:ext cx="2385032" cy="2192585"/>
          </a:xfrm>
          <a:prstGeom prst="rect">
            <a:avLst/>
          </a:prstGeom>
          <a:noFill/>
          <a:ln w="38100">
            <a:solidFill>
              <a:schemeClr val="bg1"/>
            </a:solidFill>
            <a:prstDash val="sysDash"/>
          </a:ln>
        </p:spPr>
        <p:txBody>
          <a:bodyPr wrap="square" lIns="0" tIns="0" rIns="0" bIns="0" rtlCol="0" anchor="ctr"/>
          <a:lstStyle/>
          <a:p>
            <a:pPr>
              <a:spcAft>
                <a:spcPts val="4200"/>
              </a:spcAft>
              <a:buSzPct val="100000"/>
            </a:pPr>
            <a:endParaRPr lang="en-US" sz="2800" dirty="0">
              <a:solidFill>
                <a:schemeClr val="bg1"/>
              </a:solidFill>
            </a:endParaRPr>
          </a:p>
        </p:txBody>
      </p:sp>
      <p:sp>
        <p:nvSpPr>
          <p:cNvPr id="21" name="Text 7">
            <a:extLst>
              <a:ext uri="{FF2B5EF4-FFF2-40B4-BE49-F238E27FC236}">
                <a16:creationId xmlns:a16="http://schemas.microsoft.com/office/drawing/2014/main" id="{A580E456-C35B-4880-B99F-3CF59A749F0E}"/>
              </a:ext>
            </a:extLst>
          </p:cNvPr>
          <p:cNvSpPr txBox="1"/>
          <p:nvPr/>
        </p:nvSpPr>
        <p:spPr>
          <a:xfrm>
            <a:off x="5506693" y="4210050"/>
            <a:ext cx="2385032" cy="2192585"/>
          </a:xfrm>
          <a:prstGeom prst="rect">
            <a:avLst/>
          </a:prstGeom>
          <a:noFill/>
          <a:ln w="38100">
            <a:solidFill>
              <a:schemeClr val="bg1"/>
            </a:solidFill>
            <a:prstDash val="sysDash"/>
          </a:ln>
        </p:spPr>
        <p:txBody>
          <a:bodyPr wrap="square" lIns="0" tIns="0" rIns="0" bIns="0" rtlCol="0" anchor="ctr"/>
          <a:lstStyle/>
          <a:p>
            <a:pPr>
              <a:spcAft>
                <a:spcPts val="4200"/>
              </a:spcAft>
              <a:buSzPct val="100000"/>
            </a:pPr>
            <a:endParaRPr lang="en-US" sz="2800" dirty="0">
              <a:solidFill>
                <a:schemeClr val="bg1"/>
              </a:solidFill>
            </a:endParaRPr>
          </a:p>
        </p:txBody>
      </p:sp>
      <p:sp>
        <p:nvSpPr>
          <p:cNvPr id="2" name="テキスト ボックス 1">
            <a:extLst>
              <a:ext uri="{FF2B5EF4-FFF2-40B4-BE49-F238E27FC236}">
                <a16:creationId xmlns:a16="http://schemas.microsoft.com/office/drawing/2014/main" id="{BC2D8F77-3471-4779-9298-D2C5432179CA}"/>
              </a:ext>
            </a:extLst>
          </p:cNvPr>
          <p:cNvSpPr txBox="1"/>
          <p:nvPr/>
        </p:nvSpPr>
        <p:spPr>
          <a:xfrm>
            <a:off x="1700108" y="4314713"/>
            <a:ext cx="2346191" cy="1384995"/>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① </a:t>
            </a:r>
            <a:br>
              <a:rPr lang="en-US" altLang="ja-JP" sz="2800" dirty="0">
                <a:solidFill>
                  <a:schemeClr val="bg1"/>
                </a:solidFill>
              </a:rPr>
            </a:br>
            <a:r>
              <a:rPr lang="ja-JP" altLang="en-US" sz="2800" dirty="0">
                <a:solidFill>
                  <a:schemeClr val="bg1"/>
                </a:solidFill>
              </a:rPr>
              <a:t>管理者としてログイン</a:t>
            </a:r>
            <a:endParaRPr lang="en-US" altLang="ja-JP" sz="2800" dirty="0">
              <a:solidFill>
                <a:schemeClr val="bg1"/>
              </a:solidFill>
            </a:endParaRPr>
          </a:p>
        </p:txBody>
      </p:sp>
      <p:sp>
        <p:nvSpPr>
          <p:cNvPr id="23" name="テキスト ボックス 22">
            <a:extLst>
              <a:ext uri="{FF2B5EF4-FFF2-40B4-BE49-F238E27FC236}">
                <a16:creationId xmlns:a16="http://schemas.microsoft.com/office/drawing/2014/main" id="{5B1320F8-D1BC-4B44-AC13-6F1315E6C6C3}"/>
              </a:ext>
            </a:extLst>
          </p:cNvPr>
          <p:cNvSpPr txBox="1"/>
          <p:nvPr/>
        </p:nvSpPr>
        <p:spPr>
          <a:xfrm>
            <a:off x="5545534" y="4244829"/>
            <a:ext cx="2346191" cy="1815882"/>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② </a:t>
            </a:r>
            <a:br>
              <a:rPr lang="en-US" altLang="ja-JP" sz="2800" dirty="0">
                <a:solidFill>
                  <a:schemeClr val="bg1"/>
                </a:solidFill>
              </a:rPr>
            </a:br>
            <a:r>
              <a:rPr lang="ja-JP" altLang="en-US" sz="2800" dirty="0">
                <a:solidFill>
                  <a:schemeClr val="bg1"/>
                </a:solidFill>
              </a:rPr>
              <a:t>イラスト・</a:t>
            </a:r>
            <a:br>
              <a:rPr lang="en-US" altLang="ja-JP" sz="2800" dirty="0">
                <a:solidFill>
                  <a:schemeClr val="bg1"/>
                </a:solidFill>
              </a:rPr>
            </a:br>
            <a:r>
              <a:rPr lang="en-US" altLang="ja-JP" sz="2800" dirty="0">
                <a:solidFill>
                  <a:schemeClr val="bg1"/>
                </a:solidFill>
              </a:rPr>
              <a:t>4</a:t>
            </a:r>
            <a:r>
              <a:rPr lang="ja-JP" altLang="en-US" sz="2800" dirty="0">
                <a:solidFill>
                  <a:schemeClr val="bg1"/>
                </a:solidFill>
              </a:rPr>
              <a:t>択問題・</a:t>
            </a:r>
            <a:br>
              <a:rPr lang="en-US" altLang="ja-JP" sz="2800" dirty="0">
                <a:solidFill>
                  <a:schemeClr val="bg1"/>
                </a:solidFill>
              </a:rPr>
            </a:br>
            <a:r>
              <a:rPr lang="ja-JP" altLang="en-US" sz="2800" dirty="0">
                <a:solidFill>
                  <a:schemeClr val="bg1"/>
                </a:solidFill>
              </a:rPr>
              <a:t>単語を入力</a:t>
            </a:r>
            <a:endParaRPr lang="en-US" altLang="ja-JP" sz="2800" dirty="0">
              <a:solidFill>
                <a:schemeClr val="bg1"/>
              </a:solidFill>
            </a:endParaRPr>
          </a:p>
        </p:txBody>
      </p:sp>
      <p:sp>
        <p:nvSpPr>
          <p:cNvPr id="24" name="テキスト ボックス 23">
            <a:extLst>
              <a:ext uri="{FF2B5EF4-FFF2-40B4-BE49-F238E27FC236}">
                <a16:creationId xmlns:a16="http://schemas.microsoft.com/office/drawing/2014/main" id="{A9E1BC06-9786-40A4-A10B-28654ED1CF19}"/>
              </a:ext>
            </a:extLst>
          </p:cNvPr>
          <p:cNvSpPr txBox="1"/>
          <p:nvPr/>
        </p:nvSpPr>
        <p:spPr>
          <a:xfrm>
            <a:off x="9298287" y="4266976"/>
            <a:ext cx="2346191" cy="1815882"/>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③ </a:t>
            </a:r>
            <a:br>
              <a:rPr lang="en-US" altLang="ja-JP" sz="2800" dirty="0">
                <a:solidFill>
                  <a:schemeClr val="bg1"/>
                </a:solidFill>
              </a:rPr>
            </a:br>
            <a:r>
              <a:rPr lang="ja-JP" altLang="en-US" sz="2800" dirty="0">
                <a:solidFill>
                  <a:schemeClr val="bg1"/>
                </a:solidFill>
              </a:rPr>
              <a:t>登録した</a:t>
            </a:r>
            <a:br>
              <a:rPr lang="en-US" altLang="ja-JP" sz="2800" dirty="0">
                <a:solidFill>
                  <a:schemeClr val="bg1"/>
                </a:solidFill>
              </a:rPr>
            </a:br>
            <a:r>
              <a:rPr lang="ja-JP" altLang="en-US" sz="2800" dirty="0">
                <a:solidFill>
                  <a:schemeClr val="bg1"/>
                </a:solidFill>
              </a:rPr>
              <a:t>単語を一覧で管理</a:t>
            </a:r>
            <a:endParaRPr lang="en-US" altLang="ja-JP" sz="28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0">
            <a:extLst>
              <a:ext uri="{FF2B5EF4-FFF2-40B4-BE49-F238E27FC236}">
                <a16:creationId xmlns:a16="http://schemas.microsoft.com/office/drawing/2014/main" id="{0218EC2F-B62F-499A-A883-F2C4E34A05CF}"/>
              </a:ext>
            </a:extLst>
          </p:cNvPr>
          <p:cNvSpPr/>
          <p:nvPr/>
        </p:nvSpPr>
        <p:spPr>
          <a:xfrm>
            <a:off x="315249" y="411480"/>
            <a:ext cx="2651760" cy="640080"/>
          </a:xfrm>
          <a:prstGeom prst="roundRect">
            <a:avLst>
              <a:gd name="adj" fmla="val 50000"/>
            </a:avLst>
          </a:prstGeom>
          <a:solidFill>
            <a:srgbClr val="F96167"/>
          </a:solidFill>
          <a:ln/>
        </p:spPr>
      </p:sp>
      <p:sp>
        <p:nvSpPr>
          <p:cNvPr id="4" name="Text 2"/>
          <p:cNvSpPr txBox="1"/>
          <p:nvPr/>
        </p:nvSpPr>
        <p:spPr>
          <a:xfrm>
            <a:off x="611561" y="411480"/>
            <a:ext cx="2355448" cy="640080"/>
          </a:xfrm>
          <a:prstGeom prst="rect">
            <a:avLst/>
          </a:prstGeom>
          <a:noFill/>
          <a:ln/>
        </p:spPr>
        <p:txBody>
          <a:bodyPr wrap="square" lIns="0" tIns="0" rIns="0" bIns="0" rtlCol="0" anchor="ctr"/>
          <a:lstStyle/>
          <a:p>
            <a:pPr marL="0" indent="0">
              <a:buNone/>
            </a:pPr>
            <a:r>
              <a:rPr lang="ja-JP" altLang="en-US" sz="3200" b="1" dirty="0">
                <a:solidFill>
                  <a:schemeClr val="bg1"/>
                </a:solidFill>
                <a:latin typeface="Calibri" panose="020F0502020204030204" pitchFamily="34" charset="0"/>
                <a:cs typeface="Calibri" panose="020F0502020204030204" pitchFamily="34" charset="0"/>
              </a:rPr>
              <a:t>画面の流れ</a:t>
            </a:r>
            <a:endParaRPr lang="en-US" sz="3200" dirty="0">
              <a:solidFill>
                <a:schemeClr val="bg1"/>
              </a:solidFill>
            </a:endParaRPr>
          </a:p>
        </p:txBody>
      </p:sp>
      <p:sp>
        <p:nvSpPr>
          <p:cNvPr id="35" name="四角形: 角を丸くする 34">
            <a:extLst>
              <a:ext uri="{FF2B5EF4-FFF2-40B4-BE49-F238E27FC236}">
                <a16:creationId xmlns:a16="http://schemas.microsoft.com/office/drawing/2014/main" id="{F93BC72D-BC07-4D4C-9F12-2ECA431AA5A1}"/>
              </a:ext>
            </a:extLst>
          </p:cNvPr>
          <p:cNvSpPr/>
          <p:nvPr/>
        </p:nvSpPr>
        <p:spPr>
          <a:xfrm>
            <a:off x="167818" y="2363096"/>
            <a:ext cx="1238486" cy="640080"/>
          </a:xfrm>
          <a:prstGeom prst="round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400" dirty="0"/>
              <a:t>利用者</a:t>
            </a:r>
          </a:p>
        </p:txBody>
      </p:sp>
      <p:sp>
        <p:nvSpPr>
          <p:cNvPr id="37" name="矢印: 右 36">
            <a:extLst>
              <a:ext uri="{FF2B5EF4-FFF2-40B4-BE49-F238E27FC236}">
                <a16:creationId xmlns:a16="http://schemas.microsoft.com/office/drawing/2014/main" id="{9D85BF9F-6FAE-4F32-996A-05663925294C}"/>
              </a:ext>
            </a:extLst>
          </p:cNvPr>
          <p:cNvSpPr/>
          <p:nvPr/>
        </p:nvSpPr>
        <p:spPr>
          <a:xfrm>
            <a:off x="4431126" y="1309296"/>
            <a:ext cx="622852" cy="2642122"/>
          </a:xfrm>
          <a:prstGeom prst="rightArrow">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2F3C7E"/>
              </a:solidFill>
            </a:endParaRPr>
          </a:p>
        </p:txBody>
      </p:sp>
      <p:sp>
        <p:nvSpPr>
          <p:cNvPr id="43" name="矢印: 右 42">
            <a:extLst>
              <a:ext uri="{FF2B5EF4-FFF2-40B4-BE49-F238E27FC236}">
                <a16:creationId xmlns:a16="http://schemas.microsoft.com/office/drawing/2014/main" id="{638AC535-21C9-46FC-9364-B0505A8CCEDC}"/>
              </a:ext>
            </a:extLst>
          </p:cNvPr>
          <p:cNvSpPr/>
          <p:nvPr/>
        </p:nvSpPr>
        <p:spPr>
          <a:xfrm>
            <a:off x="8344440" y="1309296"/>
            <a:ext cx="622852" cy="2642122"/>
          </a:xfrm>
          <a:prstGeom prst="rightArrow">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2F3C7E"/>
              </a:solidFill>
            </a:endParaRPr>
          </a:p>
        </p:txBody>
      </p:sp>
      <p:sp>
        <p:nvSpPr>
          <p:cNvPr id="17" name="Text 7">
            <a:extLst>
              <a:ext uri="{FF2B5EF4-FFF2-40B4-BE49-F238E27FC236}">
                <a16:creationId xmlns:a16="http://schemas.microsoft.com/office/drawing/2014/main" id="{37B12581-F328-4463-AAE6-C94CDF2122AB}"/>
              </a:ext>
            </a:extLst>
          </p:cNvPr>
          <p:cNvSpPr txBox="1"/>
          <p:nvPr/>
        </p:nvSpPr>
        <p:spPr>
          <a:xfrm>
            <a:off x="1661267" y="4210049"/>
            <a:ext cx="2385032" cy="2192585"/>
          </a:xfrm>
          <a:prstGeom prst="rect">
            <a:avLst/>
          </a:prstGeom>
          <a:noFill/>
          <a:ln w="38100">
            <a:solidFill>
              <a:schemeClr val="bg1"/>
            </a:solidFill>
            <a:prstDash val="sysDash"/>
          </a:ln>
        </p:spPr>
        <p:txBody>
          <a:bodyPr wrap="square" lIns="0" tIns="0" rIns="0" bIns="0" rtlCol="0" anchor="ctr"/>
          <a:lstStyle/>
          <a:p>
            <a:pPr algn="ctr">
              <a:spcAft>
                <a:spcPts val="4200"/>
              </a:spcAft>
              <a:buSzPct val="100000"/>
            </a:pPr>
            <a:endParaRPr lang="en-US" sz="2800" dirty="0">
              <a:solidFill>
                <a:schemeClr val="bg1"/>
              </a:solidFill>
            </a:endParaRPr>
          </a:p>
        </p:txBody>
      </p:sp>
      <p:sp>
        <p:nvSpPr>
          <p:cNvPr id="20" name="Text 7">
            <a:extLst>
              <a:ext uri="{FF2B5EF4-FFF2-40B4-BE49-F238E27FC236}">
                <a16:creationId xmlns:a16="http://schemas.microsoft.com/office/drawing/2014/main" id="{679CC904-3359-4FD9-983C-F64C35ADC3C6}"/>
              </a:ext>
            </a:extLst>
          </p:cNvPr>
          <p:cNvSpPr txBox="1"/>
          <p:nvPr/>
        </p:nvSpPr>
        <p:spPr>
          <a:xfrm>
            <a:off x="9305657" y="4210050"/>
            <a:ext cx="2385032" cy="2192585"/>
          </a:xfrm>
          <a:prstGeom prst="rect">
            <a:avLst/>
          </a:prstGeom>
          <a:noFill/>
          <a:ln w="38100">
            <a:solidFill>
              <a:schemeClr val="bg1"/>
            </a:solidFill>
            <a:prstDash val="sysDash"/>
          </a:ln>
        </p:spPr>
        <p:txBody>
          <a:bodyPr wrap="square" lIns="0" tIns="0" rIns="0" bIns="0" rtlCol="0" anchor="ctr"/>
          <a:lstStyle/>
          <a:p>
            <a:pPr>
              <a:spcAft>
                <a:spcPts val="4200"/>
              </a:spcAft>
              <a:buSzPct val="100000"/>
            </a:pPr>
            <a:endParaRPr lang="en-US" sz="2800" dirty="0">
              <a:solidFill>
                <a:schemeClr val="bg1"/>
              </a:solidFill>
            </a:endParaRPr>
          </a:p>
        </p:txBody>
      </p:sp>
      <p:sp>
        <p:nvSpPr>
          <p:cNvPr id="21" name="Text 7">
            <a:extLst>
              <a:ext uri="{FF2B5EF4-FFF2-40B4-BE49-F238E27FC236}">
                <a16:creationId xmlns:a16="http://schemas.microsoft.com/office/drawing/2014/main" id="{A580E456-C35B-4880-B99F-3CF59A749F0E}"/>
              </a:ext>
            </a:extLst>
          </p:cNvPr>
          <p:cNvSpPr txBox="1"/>
          <p:nvPr/>
        </p:nvSpPr>
        <p:spPr>
          <a:xfrm>
            <a:off x="5506693" y="4210050"/>
            <a:ext cx="2385032" cy="2192585"/>
          </a:xfrm>
          <a:prstGeom prst="rect">
            <a:avLst/>
          </a:prstGeom>
          <a:noFill/>
          <a:ln w="38100">
            <a:solidFill>
              <a:schemeClr val="bg1"/>
            </a:solidFill>
            <a:prstDash val="sysDash"/>
          </a:ln>
        </p:spPr>
        <p:txBody>
          <a:bodyPr wrap="square" lIns="0" tIns="0" rIns="0" bIns="0" rtlCol="0" anchor="ctr"/>
          <a:lstStyle/>
          <a:p>
            <a:pPr>
              <a:spcAft>
                <a:spcPts val="4200"/>
              </a:spcAft>
              <a:buSzPct val="100000"/>
            </a:pPr>
            <a:endParaRPr lang="en-US" sz="2800" dirty="0">
              <a:solidFill>
                <a:schemeClr val="bg1"/>
              </a:solidFill>
            </a:endParaRPr>
          </a:p>
        </p:txBody>
      </p:sp>
      <p:sp>
        <p:nvSpPr>
          <p:cNvPr id="2" name="テキスト ボックス 1">
            <a:extLst>
              <a:ext uri="{FF2B5EF4-FFF2-40B4-BE49-F238E27FC236}">
                <a16:creationId xmlns:a16="http://schemas.microsoft.com/office/drawing/2014/main" id="{BC2D8F77-3471-4779-9298-D2C5432179CA}"/>
              </a:ext>
            </a:extLst>
          </p:cNvPr>
          <p:cNvSpPr txBox="1"/>
          <p:nvPr/>
        </p:nvSpPr>
        <p:spPr>
          <a:xfrm>
            <a:off x="1700108" y="4314713"/>
            <a:ext cx="2346191" cy="1384995"/>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① </a:t>
            </a:r>
            <a:br>
              <a:rPr lang="en-US" altLang="ja-JP" sz="2800" dirty="0">
                <a:solidFill>
                  <a:schemeClr val="bg1"/>
                </a:solidFill>
              </a:rPr>
            </a:br>
            <a:r>
              <a:rPr lang="ja-JP" altLang="en-US" sz="2800" dirty="0">
                <a:solidFill>
                  <a:schemeClr val="bg1"/>
                </a:solidFill>
              </a:rPr>
              <a:t>利用者としてログイン</a:t>
            </a:r>
            <a:endParaRPr lang="en-US" altLang="ja-JP" sz="2800" dirty="0">
              <a:solidFill>
                <a:schemeClr val="bg1"/>
              </a:solidFill>
            </a:endParaRPr>
          </a:p>
        </p:txBody>
      </p:sp>
      <p:sp>
        <p:nvSpPr>
          <p:cNvPr id="23" name="テキスト ボックス 22">
            <a:extLst>
              <a:ext uri="{FF2B5EF4-FFF2-40B4-BE49-F238E27FC236}">
                <a16:creationId xmlns:a16="http://schemas.microsoft.com/office/drawing/2014/main" id="{5B1320F8-D1BC-4B44-AC13-6F1315E6C6C3}"/>
              </a:ext>
            </a:extLst>
          </p:cNvPr>
          <p:cNvSpPr txBox="1"/>
          <p:nvPr/>
        </p:nvSpPr>
        <p:spPr>
          <a:xfrm>
            <a:off x="5545534" y="4244829"/>
            <a:ext cx="2346191" cy="954107"/>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②</a:t>
            </a:r>
            <a:br>
              <a:rPr lang="en-US" altLang="ja-JP" sz="2800" dirty="0">
                <a:solidFill>
                  <a:schemeClr val="bg1"/>
                </a:solidFill>
              </a:rPr>
            </a:br>
            <a:r>
              <a:rPr lang="ja-JP" altLang="en-US" sz="2800" dirty="0">
                <a:solidFill>
                  <a:schemeClr val="bg1"/>
                </a:solidFill>
              </a:rPr>
              <a:t>ホーム画面</a:t>
            </a:r>
            <a:endParaRPr lang="en-US" altLang="ja-JP" sz="2800" dirty="0">
              <a:solidFill>
                <a:schemeClr val="bg1"/>
              </a:solidFill>
            </a:endParaRPr>
          </a:p>
        </p:txBody>
      </p:sp>
      <p:sp>
        <p:nvSpPr>
          <p:cNvPr id="24" name="テキスト ボックス 23">
            <a:extLst>
              <a:ext uri="{FF2B5EF4-FFF2-40B4-BE49-F238E27FC236}">
                <a16:creationId xmlns:a16="http://schemas.microsoft.com/office/drawing/2014/main" id="{A9E1BC06-9786-40A4-A10B-28654ED1CF19}"/>
              </a:ext>
            </a:extLst>
          </p:cNvPr>
          <p:cNvSpPr txBox="1"/>
          <p:nvPr/>
        </p:nvSpPr>
        <p:spPr>
          <a:xfrm>
            <a:off x="9298287" y="4266976"/>
            <a:ext cx="2346191" cy="1384995"/>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③ </a:t>
            </a:r>
            <a:br>
              <a:rPr lang="en-US" altLang="ja-JP" sz="2800" dirty="0">
                <a:solidFill>
                  <a:schemeClr val="bg1"/>
                </a:solidFill>
              </a:rPr>
            </a:br>
            <a:r>
              <a:rPr lang="ja-JP" altLang="en-US" sz="2800" dirty="0">
                <a:solidFill>
                  <a:schemeClr val="bg1"/>
                </a:solidFill>
              </a:rPr>
              <a:t>前回</a:t>
            </a:r>
            <a:br>
              <a:rPr lang="en-US" altLang="ja-JP" sz="2800" dirty="0">
                <a:solidFill>
                  <a:schemeClr val="bg1"/>
                </a:solidFill>
              </a:rPr>
            </a:br>
            <a:r>
              <a:rPr lang="ja-JP" altLang="en-US" sz="2800" dirty="0">
                <a:solidFill>
                  <a:schemeClr val="bg1"/>
                </a:solidFill>
              </a:rPr>
              <a:t>中断した場合</a:t>
            </a:r>
            <a:endParaRPr lang="en-US" altLang="ja-JP" sz="2800" dirty="0">
              <a:solidFill>
                <a:schemeClr val="bg1"/>
              </a:solidFill>
            </a:endParaRPr>
          </a:p>
        </p:txBody>
      </p:sp>
      <p:pic>
        <p:nvPicPr>
          <p:cNvPr id="5" name="図 4">
            <a:extLst>
              <a:ext uri="{FF2B5EF4-FFF2-40B4-BE49-F238E27FC236}">
                <a16:creationId xmlns:a16="http://schemas.microsoft.com/office/drawing/2014/main" id="{0A4931DF-E156-4223-84D1-0EEFF92185C3}"/>
              </a:ext>
            </a:extLst>
          </p:cNvPr>
          <p:cNvPicPr>
            <a:picLocks noChangeAspect="1"/>
          </p:cNvPicPr>
          <p:nvPr/>
        </p:nvPicPr>
        <p:blipFill>
          <a:blip r:embed="rId3"/>
          <a:stretch>
            <a:fillRect/>
          </a:stretch>
        </p:blipFill>
        <p:spPr>
          <a:xfrm>
            <a:off x="1784236" y="1494649"/>
            <a:ext cx="1920406" cy="2491956"/>
          </a:xfrm>
          <a:prstGeom prst="rect">
            <a:avLst/>
          </a:prstGeom>
        </p:spPr>
      </p:pic>
      <p:pic>
        <p:nvPicPr>
          <p:cNvPr id="6" name="図 5">
            <a:extLst>
              <a:ext uri="{FF2B5EF4-FFF2-40B4-BE49-F238E27FC236}">
                <a16:creationId xmlns:a16="http://schemas.microsoft.com/office/drawing/2014/main" id="{7727C70A-4193-4845-92AC-6624313B9CBF}"/>
              </a:ext>
            </a:extLst>
          </p:cNvPr>
          <p:cNvPicPr>
            <a:picLocks noChangeAspect="1"/>
          </p:cNvPicPr>
          <p:nvPr/>
        </p:nvPicPr>
        <p:blipFill>
          <a:blip r:embed="rId4"/>
          <a:stretch>
            <a:fillRect/>
          </a:stretch>
        </p:blipFill>
        <p:spPr>
          <a:xfrm>
            <a:off x="5506458" y="1566687"/>
            <a:ext cx="2385267" cy="2301439"/>
          </a:xfrm>
          <a:prstGeom prst="rect">
            <a:avLst/>
          </a:prstGeom>
        </p:spPr>
      </p:pic>
      <p:pic>
        <p:nvPicPr>
          <p:cNvPr id="7" name="図 6">
            <a:extLst>
              <a:ext uri="{FF2B5EF4-FFF2-40B4-BE49-F238E27FC236}">
                <a16:creationId xmlns:a16="http://schemas.microsoft.com/office/drawing/2014/main" id="{842EB2D8-574D-462F-8605-486527F61841}"/>
              </a:ext>
            </a:extLst>
          </p:cNvPr>
          <p:cNvPicPr>
            <a:picLocks noChangeAspect="1"/>
          </p:cNvPicPr>
          <p:nvPr/>
        </p:nvPicPr>
        <p:blipFill>
          <a:blip r:embed="rId5"/>
          <a:stretch>
            <a:fillRect/>
          </a:stretch>
        </p:blipFill>
        <p:spPr>
          <a:xfrm>
            <a:off x="9252078" y="1188520"/>
            <a:ext cx="2438611" cy="2758679"/>
          </a:xfrm>
          <a:prstGeom prst="rect">
            <a:avLst/>
          </a:prstGeom>
        </p:spPr>
      </p:pic>
    </p:spTree>
    <p:extLst>
      <p:ext uri="{BB962C8B-B14F-4D97-AF65-F5344CB8AC3E}">
        <p14:creationId xmlns:p14="http://schemas.microsoft.com/office/powerpoint/2010/main" val="2843826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0">
            <a:extLst>
              <a:ext uri="{FF2B5EF4-FFF2-40B4-BE49-F238E27FC236}">
                <a16:creationId xmlns:a16="http://schemas.microsoft.com/office/drawing/2014/main" id="{0218EC2F-B62F-499A-A883-F2C4E34A05CF}"/>
              </a:ext>
            </a:extLst>
          </p:cNvPr>
          <p:cNvSpPr/>
          <p:nvPr/>
        </p:nvSpPr>
        <p:spPr>
          <a:xfrm>
            <a:off x="315249" y="411480"/>
            <a:ext cx="2651760" cy="640080"/>
          </a:xfrm>
          <a:prstGeom prst="roundRect">
            <a:avLst>
              <a:gd name="adj" fmla="val 50000"/>
            </a:avLst>
          </a:prstGeom>
          <a:solidFill>
            <a:srgbClr val="F96167"/>
          </a:solidFill>
          <a:ln/>
        </p:spPr>
      </p:sp>
      <p:sp>
        <p:nvSpPr>
          <p:cNvPr id="4" name="Text 2"/>
          <p:cNvSpPr txBox="1"/>
          <p:nvPr/>
        </p:nvSpPr>
        <p:spPr>
          <a:xfrm>
            <a:off x="611561" y="411480"/>
            <a:ext cx="2355448" cy="640080"/>
          </a:xfrm>
          <a:prstGeom prst="rect">
            <a:avLst/>
          </a:prstGeom>
          <a:noFill/>
          <a:ln/>
        </p:spPr>
        <p:txBody>
          <a:bodyPr wrap="square" lIns="0" tIns="0" rIns="0" bIns="0" rtlCol="0" anchor="ctr"/>
          <a:lstStyle/>
          <a:p>
            <a:pPr marL="0" indent="0">
              <a:buNone/>
            </a:pPr>
            <a:r>
              <a:rPr lang="ja-JP" altLang="en-US" sz="3200" b="1" dirty="0">
                <a:solidFill>
                  <a:schemeClr val="bg1"/>
                </a:solidFill>
                <a:latin typeface="Calibri" panose="020F0502020204030204" pitchFamily="34" charset="0"/>
                <a:cs typeface="Calibri" panose="020F0502020204030204" pitchFamily="34" charset="0"/>
              </a:rPr>
              <a:t>画面の流れ</a:t>
            </a:r>
            <a:endParaRPr lang="en-US" sz="3200" dirty="0">
              <a:solidFill>
                <a:schemeClr val="bg1"/>
              </a:solidFill>
            </a:endParaRPr>
          </a:p>
        </p:txBody>
      </p:sp>
      <p:sp>
        <p:nvSpPr>
          <p:cNvPr id="35" name="四角形: 角を丸くする 34">
            <a:extLst>
              <a:ext uri="{FF2B5EF4-FFF2-40B4-BE49-F238E27FC236}">
                <a16:creationId xmlns:a16="http://schemas.microsoft.com/office/drawing/2014/main" id="{F93BC72D-BC07-4D4C-9F12-2ECA431AA5A1}"/>
              </a:ext>
            </a:extLst>
          </p:cNvPr>
          <p:cNvSpPr/>
          <p:nvPr/>
        </p:nvSpPr>
        <p:spPr>
          <a:xfrm>
            <a:off x="167818" y="2363096"/>
            <a:ext cx="1238486" cy="640080"/>
          </a:xfrm>
          <a:prstGeom prst="round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400" dirty="0"/>
              <a:t>利用者</a:t>
            </a:r>
          </a:p>
        </p:txBody>
      </p:sp>
      <p:sp>
        <p:nvSpPr>
          <p:cNvPr id="37" name="矢印: 右 36">
            <a:extLst>
              <a:ext uri="{FF2B5EF4-FFF2-40B4-BE49-F238E27FC236}">
                <a16:creationId xmlns:a16="http://schemas.microsoft.com/office/drawing/2014/main" id="{9D85BF9F-6FAE-4F32-996A-05663925294C}"/>
              </a:ext>
            </a:extLst>
          </p:cNvPr>
          <p:cNvSpPr/>
          <p:nvPr/>
        </p:nvSpPr>
        <p:spPr>
          <a:xfrm>
            <a:off x="4431126" y="1309296"/>
            <a:ext cx="622852" cy="2642122"/>
          </a:xfrm>
          <a:prstGeom prst="rightArrow">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2F3C7E"/>
              </a:solidFill>
            </a:endParaRPr>
          </a:p>
        </p:txBody>
      </p:sp>
      <p:sp>
        <p:nvSpPr>
          <p:cNvPr id="43" name="矢印: 右 42">
            <a:extLst>
              <a:ext uri="{FF2B5EF4-FFF2-40B4-BE49-F238E27FC236}">
                <a16:creationId xmlns:a16="http://schemas.microsoft.com/office/drawing/2014/main" id="{638AC535-21C9-46FC-9364-B0505A8CCEDC}"/>
              </a:ext>
            </a:extLst>
          </p:cNvPr>
          <p:cNvSpPr/>
          <p:nvPr/>
        </p:nvSpPr>
        <p:spPr>
          <a:xfrm>
            <a:off x="8344440" y="1309296"/>
            <a:ext cx="622852" cy="2642122"/>
          </a:xfrm>
          <a:prstGeom prst="rightArrow">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2F3C7E"/>
              </a:solidFill>
            </a:endParaRPr>
          </a:p>
        </p:txBody>
      </p:sp>
      <p:sp>
        <p:nvSpPr>
          <p:cNvPr id="17" name="Text 7">
            <a:extLst>
              <a:ext uri="{FF2B5EF4-FFF2-40B4-BE49-F238E27FC236}">
                <a16:creationId xmlns:a16="http://schemas.microsoft.com/office/drawing/2014/main" id="{37B12581-F328-4463-AAE6-C94CDF2122AB}"/>
              </a:ext>
            </a:extLst>
          </p:cNvPr>
          <p:cNvSpPr txBox="1"/>
          <p:nvPr/>
        </p:nvSpPr>
        <p:spPr>
          <a:xfrm>
            <a:off x="1661267" y="4605586"/>
            <a:ext cx="2385032" cy="1797048"/>
          </a:xfrm>
          <a:prstGeom prst="rect">
            <a:avLst/>
          </a:prstGeom>
          <a:noFill/>
          <a:ln w="38100">
            <a:solidFill>
              <a:schemeClr val="bg1"/>
            </a:solidFill>
            <a:prstDash val="sysDash"/>
          </a:ln>
        </p:spPr>
        <p:txBody>
          <a:bodyPr wrap="square" lIns="0" tIns="0" rIns="0" bIns="0" rtlCol="0" anchor="ctr"/>
          <a:lstStyle/>
          <a:p>
            <a:pPr algn="ctr">
              <a:spcAft>
                <a:spcPts val="4200"/>
              </a:spcAft>
              <a:buSzPct val="100000"/>
            </a:pPr>
            <a:endParaRPr lang="en-US" sz="2800" dirty="0">
              <a:solidFill>
                <a:schemeClr val="bg1"/>
              </a:solidFill>
            </a:endParaRPr>
          </a:p>
        </p:txBody>
      </p:sp>
      <p:sp>
        <p:nvSpPr>
          <p:cNvPr id="20" name="Text 7">
            <a:extLst>
              <a:ext uri="{FF2B5EF4-FFF2-40B4-BE49-F238E27FC236}">
                <a16:creationId xmlns:a16="http://schemas.microsoft.com/office/drawing/2014/main" id="{679CC904-3359-4FD9-983C-F64C35ADC3C6}"/>
              </a:ext>
            </a:extLst>
          </p:cNvPr>
          <p:cNvSpPr txBox="1"/>
          <p:nvPr/>
        </p:nvSpPr>
        <p:spPr>
          <a:xfrm>
            <a:off x="9305657" y="4605586"/>
            <a:ext cx="2385032" cy="1797049"/>
          </a:xfrm>
          <a:prstGeom prst="rect">
            <a:avLst/>
          </a:prstGeom>
          <a:noFill/>
          <a:ln w="38100">
            <a:solidFill>
              <a:schemeClr val="bg1"/>
            </a:solidFill>
            <a:prstDash val="sysDash"/>
          </a:ln>
        </p:spPr>
        <p:txBody>
          <a:bodyPr wrap="square" lIns="0" tIns="0" rIns="0" bIns="0" rtlCol="0" anchor="ctr"/>
          <a:lstStyle/>
          <a:p>
            <a:pPr>
              <a:spcAft>
                <a:spcPts val="4200"/>
              </a:spcAft>
              <a:buSzPct val="100000"/>
            </a:pPr>
            <a:endParaRPr lang="en-US" sz="2800" dirty="0">
              <a:solidFill>
                <a:schemeClr val="bg1"/>
              </a:solidFill>
            </a:endParaRPr>
          </a:p>
        </p:txBody>
      </p:sp>
      <p:sp>
        <p:nvSpPr>
          <p:cNvPr id="21" name="Text 7">
            <a:extLst>
              <a:ext uri="{FF2B5EF4-FFF2-40B4-BE49-F238E27FC236}">
                <a16:creationId xmlns:a16="http://schemas.microsoft.com/office/drawing/2014/main" id="{A580E456-C35B-4880-B99F-3CF59A749F0E}"/>
              </a:ext>
            </a:extLst>
          </p:cNvPr>
          <p:cNvSpPr txBox="1"/>
          <p:nvPr/>
        </p:nvSpPr>
        <p:spPr>
          <a:xfrm>
            <a:off x="5506693" y="4605586"/>
            <a:ext cx="2385032" cy="1797049"/>
          </a:xfrm>
          <a:prstGeom prst="rect">
            <a:avLst/>
          </a:prstGeom>
          <a:noFill/>
          <a:ln w="38100">
            <a:solidFill>
              <a:schemeClr val="bg1"/>
            </a:solidFill>
            <a:prstDash val="sysDash"/>
          </a:ln>
        </p:spPr>
        <p:txBody>
          <a:bodyPr wrap="square" lIns="0" tIns="0" rIns="0" bIns="0" rtlCol="0" anchor="ctr"/>
          <a:lstStyle/>
          <a:p>
            <a:pPr>
              <a:spcAft>
                <a:spcPts val="4200"/>
              </a:spcAft>
              <a:buSzPct val="100000"/>
            </a:pPr>
            <a:endParaRPr lang="en-US" sz="2800" dirty="0">
              <a:solidFill>
                <a:schemeClr val="bg1"/>
              </a:solidFill>
            </a:endParaRPr>
          </a:p>
        </p:txBody>
      </p:sp>
      <p:sp>
        <p:nvSpPr>
          <p:cNvPr id="2" name="テキスト ボックス 1">
            <a:extLst>
              <a:ext uri="{FF2B5EF4-FFF2-40B4-BE49-F238E27FC236}">
                <a16:creationId xmlns:a16="http://schemas.microsoft.com/office/drawing/2014/main" id="{BC2D8F77-3471-4779-9298-D2C5432179CA}"/>
              </a:ext>
            </a:extLst>
          </p:cNvPr>
          <p:cNvSpPr txBox="1"/>
          <p:nvPr/>
        </p:nvSpPr>
        <p:spPr>
          <a:xfrm>
            <a:off x="1680687" y="4693195"/>
            <a:ext cx="2346191" cy="954107"/>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④</a:t>
            </a:r>
            <a:br>
              <a:rPr lang="en-US" altLang="ja-JP" sz="2800" dirty="0">
                <a:solidFill>
                  <a:schemeClr val="bg1"/>
                </a:solidFill>
              </a:rPr>
            </a:br>
            <a:r>
              <a:rPr lang="ja-JP" altLang="en-US" sz="2800" dirty="0">
                <a:solidFill>
                  <a:schemeClr val="bg1"/>
                </a:solidFill>
              </a:rPr>
              <a:t>問題開始</a:t>
            </a:r>
            <a:endParaRPr lang="en-US" altLang="ja-JP" sz="2800" dirty="0">
              <a:solidFill>
                <a:schemeClr val="bg1"/>
              </a:solidFill>
            </a:endParaRPr>
          </a:p>
        </p:txBody>
      </p:sp>
      <p:sp>
        <p:nvSpPr>
          <p:cNvPr id="23" name="テキスト ボックス 22">
            <a:extLst>
              <a:ext uri="{FF2B5EF4-FFF2-40B4-BE49-F238E27FC236}">
                <a16:creationId xmlns:a16="http://schemas.microsoft.com/office/drawing/2014/main" id="{5B1320F8-D1BC-4B44-AC13-6F1315E6C6C3}"/>
              </a:ext>
            </a:extLst>
          </p:cNvPr>
          <p:cNvSpPr txBox="1"/>
          <p:nvPr/>
        </p:nvSpPr>
        <p:spPr>
          <a:xfrm>
            <a:off x="5545534" y="4697864"/>
            <a:ext cx="2346191" cy="954107"/>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⑤</a:t>
            </a:r>
            <a:br>
              <a:rPr lang="en-US" altLang="ja-JP" sz="2800" dirty="0">
                <a:solidFill>
                  <a:schemeClr val="bg1"/>
                </a:solidFill>
              </a:rPr>
            </a:br>
            <a:r>
              <a:rPr lang="ja-JP" altLang="en-US" sz="2800" dirty="0">
                <a:solidFill>
                  <a:schemeClr val="bg1"/>
                </a:solidFill>
              </a:rPr>
              <a:t>学習進捗</a:t>
            </a:r>
            <a:endParaRPr lang="en-US" altLang="ja-JP" sz="2800" dirty="0">
              <a:solidFill>
                <a:schemeClr val="bg1"/>
              </a:solidFill>
            </a:endParaRPr>
          </a:p>
        </p:txBody>
      </p:sp>
      <p:sp>
        <p:nvSpPr>
          <p:cNvPr id="24" name="テキスト ボックス 23">
            <a:extLst>
              <a:ext uri="{FF2B5EF4-FFF2-40B4-BE49-F238E27FC236}">
                <a16:creationId xmlns:a16="http://schemas.microsoft.com/office/drawing/2014/main" id="{A9E1BC06-9786-40A4-A10B-28654ED1CF19}"/>
              </a:ext>
            </a:extLst>
          </p:cNvPr>
          <p:cNvSpPr txBox="1"/>
          <p:nvPr/>
        </p:nvSpPr>
        <p:spPr>
          <a:xfrm>
            <a:off x="9298287" y="4598771"/>
            <a:ext cx="2346191" cy="1384995"/>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⑥</a:t>
            </a:r>
            <a:br>
              <a:rPr lang="en-US" altLang="ja-JP" sz="2800" dirty="0">
                <a:solidFill>
                  <a:schemeClr val="bg1"/>
                </a:solidFill>
              </a:rPr>
            </a:br>
            <a:r>
              <a:rPr lang="ja-JP" altLang="en-US" sz="2800" dirty="0">
                <a:solidFill>
                  <a:schemeClr val="bg1"/>
                </a:solidFill>
              </a:rPr>
              <a:t>苦手単語</a:t>
            </a:r>
            <a:br>
              <a:rPr lang="en-US" altLang="ja-JP" sz="2800" dirty="0">
                <a:solidFill>
                  <a:schemeClr val="bg1"/>
                </a:solidFill>
              </a:rPr>
            </a:br>
            <a:r>
              <a:rPr lang="ja-JP" altLang="en-US" sz="2800" dirty="0">
                <a:solidFill>
                  <a:schemeClr val="bg1"/>
                </a:solidFill>
              </a:rPr>
              <a:t>一覧</a:t>
            </a:r>
            <a:endParaRPr lang="en-US" altLang="ja-JP" sz="2800" dirty="0">
              <a:solidFill>
                <a:schemeClr val="bg1"/>
              </a:solidFill>
            </a:endParaRPr>
          </a:p>
        </p:txBody>
      </p:sp>
      <p:pic>
        <p:nvPicPr>
          <p:cNvPr id="8" name="図 7">
            <a:extLst>
              <a:ext uri="{FF2B5EF4-FFF2-40B4-BE49-F238E27FC236}">
                <a16:creationId xmlns:a16="http://schemas.microsoft.com/office/drawing/2014/main" id="{DB3F717F-5B47-4C72-BDD3-A9F4B5C3D077}"/>
              </a:ext>
            </a:extLst>
          </p:cNvPr>
          <p:cNvPicPr>
            <a:picLocks noChangeAspect="1"/>
          </p:cNvPicPr>
          <p:nvPr/>
        </p:nvPicPr>
        <p:blipFill>
          <a:blip r:embed="rId3"/>
          <a:stretch>
            <a:fillRect/>
          </a:stretch>
        </p:blipFill>
        <p:spPr>
          <a:xfrm>
            <a:off x="1871025" y="1211408"/>
            <a:ext cx="1976535" cy="3234330"/>
          </a:xfrm>
          <a:prstGeom prst="rect">
            <a:avLst/>
          </a:prstGeom>
        </p:spPr>
      </p:pic>
      <p:pic>
        <p:nvPicPr>
          <p:cNvPr id="9" name="図 8">
            <a:extLst>
              <a:ext uri="{FF2B5EF4-FFF2-40B4-BE49-F238E27FC236}">
                <a16:creationId xmlns:a16="http://schemas.microsoft.com/office/drawing/2014/main" id="{C770C4F4-B47C-4D8F-90EF-677454D58745}"/>
              </a:ext>
            </a:extLst>
          </p:cNvPr>
          <p:cNvPicPr>
            <a:picLocks noChangeAspect="1"/>
          </p:cNvPicPr>
          <p:nvPr/>
        </p:nvPicPr>
        <p:blipFill>
          <a:blip r:embed="rId4"/>
          <a:stretch>
            <a:fillRect/>
          </a:stretch>
        </p:blipFill>
        <p:spPr>
          <a:xfrm>
            <a:off x="5453231" y="1246641"/>
            <a:ext cx="2491956" cy="2872989"/>
          </a:xfrm>
          <a:prstGeom prst="rect">
            <a:avLst/>
          </a:prstGeom>
        </p:spPr>
      </p:pic>
      <p:pic>
        <p:nvPicPr>
          <p:cNvPr id="11" name="図 10">
            <a:extLst>
              <a:ext uri="{FF2B5EF4-FFF2-40B4-BE49-F238E27FC236}">
                <a16:creationId xmlns:a16="http://schemas.microsoft.com/office/drawing/2014/main" id="{90214821-316A-4A70-B3A1-B88F3A14D920}"/>
              </a:ext>
            </a:extLst>
          </p:cNvPr>
          <p:cNvPicPr>
            <a:picLocks noChangeAspect="1"/>
          </p:cNvPicPr>
          <p:nvPr/>
        </p:nvPicPr>
        <p:blipFill>
          <a:blip r:embed="rId5"/>
          <a:stretch>
            <a:fillRect/>
          </a:stretch>
        </p:blipFill>
        <p:spPr>
          <a:xfrm>
            <a:off x="9135962" y="1211408"/>
            <a:ext cx="2554727" cy="3014742"/>
          </a:xfrm>
          <a:prstGeom prst="rect">
            <a:avLst/>
          </a:prstGeom>
        </p:spPr>
      </p:pic>
    </p:spTree>
    <p:extLst>
      <p:ext uri="{BB962C8B-B14F-4D97-AF65-F5344CB8AC3E}">
        <p14:creationId xmlns:p14="http://schemas.microsoft.com/office/powerpoint/2010/main" val="1627670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0">
            <a:extLst>
              <a:ext uri="{FF2B5EF4-FFF2-40B4-BE49-F238E27FC236}">
                <a16:creationId xmlns:a16="http://schemas.microsoft.com/office/drawing/2014/main" id="{0218EC2F-B62F-499A-A883-F2C4E34A05CF}"/>
              </a:ext>
            </a:extLst>
          </p:cNvPr>
          <p:cNvSpPr/>
          <p:nvPr/>
        </p:nvSpPr>
        <p:spPr>
          <a:xfrm>
            <a:off x="315249" y="411480"/>
            <a:ext cx="2651760" cy="640080"/>
          </a:xfrm>
          <a:prstGeom prst="roundRect">
            <a:avLst>
              <a:gd name="adj" fmla="val 50000"/>
            </a:avLst>
          </a:prstGeom>
          <a:solidFill>
            <a:srgbClr val="F96167"/>
          </a:solidFill>
          <a:ln/>
        </p:spPr>
      </p:sp>
      <p:sp>
        <p:nvSpPr>
          <p:cNvPr id="4" name="Text 2"/>
          <p:cNvSpPr txBox="1"/>
          <p:nvPr/>
        </p:nvSpPr>
        <p:spPr>
          <a:xfrm>
            <a:off x="611561" y="411480"/>
            <a:ext cx="2355448" cy="640080"/>
          </a:xfrm>
          <a:prstGeom prst="rect">
            <a:avLst/>
          </a:prstGeom>
          <a:noFill/>
          <a:ln/>
        </p:spPr>
        <p:txBody>
          <a:bodyPr wrap="square" lIns="0" tIns="0" rIns="0" bIns="0" rtlCol="0" anchor="ctr"/>
          <a:lstStyle/>
          <a:p>
            <a:pPr marL="0" indent="0">
              <a:buNone/>
            </a:pPr>
            <a:r>
              <a:rPr lang="ja-JP" altLang="en-US" sz="3200" b="1" dirty="0">
                <a:solidFill>
                  <a:schemeClr val="bg1"/>
                </a:solidFill>
                <a:latin typeface="Calibri" panose="020F0502020204030204" pitchFamily="34" charset="0"/>
                <a:cs typeface="Calibri" panose="020F0502020204030204" pitchFamily="34" charset="0"/>
              </a:rPr>
              <a:t>画面の流れ</a:t>
            </a:r>
            <a:endParaRPr lang="en-US" sz="3200" dirty="0">
              <a:solidFill>
                <a:schemeClr val="bg1"/>
              </a:solidFill>
            </a:endParaRPr>
          </a:p>
        </p:txBody>
      </p:sp>
      <p:sp>
        <p:nvSpPr>
          <p:cNvPr id="35" name="四角形: 角を丸くする 34">
            <a:extLst>
              <a:ext uri="{FF2B5EF4-FFF2-40B4-BE49-F238E27FC236}">
                <a16:creationId xmlns:a16="http://schemas.microsoft.com/office/drawing/2014/main" id="{F93BC72D-BC07-4D4C-9F12-2ECA431AA5A1}"/>
              </a:ext>
            </a:extLst>
          </p:cNvPr>
          <p:cNvSpPr/>
          <p:nvPr/>
        </p:nvSpPr>
        <p:spPr>
          <a:xfrm>
            <a:off x="167818" y="2363096"/>
            <a:ext cx="1238486" cy="640080"/>
          </a:xfrm>
          <a:prstGeom prst="round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400" dirty="0"/>
              <a:t>利用者</a:t>
            </a:r>
          </a:p>
        </p:txBody>
      </p:sp>
      <p:sp>
        <p:nvSpPr>
          <p:cNvPr id="37" name="矢印: 右 36">
            <a:extLst>
              <a:ext uri="{FF2B5EF4-FFF2-40B4-BE49-F238E27FC236}">
                <a16:creationId xmlns:a16="http://schemas.microsoft.com/office/drawing/2014/main" id="{9D85BF9F-6FAE-4F32-996A-05663925294C}"/>
              </a:ext>
            </a:extLst>
          </p:cNvPr>
          <p:cNvSpPr/>
          <p:nvPr/>
        </p:nvSpPr>
        <p:spPr>
          <a:xfrm>
            <a:off x="4431126" y="1309296"/>
            <a:ext cx="622852" cy="2642122"/>
          </a:xfrm>
          <a:prstGeom prst="rightArrow">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2F3C7E"/>
              </a:solidFill>
            </a:endParaRPr>
          </a:p>
        </p:txBody>
      </p:sp>
      <p:sp>
        <p:nvSpPr>
          <p:cNvPr id="43" name="矢印: 右 42">
            <a:extLst>
              <a:ext uri="{FF2B5EF4-FFF2-40B4-BE49-F238E27FC236}">
                <a16:creationId xmlns:a16="http://schemas.microsoft.com/office/drawing/2014/main" id="{638AC535-21C9-46FC-9364-B0505A8CCEDC}"/>
              </a:ext>
            </a:extLst>
          </p:cNvPr>
          <p:cNvSpPr/>
          <p:nvPr/>
        </p:nvSpPr>
        <p:spPr>
          <a:xfrm>
            <a:off x="8251550" y="1309296"/>
            <a:ext cx="622852" cy="2642122"/>
          </a:xfrm>
          <a:prstGeom prst="rightArrow">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2F3C7E"/>
              </a:solidFill>
            </a:endParaRPr>
          </a:p>
        </p:txBody>
      </p:sp>
      <p:sp>
        <p:nvSpPr>
          <p:cNvPr id="17" name="Text 7">
            <a:extLst>
              <a:ext uri="{FF2B5EF4-FFF2-40B4-BE49-F238E27FC236}">
                <a16:creationId xmlns:a16="http://schemas.microsoft.com/office/drawing/2014/main" id="{37B12581-F328-4463-AAE6-C94CDF2122AB}"/>
              </a:ext>
            </a:extLst>
          </p:cNvPr>
          <p:cNvSpPr txBox="1"/>
          <p:nvPr/>
        </p:nvSpPr>
        <p:spPr>
          <a:xfrm>
            <a:off x="1661267" y="4605586"/>
            <a:ext cx="2385032" cy="1797048"/>
          </a:xfrm>
          <a:prstGeom prst="rect">
            <a:avLst/>
          </a:prstGeom>
          <a:noFill/>
          <a:ln w="38100">
            <a:solidFill>
              <a:schemeClr val="bg1"/>
            </a:solidFill>
            <a:prstDash val="sysDash"/>
          </a:ln>
        </p:spPr>
        <p:txBody>
          <a:bodyPr wrap="square" lIns="0" tIns="0" rIns="0" bIns="0" rtlCol="0" anchor="ctr"/>
          <a:lstStyle/>
          <a:p>
            <a:pPr algn="ctr">
              <a:spcAft>
                <a:spcPts val="4200"/>
              </a:spcAft>
              <a:buSzPct val="100000"/>
            </a:pPr>
            <a:endParaRPr lang="en-US" sz="2800" dirty="0">
              <a:solidFill>
                <a:schemeClr val="bg1"/>
              </a:solidFill>
            </a:endParaRPr>
          </a:p>
        </p:txBody>
      </p:sp>
      <p:sp>
        <p:nvSpPr>
          <p:cNvPr id="20" name="Text 7">
            <a:extLst>
              <a:ext uri="{FF2B5EF4-FFF2-40B4-BE49-F238E27FC236}">
                <a16:creationId xmlns:a16="http://schemas.microsoft.com/office/drawing/2014/main" id="{679CC904-3359-4FD9-983C-F64C35ADC3C6}"/>
              </a:ext>
            </a:extLst>
          </p:cNvPr>
          <p:cNvSpPr txBox="1"/>
          <p:nvPr/>
        </p:nvSpPr>
        <p:spPr>
          <a:xfrm>
            <a:off x="9305657" y="4605586"/>
            <a:ext cx="2385032" cy="1797049"/>
          </a:xfrm>
          <a:prstGeom prst="rect">
            <a:avLst/>
          </a:prstGeom>
          <a:noFill/>
          <a:ln w="38100">
            <a:solidFill>
              <a:schemeClr val="bg1"/>
            </a:solidFill>
            <a:prstDash val="sysDash"/>
          </a:ln>
        </p:spPr>
        <p:txBody>
          <a:bodyPr wrap="square" lIns="0" tIns="0" rIns="0" bIns="0" rtlCol="0" anchor="ctr"/>
          <a:lstStyle/>
          <a:p>
            <a:pPr>
              <a:spcAft>
                <a:spcPts val="4200"/>
              </a:spcAft>
              <a:buSzPct val="100000"/>
            </a:pPr>
            <a:endParaRPr lang="en-US" sz="2800" dirty="0">
              <a:solidFill>
                <a:schemeClr val="bg1"/>
              </a:solidFill>
            </a:endParaRPr>
          </a:p>
        </p:txBody>
      </p:sp>
      <p:sp>
        <p:nvSpPr>
          <p:cNvPr id="21" name="Text 7">
            <a:extLst>
              <a:ext uri="{FF2B5EF4-FFF2-40B4-BE49-F238E27FC236}">
                <a16:creationId xmlns:a16="http://schemas.microsoft.com/office/drawing/2014/main" id="{A580E456-C35B-4880-B99F-3CF59A749F0E}"/>
              </a:ext>
            </a:extLst>
          </p:cNvPr>
          <p:cNvSpPr txBox="1"/>
          <p:nvPr/>
        </p:nvSpPr>
        <p:spPr>
          <a:xfrm>
            <a:off x="5506693" y="4605586"/>
            <a:ext cx="2385032" cy="1797049"/>
          </a:xfrm>
          <a:prstGeom prst="rect">
            <a:avLst/>
          </a:prstGeom>
          <a:noFill/>
          <a:ln w="38100">
            <a:solidFill>
              <a:schemeClr val="bg1"/>
            </a:solidFill>
            <a:prstDash val="sysDash"/>
          </a:ln>
        </p:spPr>
        <p:txBody>
          <a:bodyPr wrap="square" lIns="0" tIns="0" rIns="0" bIns="0" rtlCol="0" anchor="ctr"/>
          <a:lstStyle/>
          <a:p>
            <a:pPr>
              <a:spcAft>
                <a:spcPts val="4200"/>
              </a:spcAft>
              <a:buSzPct val="100000"/>
            </a:pPr>
            <a:endParaRPr lang="en-US" sz="2800" dirty="0">
              <a:solidFill>
                <a:schemeClr val="bg1"/>
              </a:solidFill>
            </a:endParaRPr>
          </a:p>
        </p:txBody>
      </p:sp>
      <p:sp>
        <p:nvSpPr>
          <p:cNvPr id="2" name="テキスト ボックス 1">
            <a:extLst>
              <a:ext uri="{FF2B5EF4-FFF2-40B4-BE49-F238E27FC236}">
                <a16:creationId xmlns:a16="http://schemas.microsoft.com/office/drawing/2014/main" id="{BC2D8F77-3471-4779-9298-D2C5432179CA}"/>
              </a:ext>
            </a:extLst>
          </p:cNvPr>
          <p:cNvSpPr txBox="1"/>
          <p:nvPr/>
        </p:nvSpPr>
        <p:spPr>
          <a:xfrm>
            <a:off x="1680687" y="4693195"/>
            <a:ext cx="2346191" cy="1384995"/>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⑦</a:t>
            </a:r>
            <a:br>
              <a:rPr lang="en-US" altLang="ja-JP" sz="2800" dirty="0">
                <a:solidFill>
                  <a:schemeClr val="bg1"/>
                </a:solidFill>
              </a:rPr>
            </a:br>
            <a:r>
              <a:rPr lang="ja-JP" altLang="en-US" sz="2800" dirty="0">
                <a:solidFill>
                  <a:schemeClr val="bg1"/>
                </a:solidFill>
              </a:rPr>
              <a:t>アカウント</a:t>
            </a:r>
            <a:br>
              <a:rPr lang="en-US" altLang="ja-JP" sz="2800" dirty="0">
                <a:solidFill>
                  <a:schemeClr val="bg1"/>
                </a:solidFill>
              </a:rPr>
            </a:br>
            <a:r>
              <a:rPr lang="ja-JP" altLang="en-US" sz="2800" dirty="0">
                <a:solidFill>
                  <a:schemeClr val="bg1"/>
                </a:solidFill>
              </a:rPr>
              <a:t>設定</a:t>
            </a:r>
            <a:endParaRPr lang="en-US" altLang="ja-JP" sz="2800" dirty="0">
              <a:solidFill>
                <a:schemeClr val="bg1"/>
              </a:solidFill>
            </a:endParaRPr>
          </a:p>
        </p:txBody>
      </p:sp>
      <p:sp>
        <p:nvSpPr>
          <p:cNvPr id="23" name="テキスト ボックス 22">
            <a:extLst>
              <a:ext uri="{FF2B5EF4-FFF2-40B4-BE49-F238E27FC236}">
                <a16:creationId xmlns:a16="http://schemas.microsoft.com/office/drawing/2014/main" id="{5B1320F8-D1BC-4B44-AC13-6F1315E6C6C3}"/>
              </a:ext>
            </a:extLst>
          </p:cNvPr>
          <p:cNvSpPr txBox="1"/>
          <p:nvPr/>
        </p:nvSpPr>
        <p:spPr>
          <a:xfrm>
            <a:off x="5487272" y="4697864"/>
            <a:ext cx="2346191" cy="1384995"/>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⑧</a:t>
            </a:r>
            <a:br>
              <a:rPr lang="en-US" altLang="ja-JP" sz="2800" dirty="0">
                <a:solidFill>
                  <a:schemeClr val="bg1"/>
                </a:solidFill>
              </a:rPr>
            </a:br>
            <a:r>
              <a:rPr lang="ja-JP" altLang="en-US" sz="2800" dirty="0">
                <a:solidFill>
                  <a:schemeClr val="bg1"/>
                </a:solidFill>
              </a:rPr>
              <a:t>パスワード</a:t>
            </a:r>
            <a:br>
              <a:rPr lang="en-US" altLang="ja-JP" sz="2800" dirty="0">
                <a:solidFill>
                  <a:schemeClr val="bg1"/>
                </a:solidFill>
              </a:rPr>
            </a:br>
            <a:r>
              <a:rPr lang="ja-JP" altLang="en-US" sz="2800" dirty="0">
                <a:solidFill>
                  <a:schemeClr val="bg1"/>
                </a:solidFill>
              </a:rPr>
              <a:t>変更</a:t>
            </a:r>
            <a:endParaRPr lang="en-US" altLang="ja-JP" sz="2800" dirty="0">
              <a:solidFill>
                <a:schemeClr val="bg1"/>
              </a:solidFill>
            </a:endParaRPr>
          </a:p>
        </p:txBody>
      </p:sp>
      <p:sp>
        <p:nvSpPr>
          <p:cNvPr id="24" name="テキスト ボックス 23">
            <a:extLst>
              <a:ext uri="{FF2B5EF4-FFF2-40B4-BE49-F238E27FC236}">
                <a16:creationId xmlns:a16="http://schemas.microsoft.com/office/drawing/2014/main" id="{A9E1BC06-9786-40A4-A10B-28654ED1CF19}"/>
              </a:ext>
            </a:extLst>
          </p:cNvPr>
          <p:cNvSpPr txBox="1"/>
          <p:nvPr/>
        </p:nvSpPr>
        <p:spPr>
          <a:xfrm>
            <a:off x="9298287" y="4598771"/>
            <a:ext cx="2346191" cy="1815882"/>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⑨</a:t>
            </a:r>
            <a:br>
              <a:rPr lang="en-US" altLang="ja-JP" sz="2800" dirty="0">
                <a:solidFill>
                  <a:schemeClr val="bg1"/>
                </a:solidFill>
              </a:rPr>
            </a:br>
            <a:r>
              <a:rPr lang="ja-JP" altLang="en-US" sz="2800" dirty="0">
                <a:solidFill>
                  <a:schemeClr val="bg1"/>
                </a:solidFill>
              </a:rPr>
              <a:t>確認</a:t>
            </a:r>
            <a:br>
              <a:rPr lang="en-US" altLang="ja-JP" sz="2800" dirty="0">
                <a:solidFill>
                  <a:schemeClr val="bg1"/>
                </a:solidFill>
              </a:rPr>
            </a:br>
            <a:r>
              <a:rPr lang="ja-JP" altLang="en-US" sz="2800" dirty="0">
                <a:solidFill>
                  <a:schemeClr val="bg1"/>
                </a:solidFill>
              </a:rPr>
              <a:t>パスワードの不一致</a:t>
            </a:r>
            <a:endParaRPr lang="en-US" altLang="ja-JP" sz="2800" dirty="0">
              <a:solidFill>
                <a:schemeClr val="bg1"/>
              </a:solidFill>
            </a:endParaRPr>
          </a:p>
        </p:txBody>
      </p:sp>
      <p:pic>
        <p:nvPicPr>
          <p:cNvPr id="5" name="図 4">
            <a:extLst>
              <a:ext uri="{FF2B5EF4-FFF2-40B4-BE49-F238E27FC236}">
                <a16:creationId xmlns:a16="http://schemas.microsoft.com/office/drawing/2014/main" id="{BD33E298-DCE7-4556-83FB-934A74584D1F}"/>
              </a:ext>
            </a:extLst>
          </p:cNvPr>
          <p:cNvPicPr>
            <a:picLocks noChangeAspect="1"/>
          </p:cNvPicPr>
          <p:nvPr/>
        </p:nvPicPr>
        <p:blipFill>
          <a:blip r:embed="rId3"/>
          <a:stretch>
            <a:fillRect/>
          </a:stretch>
        </p:blipFill>
        <p:spPr>
          <a:xfrm>
            <a:off x="1453980" y="1309296"/>
            <a:ext cx="2808476" cy="3014431"/>
          </a:xfrm>
          <a:prstGeom prst="rect">
            <a:avLst/>
          </a:prstGeom>
        </p:spPr>
      </p:pic>
      <p:pic>
        <p:nvPicPr>
          <p:cNvPr id="6" name="図 5">
            <a:extLst>
              <a:ext uri="{FF2B5EF4-FFF2-40B4-BE49-F238E27FC236}">
                <a16:creationId xmlns:a16="http://schemas.microsoft.com/office/drawing/2014/main" id="{CE639B4C-9A0C-4DA7-8E1A-E09706237C3A}"/>
              </a:ext>
            </a:extLst>
          </p:cNvPr>
          <p:cNvPicPr>
            <a:picLocks noChangeAspect="1"/>
          </p:cNvPicPr>
          <p:nvPr/>
        </p:nvPicPr>
        <p:blipFill>
          <a:blip r:embed="rId4"/>
          <a:stretch>
            <a:fillRect/>
          </a:stretch>
        </p:blipFill>
        <p:spPr>
          <a:xfrm>
            <a:off x="8967292" y="1246535"/>
            <a:ext cx="2929650" cy="3014431"/>
          </a:xfrm>
          <a:prstGeom prst="rect">
            <a:avLst/>
          </a:prstGeom>
        </p:spPr>
      </p:pic>
      <p:sp>
        <p:nvSpPr>
          <p:cNvPr id="7" name="吹き出し: 四角形 6">
            <a:extLst>
              <a:ext uri="{FF2B5EF4-FFF2-40B4-BE49-F238E27FC236}">
                <a16:creationId xmlns:a16="http://schemas.microsoft.com/office/drawing/2014/main" id="{FDF7ABFF-E4D6-455E-ACEA-BD18787A4C9C}"/>
              </a:ext>
            </a:extLst>
          </p:cNvPr>
          <p:cNvSpPr/>
          <p:nvPr/>
        </p:nvSpPr>
        <p:spPr>
          <a:xfrm>
            <a:off x="5453231" y="133350"/>
            <a:ext cx="6254195" cy="918210"/>
          </a:xfrm>
          <a:prstGeom prst="wedgeRectCallout">
            <a:avLst>
              <a:gd name="adj1" fmla="val 37646"/>
              <a:gd name="adj2" fmla="val 6665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F63A705D-A678-43EE-87FA-59E74B804F24}"/>
              </a:ext>
            </a:extLst>
          </p:cNvPr>
          <p:cNvSpPr txBox="1"/>
          <p:nvPr/>
        </p:nvSpPr>
        <p:spPr>
          <a:xfrm>
            <a:off x="5753101" y="392464"/>
            <a:ext cx="5619750" cy="646331"/>
          </a:xfrm>
          <a:prstGeom prst="rect">
            <a:avLst/>
          </a:prstGeom>
          <a:noFill/>
        </p:spPr>
        <p:txBody>
          <a:bodyPr wrap="square" rtlCol="0">
            <a:spAutoFit/>
          </a:bodyPr>
          <a:lstStyle/>
          <a:p>
            <a:r>
              <a:rPr lang="ja-JP" altLang="en-US"/>
              <a:t>現在はパスワードを忘れた場合の再設定機能がないため、今後メール送信機能と合わせて実装したい</a:t>
            </a:r>
            <a:endParaRPr kumimoji="1" lang="ja-JP" altLang="en-US" dirty="0"/>
          </a:p>
        </p:txBody>
      </p:sp>
      <p:pic>
        <p:nvPicPr>
          <p:cNvPr id="12" name="図 11">
            <a:extLst>
              <a:ext uri="{FF2B5EF4-FFF2-40B4-BE49-F238E27FC236}">
                <a16:creationId xmlns:a16="http://schemas.microsoft.com/office/drawing/2014/main" id="{3CB9F909-A9A1-4E4F-AAA3-BB15B9A25076}"/>
              </a:ext>
            </a:extLst>
          </p:cNvPr>
          <p:cNvPicPr>
            <a:picLocks noChangeAspect="1"/>
          </p:cNvPicPr>
          <p:nvPr/>
        </p:nvPicPr>
        <p:blipFill>
          <a:blip r:embed="rId5"/>
          <a:stretch>
            <a:fillRect/>
          </a:stretch>
        </p:blipFill>
        <p:spPr>
          <a:xfrm>
            <a:off x="5335046" y="1268945"/>
            <a:ext cx="2690291" cy="3054781"/>
          </a:xfrm>
          <a:prstGeom prst="rect">
            <a:avLst/>
          </a:prstGeom>
        </p:spPr>
      </p:pic>
    </p:spTree>
    <p:extLst>
      <p:ext uri="{BB962C8B-B14F-4D97-AF65-F5344CB8AC3E}">
        <p14:creationId xmlns:p14="http://schemas.microsoft.com/office/powerpoint/2010/main" val="4055252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0">
            <a:extLst>
              <a:ext uri="{FF2B5EF4-FFF2-40B4-BE49-F238E27FC236}">
                <a16:creationId xmlns:a16="http://schemas.microsoft.com/office/drawing/2014/main" id="{0218EC2F-B62F-499A-A883-F2C4E34A05CF}"/>
              </a:ext>
            </a:extLst>
          </p:cNvPr>
          <p:cNvSpPr/>
          <p:nvPr/>
        </p:nvSpPr>
        <p:spPr>
          <a:xfrm>
            <a:off x="315249" y="411480"/>
            <a:ext cx="2651760" cy="640080"/>
          </a:xfrm>
          <a:prstGeom prst="roundRect">
            <a:avLst>
              <a:gd name="adj" fmla="val 50000"/>
            </a:avLst>
          </a:prstGeom>
          <a:solidFill>
            <a:srgbClr val="F96167"/>
          </a:solidFill>
          <a:ln/>
        </p:spPr>
      </p:sp>
      <p:sp>
        <p:nvSpPr>
          <p:cNvPr id="4" name="Text 2"/>
          <p:cNvSpPr txBox="1"/>
          <p:nvPr/>
        </p:nvSpPr>
        <p:spPr>
          <a:xfrm>
            <a:off x="611561" y="411480"/>
            <a:ext cx="2355448" cy="640080"/>
          </a:xfrm>
          <a:prstGeom prst="rect">
            <a:avLst/>
          </a:prstGeom>
          <a:noFill/>
          <a:ln/>
        </p:spPr>
        <p:txBody>
          <a:bodyPr wrap="square" lIns="0" tIns="0" rIns="0" bIns="0" rtlCol="0" anchor="ctr"/>
          <a:lstStyle/>
          <a:p>
            <a:pPr marL="0" indent="0">
              <a:buNone/>
            </a:pPr>
            <a:r>
              <a:rPr lang="ja-JP" altLang="en-US" sz="3200" b="1" dirty="0">
                <a:solidFill>
                  <a:schemeClr val="bg1"/>
                </a:solidFill>
                <a:latin typeface="Calibri" panose="020F0502020204030204" pitchFamily="34" charset="0"/>
                <a:cs typeface="Calibri" panose="020F0502020204030204" pitchFamily="34" charset="0"/>
              </a:rPr>
              <a:t>画面の流れ</a:t>
            </a:r>
            <a:endParaRPr lang="en-US" sz="3200" dirty="0">
              <a:solidFill>
                <a:schemeClr val="bg1"/>
              </a:solidFill>
            </a:endParaRPr>
          </a:p>
        </p:txBody>
      </p:sp>
      <p:sp>
        <p:nvSpPr>
          <p:cNvPr id="35" name="四角形: 角を丸くする 34">
            <a:extLst>
              <a:ext uri="{FF2B5EF4-FFF2-40B4-BE49-F238E27FC236}">
                <a16:creationId xmlns:a16="http://schemas.microsoft.com/office/drawing/2014/main" id="{F93BC72D-BC07-4D4C-9F12-2ECA431AA5A1}"/>
              </a:ext>
            </a:extLst>
          </p:cNvPr>
          <p:cNvSpPr/>
          <p:nvPr/>
        </p:nvSpPr>
        <p:spPr>
          <a:xfrm>
            <a:off x="167818" y="2363096"/>
            <a:ext cx="1238486" cy="640080"/>
          </a:xfrm>
          <a:prstGeom prst="round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400" dirty="0"/>
              <a:t>利用者</a:t>
            </a:r>
          </a:p>
        </p:txBody>
      </p:sp>
      <p:sp>
        <p:nvSpPr>
          <p:cNvPr id="37" name="矢印: 右 36">
            <a:extLst>
              <a:ext uri="{FF2B5EF4-FFF2-40B4-BE49-F238E27FC236}">
                <a16:creationId xmlns:a16="http://schemas.microsoft.com/office/drawing/2014/main" id="{9D85BF9F-6FAE-4F32-996A-05663925294C}"/>
              </a:ext>
            </a:extLst>
          </p:cNvPr>
          <p:cNvSpPr/>
          <p:nvPr/>
        </p:nvSpPr>
        <p:spPr>
          <a:xfrm>
            <a:off x="4431126" y="1309296"/>
            <a:ext cx="622852" cy="2642122"/>
          </a:xfrm>
          <a:prstGeom prst="rightArrow">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2F3C7E"/>
              </a:solidFill>
            </a:endParaRPr>
          </a:p>
        </p:txBody>
      </p:sp>
      <p:sp>
        <p:nvSpPr>
          <p:cNvPr id="43" name="矢印: 右 42">
            <a:extLst>
              <a:ext uri="{FF2B5EF4-FFF2-40B4-BE49-F238E27FC236}">
                <a16:creationId xmlns:a16="http://schemas.microsoft.com/office/drawing/2014/main" id="{638AC535-21C9-46FC-9364-B0505A8CCEDC}"/>
              </a:ext>
            </a:extLst>
          </p:cNvPr>
          <p:cNvSpPr/>
          <p:nvPr/>
        </p:nvSpPr>
        <p:spPr>
          <a:xfrm>
            <a:off x="8251550" y="1309296"/>
            <a:ext cx="622852" cy="2642122"/>
          </a:xfrm>
          <a:prstGeom prst="rightArrow">
            <a:avLst/>
          </a:prstGeom>
          <a:solidFill>
            <a:srgbClr val="F8FB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2F3C7E"/>
              </a:solidFill>
            </a:endParaRPr>
          </a:p>
        </p:txBody>
      </p:sp>
      <p:sp>
        <p:nvSpPr>
          <p:cNvPr id="17" name="Text 7">
            <a:extLst>
              <a:ext uri="{FF2B5EF4-FFF2-40B4-BE49-F238E27FC236}">
                <a16:creationId xmlns:a16="http://schemas.microsoft.com/office/drawing/2014/main" id="{37B12581-F328-4463-AAE6-C94CDF2122AB}"/>
              </a:ext>
            </a:extLst>
          </p:cNvPr>
          <p:cNvSpPr txBox="1"/>
          <p:nvPr/>
        </p:nvSpPr>
        <p:spPr>
          <a:xfrm>
            <a:off x="1661267" y="4605586"/>
            <a:ext cx="2385032" cy="1797048"/>
          </a:xfrm>
          <a:prstGeom prst="rect">
            <a:avLst/>
          </a:prstGeom>
          <a:noFill/>
          <a:ln w="38100">
            <a:solidFill>
              <a:schemeClr val="bg1"/>
            </a:solidFill>
            <a:prstDash val="sysDash"/>
          </a:ln>
        </p:spPr>
        <p:txBody>
          <a:bodyPr wrap="square" lIns="0" tIns="0" rIns="0" bIns="0" rtlCol="0" anchor="ctr"/>
          <a:lstStyle/>
          <a:p>
            <a:pPr algn="ctr">
              <a:spcAft>
                <a:spcPts val="4200"/>
              </a:spcAft>
              <a:buSzPct val="100000"/>
            </a:pPr>
            <a:endParaRPr lang="en-US" sz="2800" dirty="0">
              <a:solidFill>
                <a:schemeClr val="bg1"/>
              </a:solidFill>
            </a:endParaRPr>
          </a:p>
        </p:txBody>
      </p:sp>
      <p:sp>
        <p:nvSpPr>
          <p:cNvPr id="20" name="Text 7">
            <a:extLst>
              <a:ext uri="{FF2B5EF4-FFF2-40B4-BE49-F238E27FC236}">
                <a16:creationId xmlns:a16="http://schemas.microsoft.com/office/drawing/2014/main" id="{679CC904-3359-4FD9-983C-F64C35ADC3C6}"/>
              </a:ext>
            </a:extLst>
          </p:cNvPr>
          <p:cNvSpPr txBox="1"/>
          <p:nvPr/>
        </p:nvSpPr>
        <p:spPr>
          <a:xfrm>
            <a:off x="9305657" y="4605586"/>
            <a:ext cx="2385032" cy="1797049"/>
          </a:xfrm>
          <a:prstGeom prst="rect">
            <a:avLst/>
          </a:prstGeom>
          <a:noFill/>
          <a:ln w="38100">
            <a:solidFill>
              <a:schemeClr val="bg1"/>
            </a:solidFill>
            <a:prstDash val="sysDash"/>
          </a:ln>
        </p:spPr>
        <p:txBody>
          <a:bodyPr wrap="square" lIns="0" tIns="0" rIns="0" bIns="0" rtlCol="0" anchor="ctr"/>
          <a:lstStyle/>
          <a:p>
            <a:pPr>
              <a:spcAft>
                <a:spcPts val="4200"/>
              </a:spcAft>
              <a:buSzPct val="100000"/>
            </a:pPr>
            <a:endParaRPr lang="en-US" sz="2800" dirty="0">
              <a:solidFill>
                <a:schemeClr val="bg1"/>
              </a:solidFill>
            </a:endParaRPr>
          </a:p>
        </p:txBody>
      </p:sp>
      <p:sp>
        <p:nvSpPr>
          <p:cNvPr id="21" name="Text 7">
            <a:extLst>
              <a:ext uri="{FF2B5EF4-FFF2-40B4-BE49-F238E27FC236}">
                <a16:creationId xmlns:a16="http://schemas.microsoft.com/office/drawing/2014/main" id="{A580E456-C35B-4880-B99F-3CF59A749F0E}"/>
              </a:ext>
            </a:extLst>
          </p:cNvPr>
          <p:cNvSpPr txBox="1"/>
          <p:nvPr/>
        </p:nvSpPr>
        <p:spPr>
          <a:xfrm>
            <a:off x="5506693" y="4605586"/>
            <a:ext cx="2385032" cy="1797049"/>
          </a:xfrm>
          <a:prstGeom prst="rect">
            <a:avLst/>
          </a:prstGeom>
          <a:noFill/>
          <a:ln w="38100">
            <a:solidFill>
              <a:schemeClr val="bg1"/>
            </a:solidFill>
            <a:prstDash val="sysDash"/>
          </a:ln>
        </p:spPr>
        <p:txBody>
          <a:bodyPr wrap="square" lIns="0" tIns="0" rIns="0" bIns="0" rtlCol="0" anchor="ctr"/>
          <a:lstStyle/>
          <a:p>
            <a:pPr>
              <a:spcAft>
                <a:spcPts val="4200"/>
              </a:spcAft>
              <a:buSzPct val="100000"/>
            </a:pPr>
            <a:endParaRPr lang="en-US" sz="2800" dirty="0">
              <a:solidFill>
                <a:schemeClr val="bg1"/>
              </a:solidFill>
            </a:endParaRPr>
          </a:p>
        </p:txBody>
      </p:sp>
      <p:sp>
        <p:nvSpPr>
          <p:cNvPr id="2" name="テキスト ボックス 1">
            <a:extLst>
              <a:ext uri="{FF2B5EF4-FFF2-40B4-BE49-F238E27FC236}">
                <a16:creationId xmlns:a16="http://schemas.microsoft.com/office/drawing/2014/main" id="{BC2D8F77-3471-4779-9298-D2C5432179CA}"/>
              </a:ext>
            </a:extLst>
          </p:cNvPr>
          <p:cNvSpPr txBox="1"/>
          <p:nvPr/>
        </p:nvSpPr>
        <p:spPr>
          <a:xfrm>
            <a:off x="1680687" y="4693195"/>
            <a:ext cx="2346191" cy="1815882"/>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⑨</a:t>
            </a:r>
            <a:br>
              <a:rPr lang="en-US" altLang="ja-JP" sz="2800" dirty="0">
                <a:solidFill>
                  <a:schemeClr val="bg1"/>
                </a:solidFill>
              </a:rPr>
            </a:br>
            <a:r>
              <a:rPr lang="ja-JP" altLang="en-US" sz="2800" dirty="0">
                <a:solidFill>
                  <a:schemeClr val="bg1"/>
                </a:solidFill>
              </a:rPr>
              <a:t>退会手続き</a:t>
            </a:r>
            <a:br>
              <a:rPr lang="en-US" altLang="ja-JP" sz="2800" dirty="0">
                <a:solidFill>
                  <a:schemeClr val="bg1"/>
                </a:solidFill>
              </a:rPr>
            </a:br>
            <a:r>
              <a:rPr lang="ja-JP" altLang="en-US" sz="2800" dirty="0">
                <a:solidFill>
                  <a:schemeClr val="bg1"/>
                </a:solidFill>
              </a:rPr>
              <a:t>パスワード</a:t>
            </a:r>
            <a:br>
              <a:rPr lang="en-US" altLang="ja-JP" sz="2800" dirty="0">
                <a:solidFill>
                  <a:schemeClr val="bg1"/>
                </a:solidFill>
              </a:rPr>
            </a:br>
            <a:r>
              <a:rPr lang="ja-JP" altLang="en-US" sz="2800" dirty="0">
                <a:solidFill>
                  <a:schemeClr val="bg1"/>
                </a:solidFill>
              </a:rPr>
              <a:t>入力</a:t>
            </a:r>
            <a:endParaRPr lang="en-US" altLang="ja-JP" sz="2800" dirty="0">
              <a:solidFill>
                <a:schemeClr val="bg1"/>
              </a:solidFill>
            </a:endParaRPr>
          </a:p>
        </p:txBody>
      </p:sp>
      <p:sp>
        <p:nvSpPr>
          <p:cNvPr id="23" name="テキスト ボックス 22">
            <a:extLst>
              <a:ext uri="{FF2B5EF4-FFF2-40B4-BE49-F238E27FC236}">
                <a16:creationId xmlns:a16="http://schemas.microsoft.com/office/drawing/2014/main" id="{5B1320F8-D1BC-4B44-AC13-6F1315E6C6C3}"/>
              </a:ext>
            </a:extLst>
          </p:cNvPr>
          <p:cNvSpPr txBox="1"/>
          <p:nvPr/>
        </p:nvSpPr>
        <p:spPr>
          <a:xfrm>
            <a:off x="5487272" y="4697864"/>
            <a:ext cx="2346191" cy="1384995"/>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⑩</a:t>
            </a:r>
            <a:br>
              <a:rPr lang="en-US" altLang="ja-JP" sz="2800" dirty="0">
                <a:solidFill>
                  <a:schemeClr val="bg1"/>
                </a:solidFill>
              </a:rPr>
            </a:br>
            <a:r>
              <a:rPr lang="ja-JP" altLang="en-US" sz="2800" dirty="0">
                <a:solidFill>
                  <a:schemeClr val="bg1"/>
                </a:solidFill>
              </a:rPr>
              <a:t>ダイヤル</a:t>
            </a:r>
            <a:br>
              <a:rPr lang="en-US" altLang="ja-JP" sz="2800" dirty="0">
                <a:solidFill>
                  <a:schemeClr val="bg1"/>
                </a:solidFill>
              </a:rPr>
            </a:br>
            <a:r>
              <a:rPr lang="ja-JP" altLang="en-US" sz="2800" dirty="0">
                <a:solidFill>
                  <a:schemeClr val="bg1"/>
                </a:solidFill>
              </a:rPr>
              <a:t>ボックス</a:t>
            </a:r>
            <a:endParaRPr lang="en-US" altLang="ja-JP" sz="2800" dirty="0">
              <a:solidFill>
                <a:schemeClr val="bg1"/>
              </a:solidFill>
            </a:endParaRPr>
          </a:p>
        </p:txBody>
      </p:sp>
      <p:sp>
        <p:nvSpPr>
          <p:cNvPr id="24" name="テキスト ボックス 23">
            <a:extLst>
              <a:ext uri="{FF2B5EF4-FFF2-40B4-BE49-F238E27FC236}">
                <a16:creationId xmlns:a16="http://schemas.microsoft.com/office/drawing/2014/main" id="{A9E1BC06-9786-40A4-A10B-28654ED1CF19}"/>
              </a:ext>
            </a:extLst>
          </p:cNvPr>
          <p:cNvSpPr txBox="1"/>
          <p:nvPr/>
        </p:nvSpPr>
        <p:spPr>
          <a:xfrm>
            <a:off x="9298287" y="4598771"/>
            <a:ext cx="2346191" cy="1384995"/>
          </a:xfrm>
          <a:prstGeom prst="rect">
            <a:avLst/>
          </a:prstGeom>
          <a:noFill/>
        </p:spPr>
        <p:txBody>
          <a:bodyPr wrap="square" rtlCol="0">
            <a:spAutoFit/>
          </a:bodyPr>
          <a:lstStyle/>
          <a:p>
            <a:pPr algn="ctr">
              <a:spcAft>
                <a:spcPts val="4200"/>
              </a:spcAft>
              <a:buSzPct val="100000"/>
            </a:pPr>
            <a:r>
              <a:rPr lang="ja-JP" altLang="en-US" sz="2800" dirty="0">
                <a:solidFill>
                  <a:schemeClr val="bg1"/>
                </a:solidFill>
              </a:rPr>
              <a:t>⑪</a:t>
            </a:r>
            <a:br>
              <a:rPr lang="en-US" altLang="ja-JP" sz="2800" dirty="0">
                <a:solidFill>
                  <a:schemeClr val="bg1"/>
                </a:solidFill>
              </a:rPr>
            </a:br>
            <a:r>
              <a:rPr lang="ja-JP" altLang="en-US" sz="2800" dirty="0">
                <a:solidFill>
                  <a:schemeClr val="bg1"/>
                </a:solidFill>
              </a:rPr>
              <a:t>ホーム画面</a:t>
            </a:r>
            <a:br>
              <a:rPr lang="en-US" altLang="ja-JP" sz="2800" dirty="0">
                <a:solidFill>
                  <a:schemeClr val="bg1"/>
                </a:solidFill>
              </a:rPr>
            </a:br>
            <a:r>
              <a:rPr lang="ja-JP" altLang="en-US" sz="2800" dirty="0">
                <a:solidFill>
                  <a:schemeClr val="bg1"/>
                </a:solidFill>
              </a:rPr>
              <a:t>に戻る</a:t>
            </a:r>
            <a:endParaRPr lang="en-US" altLang="ja-JP" sz="2800" dirty="0">
              <a:solidFill>
                <a:schemeClr val="bg1"/>
              </a:solidFill>
            </a:endParaRPr>
          </a:p>
        </p:txBody>
      </p:sp>
      <p:pic>
        <p:nvPicPr>
          <p:cNvPr id="3" name="図 2">
            <a:extLst>
              <a:ext uri="{FF2B5EF4-FFF2-40B4-BE49-F238E27FC236}">
                <a16:creationId xmlns:a16="http://schemas.microsoft.com/office/drawing/2014/main" id="{9C16A671-3DBB-4B6A-AA15-3EE2F9B2E639}"/>
              </a:ext>
            </a:extLst>
          </p:cNvPr>
          <p:cNvPicPr>
            <a:picLocks noChangeAspect="1"/>
          </p:cNvPicPr>
          <p:nvPr/>
        </p:nvPicPr>
        <p:blipFill>
          <a:blip r:embed="rId3"/>
          <a:stretch>
            <a:fillRect/>
          </a:stretch>
        </p:blipFill>
        <p:spPr>
          <a:xfrm>
            <a:off x="1438281" y="1269180"/>
            <a:ext cx="2952912" cy="597719"/>
          </a:xfrm>
          <a:prstGeom prst="rect">
            <a:avLst/>
          </a:prstGeom>
        </p:spPr>
      </p:pic>
      <p:pic>
        <p:nvPicPr>
          <p:cNvPr id="9" name="図 8">
            <a:extLst>
              <a:ext uri="{FF2B5EF4-FFF2-40B4-BE49-F238E27FC236}">
                <a16:creationId xmlns:a16="http://schemas.microsoft.com/office/drawing/2014/main" id="{9960434B-9467-4FBB-BF68-DA221C769234}"/>
              </a:ext>
            </a:extLst>
          </p:cNvPr>
          <p:cNvPicPr>
            <a:picLocks noChangeAspect="1"/>
          </p:cNvPicPr>
          <p:nvPr/>
        </p:nvPicPr>
        <p:blipFill>
          <a:blip r:embed="rId4"/>
          <a:stretch>
            <a:fillRect/>
          </a:stretch>
        </p:blipFill>
        <p:spPr>
          <a:xfrm>
            <a:off x="1449336" y="1900325"/>
            <a:ext cx="2941858" cy="2462514"/>
          </a:xfrm>
          <a:prstGeom prst="rect">
            <a:avLst/>
          </a:prstGeom>
        </p:spPr>
      </p:pic>
      <p:pic>
        <p:nvPicPr>
          <p:cNvPr id="13" name="図 12">
            <a:extLst>
              <a:ext uri="{FF2B5EF4-FFF2-40B4-BE49-F238E27FC236}">
                <a16:creationId xmlns:a16="http://schemas.microsoft.com/office/drawing/2014/main" id="{A3757EB7-BCE0-4D77-BCFF-6B22BF443B99}"/>
              </a:ext>
            </a:extLst>
          </p:cNvPr>
          <p:cNvPicPr>
            <a:picLocks noChangeAspect="1"/>
          </p:cNvPicPr>
          <p:nvPr/>
        </p:nvPicPr>
        <p:blipFill>
          <a:blip r:embed="rId5"/>
          <a:stretch>
            <a:fillRect/>
          </a:stretch>
        </p:blipFill>
        <p:spPr>
          <a:xfrm>
            <a:off x="5582522" y="3509419"/>
            <a:ext cx="2133785" cy="883997"/>
          </a:xfrm>
          <a:prstGeom prst="rect">
            <a:avLst/>
          </a:prstGeom>
        </p:spPr>
      </p:pic>
      <p:pic>
        <p:nvPicPr>
          <p:cNvPr id="14" name="図 13">
            <a:extLst>
              <a:ext uri="{FF2B5EF4-FFF2-40B4-BE49-F238E27FC236}">
                <a16:creationId xmlns:a16="http://schemas.microsoft.com/office/drawing/2014/main" id="{C6981AAA-9979-48BA-A41E-6434988A5EA0}"/>
              </a:ext>
            </a:extLst>
          </p:cNvPr>
          <p:cNvPicPr>
            <a:picLocks noChangeAspect="1"/>
          </p:cNvPicPr>
          <p:nvPr/>
        </p:nvPicPr>
        <p:blipFill>
          <a:blip r:embed="rId6"/>
          <a:stretch>
            <a:fillRect/>
          </a:stretch>
        </p:blipFill>
        <p:spPr>
          <a:xfrm>
            <a:off x="8997322" y="1332735"/>
            <a:ext cx="2975876" cy="2966605"/>
          </a:xfrm>
          <a:prstGeom prst="rect">
            <a:avLst/>
          </a:prstGeom>
        </p:spPr>
      </p:pic>
      <p:pic>
        <p:nvPicPr>
          <p:cNvPr id="15" name="図 14">
            <a:extLst>
              <a:ext uri="{FF2B5EF4-FFF2-40B4-BE49-F238E27FC236}">
                <a16:creationId xmlns:a16="http://schemas.microsoft.com/office/drawing/2014/main" id="{201A19DD-D90B-4714-8F18-C8E11B10CBB4}"/>
              </a:ext>
            </a:extLst>
          </p:cNvPr>
          <p:cNvPicPr>
            <a:picLocks noChangeAspect="1"/>
          </p:cNvPicPr>
          <p:nvPr/>
        </p:nvPicPr>
        <p:blipFill>
          <a:blip r:embed="rId7"/>
          <a:stretch>
            <a:fillRect/>
          </a:stretch>
        </p:blipFill>
        <p:spPr>
          <a:xfrm>
            <a:off x="5557027" y="1539901"/>
            <a:ext cx="1983502" cy="422879"/>
          </a:xfrm>
          <a:prstGeom prst="rect">
            <a:avLst/>
          </a:prstGeom>
        </p:spPr>
      </p:pic>
      <p:pic>
        <p:nvPicPr>
          <p:cNvPr id="16" name="図 15">
            <a:extLst>
              <a:ext uri="{FF2B5EF4-FFF2-40B4-BE49-F238E27FC236}">
                <a16:creationId xmlns:a16="http://schemas.microsoft.com/office/drawing/2014/main" id="{A5A1C249-DD97-4734-B480-AD5B1F93434A}"/>
              </a:ext>
            </a:extLst>
          </p:cNvPr>
          <p:cNvPicPr>
            <a:picLocks noChangeAspect="1"/>
          </p:cNvPicPr>
          <p:nvPr/>
        </p:nvPicPr>
        <p:blipFill>
          <a:blip r:embed="rId8"/>
          <a:stretch>
            <a:fillRect/>
          </a:stretch>
        </p:blipFill>
        <p:spPr>
          <a:xfrm>
            <a:off x="5589221" y="2526190"/>
            <a:ext cx="2127086" cy="419820"/>
          </a:xfrm>
          <a:prstGeom prst="rect">
            <a:avLst/>
          </a:prstGeom>
        </p:spPr>
      </p:pic>
    </p:spTree>
    <p:extLst>
      <p:ext uri="{BB962C8B-B14F-4D97-AF65-F5344CB8AC3E}">
        <p14:creationId xmlns:p14="http://schemas.microsoft.com/office/powerpoint/2010/main" val="3752111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9" name="Shape 0">
            <a:extLst>
              <a:ext uri="{FF2B5EF4-FFF2-40B4-BE49-F238E27FC236}">
                <a16:creationId xmlns:a16="http://schemas.microsoft.com/office/drawing/2014/main" id="{E6FAF425-0EF5-48E5-A019-F1F54E49E739}"/>
              </a:ext>
            </a:extLst>
          </p:cNvPr>
          <p:cNvSpPr/>
          <p:nvPr/>
        </p:nvSpPr>
        <p:spPr>
          <a:xfrm>
            <a:off x="9120850" y="-937833"/>
            <a:ext cx="4869469" cy="4312607"/>
          </a:xfrm>
          <a:prstGeom prst="ellipse">
            <a:avLst/>
          </a:prstGeom>
          <a:solidFill>
            <a:srgbClr val="F96167">
              <a:alpha val="22000"/>
            </a:srgbClr>
          </a:solidFill>
          <a:ln/>
        </p:spPr>
      </p:sp>
      <p:sp>
        <p:nvSpPr>
          <p:cNvPr id="8" name="四角形: 角を丸くする 7">
            <a:extLst>
              <a:ext uri="{FF2B5EF4-FFF2-40B4-BE49-F238E27FC236}">
                <a16:creationId xmlns:a16="http://schemas.microsoft.com/office/drawing/2014/main" id="{34D225DA-6AD9-4CB2-A2E7-4D2FBBD615EA}"/>
              </a:ext>
            </a:extLst>
          </p:cNvPr>
          <p:cNvSpPr/>
          <p:nvPr/>
        </p:nvSpPr>
        <p:spPr>
          <a:xfrm>
            <a:off x="2506610" y="826410"/>
            <a:ext cx="7381461" cy="3604591"/>
          </a:xfrm>
          <a:prstGeom prst="roundRect">
            <a:avLst/>
          </a:prstGeom>
          <a:solidFill>
            <a:srgbClr val="2F3C7E"/>
          </a:solidFill>
          <a:ln>
            <a:solidFill>
              <a:srgbClr val="F8FB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EB2858CF-2935-4F1A-9E83-17C65B594561}"/>
              </a:ext>
            </a:extLst>
          </p:cNvPr>
          <p:cNvGrpSpPr/>
          <p:nvPr/>
        </p:nvGrpSpPr>
        <p:grpSpPr>
          <a:xfrm>
            <a:off x="5292215" y="1052111"/>
            <a:ext cx="1810248" cy="1827475"/>
            <a:chOff x="5394959" y="1463040"/>
            <a:chExt cx="1371601" cy="1371600"/>
          </a:xfrm>
        </p:grpSpPr>
        <p:sp>
          <p:nvSpPr>
            <p:cNvPr id="2" name="Shape 0"/>
            <p:cNvSpPr/>
            <p:nvPr/>
          </p:nvSpPr>
          <p:spPr>
            <a:xfrm>
              <a:off x="5394960" y="1463040"/>
              <a:ext cx="1371600" cy="1371600"/>
            </a:xfrm>
            <a:prstGeom prst="ellipse">
              <a:avLst/>
            </a:prstGeom>
            <a:solidFill>
              <a:schemeClr val="bg1"/>
            </a:solidFill>
            <a:ln>
              <a:solidFill>
                <a:srgbClr val="ED5551"/>
              </a:solidFill>
            </a:ln>
          </p:spPr>
        </p:sp>
        <p:sp>
          <p:nvSpPr>
            <p:cNvPr id="3" name="Text 1"/>
            <p:cNvSpPr txBox="1"/>
            <p:nvPr/>
          </p:nvSpPr>
          <p:spPr>
            <a:xfrm>
              <a:off x="5394959" y="1554480"/>
              <a:ext cx="1371600" cy="1257631"/>
            </a:xfrm>
            <a:prstGeom prst="rect">
              <a:avLst/>
            </a:prstGeom>
            <a:noFill/>
            <a:ln/>
          </p:spPr>
          <p:txBody>
            <a:bodyPr wrap="square" lIns="0" tIns="0" rIns="0" bIns="0" rtlCol="0" anchor="ctr"/>
            <a:lstStyle/>
            <a:p>
              <a:pPr marL="0" indent="0" algn="ctr">
                <a:buNone/>
              </a:pPr>
              <a:r>
                <a:rPr lang="en-US" sz="4200" dirty="0">
                  <a:solidFill>
                    <a:srgbClr val="2F3C7E"/>
                  </a:solidFill>
                </a:rPr>
                <a:t>🖥️</a:t>
              </a:r>
            </a:p>
          </p:txBody>
        </p:sp>
      </p:grpSp>
      <p:sp>
        <p:nvSpPr>
          <p:cNvPr id="4" name="Text 2"/>
          <p:cNvSpPr txBox="1"/>
          <p:nvPr/>
        </p:nvSpPr>
        <p:spPr>
          <a:xfrm>
            <a:off x="4632102" y="3105286"/>
            <a:ext cx="3130475" cy="914400"/>
          </a:xfrm>
          <a:prstGeom prst="rect">
            <a:avLst/>
          </a:prstGeom>
          <a:noFill/>
          <a:ln/>
        </p:spPr>
        <p:txBody>
          <a:bodyPr wrap="square" lIns="0" tIns="0" rIns="0" bIns="0" rtlCol="0" anchor="ctr"/>
          <a:lstStyle/>
          <a:p>
            <a:pPr marL="0" indent="0" algn="ctr">
              <a:buNone/>
            </a:pPr>
            <a:r>
              <a:rPr lang="en-US" sz="4800" b="1" dirty="0">
                <a:solidFill>
                  <a:schemeClr val="bg1"/>
                </a:solidFill>
                <a:latin typeface="Calibri" panose="020F0502020204030204" pitchFamily="34" charset="0"/>
                <a:ea typeface="Calibri" panose="020F0502020204030204" pitchFamily="34" charset="0"/>
                <a:cs typeface="Calibri" panose="020F0502020204030204" pitchFamily="34" charset="0"/>
              </a:rPr>
              <a:t>デモ</a:t>
            </a:r>
            <a:endParaRPr lang="en-US" sz="4800" dirty="0">
              <a:solidFill>
                <a:schemeClr val="bg1"/>
              </a:solidFill>
            </a:endParaRPr>
          </a:p>
        </p:txBody>
      </p:sp>
      <p:sp>
        <p:nvSpPr>
          <p:cNvPr id="5" name="Text 3"/>
          <p:cNvSpPr txBox="1"/>
          <p:nvPr/>
        </p:nvSpPr>
        <p:spPr>
          <a:xfrm>
            <a:off x="75234" y="5030028"/>
            <a:ext cx="12041529" cy="548640"/>
          </a:xfrm>
          <a:prstGeom prst="rect">
            <a:avLst/>
          </a:prstGeom>
          <a:noFill/>
          <a:ln/>
        </p:spPr>
        <p:txBody>
          <a:bodyPr wrap="square" lIns="0" tIns="0" rIns="0" bIns="0" rtlCol="0" anchor="ctr"/>
          <a:lstStyle/>
          <a:p>
            <a:pPr marL="0" indent="0" algn="ctr">
              <a:buNone/>
            </a:pPr>
            <a:r>
              <a:rPr lang="en-US" sz="4000" u="sng" dirty="0">
                <a:solidFill>
                  <a:schemeClr val="bg1"/>
                </a:solidFill>
                <a:latin typeface="Calibri" pitchFamily="34" charset="0"/>
                <a:ea typeface="Calibri" pitchFamily="34" charset="-122"/>
                <a:cs typeface="Calibri" pitchFamily="34" charset="-120"/>
              </a:rPr>
              <a:t>ログイン</a:t>
            </a:r>
            <a:r>
              <a:rPr lang="en-US" sz="4000" dirty="0">
                <a:solidFill>
                  <a:schemeClr val="bg1"/>
                </a:solidFill>
                <a:latin typeface="Calibri" pitchFamily="34" charset="0"/>
                <a:ea typeface="Calibri" pitchFamily="34" charset="-122"/>
                <a:cs typeface="Calibri" pitchFamily="34" charset="-120"/>
              </a:rPr>
              <a:t> → </a:t>
            </a:r>
            <a:r>
              <a:rPr lang="en-US" sz="4000" u="sng" dirty="0">
                <a:solidFill>
                  <a:schemeClr val="bg1"/>
                </a:solidFill>
                <a:latin typeface="Calibri" pitchFamily="34" charset="0"/>
                <a:ea typeface="Calibri" pitchFamily="34" charset="-122"/>
                <a:cs typeface="Calibri" pitchFamily="34" charset="-120"/>
              </a:rPr>
              <a:t>クイズ</a:t>
            </a:r>
            <a:r>
              <a:rPr lang="en-US" sz="4000" dirty="0">
                <a:solidFill>
                  <a:schemeClr val="bg1"/>
                </a:solidFill>
                <a:latin typeface="Calibri" pitchFamily="34" charset="0"/>
                <a:ea typeface="Calibri" pitchFamily="34" charset="-122"/>
                <a:cs typeface="Calibri" pitchFamily="34" charset="-120"/>
              </a:rPr>
              <a:t> → </a:t>
            </a:r>
            <a:r>
              <a:rPr lang="ja-JP" altLang="en-US" sz="4000" u="sng" dirty="0">
                <a:solidFill>
                  <a:schemeClr val="bg1"/>
                </a:solidFill>
                <a:latin typeface="Calibri" pitchFamily="34" charset="0"/>
                <a:ea typeface="Calibri" pitchFamily="34" charset="-122"/>
                <a:cs typeface="Calibri" pitchFamily="34" charset="-120"/>
              </a:rPr>
              <a:t>退会手続き</a:t>
            </a:r>
            <a:r>
              <a:rPr lang="en-US" sz="4000" dirty="0">
                <a:solidFill>
                  <a:schemeClr val="bg1"/>
                </a:solidFill>
                <a:latin typeface="Calibri" pitchFamily="34" charset="0"/>
                <a:ea typeface="Calibri" pitchFamily="34" charset="-122"/>
                <a:cs typeface="Calibri" pitchFamily="34" charset="-120"/>
              </a:rPr>
              <a:t>を</a:t>
            </a:r>
            <a:br>
              <a:rPr lang="en-US" sz="4000" dirty="0">
                <a:solidFill>
                  <a:schemeClr val="bg1"/>
                </a:solidFill>
                <a:latin typeface="Calibri" pitchFamily="34" charset="0"/>
                <a:ea typeface="Calibri" pitchFamily="34" charset="-122"/>
                <a:cs typeface="Calibri" pitchFamily="34" charset="-120"/>
              </a:rPr>
            </a:br>
            <a:r>
              <a:rPr lang="en-US" sz="4000" dirty="0" err="1">
                <a:solidFill>
                  <a:schemeClr val="bg1"/>
                </a:solidFill>
                <a:latin typeface="Calibri" pitchFamily="34" charset="0"/>
                <a:ea typeface="Calibri" pitchFamily="34" charset="-122"/>
                <a:cs typeface="Calibri" pitchFamily="34" charset="-120"/>
              </a:rPr>
              <a:t>実際に操作して紹介します</a:t>
            </a:r>
            <a:endParaRPr lang="en-US" sz="4000" dirty="0">
              <a:solidFill>
                <a:schemeClr val="bg1"/>
              </a:solidFill>
            </a:endParaRPr>
          </a:p>
        </p:txBody>
      </p:sp>
      <p:sp>
        <p:nvSpPr>
          <p:cNvPr id="6" name="Text 4"/>
          <p:cNvSpPr txBox="1"/>
          <p:nvPr/>
        </p:nvSpPr>
        <p:spPr>
          <a:xfrm>
            <a:off x="11521440" y="6446520"/>
            <a:ext cx="457200" cy="320040"/>
          </a:xfrm>
          <a:prstGeom prst="rect">
            <a:avLst/>
          </a:prstGeom>
          <a:noFill/>
          <a:ln/>
        </p:spPr>
        <p:txBody>
          <a:bodyPr wrap="square" lIns="0" tIns="0" rIns="0" bIns="0" rtlCol="0" anchor="ctr"/>
          <a:lstStyle/>
          <a:p>
            <a:pPr marL="0" indent="0" algn="r">
              <a:buNone/>
            </a:pPr>
            <a:r>
              <a:rPr lang="en-US" sz="1000" dirty="0">
                <a:solidFill>
                  <a:srgbClr val="5A5A5A"/>
                </a:solidFill>
                <a:latin typeface="Calibri" pitchFamily="34" charset="0"/>
                <a:ea typeface="Calibri" pitchFamily="34" charset="-122"/>
                <a:cs typeface="Calibri" pitchFamily="34" charset="-120"/>
              </a:rPr>
              <a:t>5</a:t>
            </a:r>
            <a:endParaRPr lang="en-US" sz="1000" dirty="0"/>
          </a:p>
        </p:txBody>
      </p:sp>
      <p:sp>
        <p:nvSpPr>
          <p:cNvPr id="10" name="Shape 1">
            <a:extLst>
              <a:ext uri="{FF2B5EF4-FFF2-40B4-BE49-F238E27FC236}">
                <a16:creationId xmlns:a16="http://schemas.microsoft.com/office/drawing/2014/main" id="{0F8DF4E9-FB0D-493A-8DC7-5BAD8FDB1030}"/>
              </a:ext>
            </a:extLst>
          </p:cNvPr>
          <p:cNvSpPr/>
          <p:nvPr/>
        </p:nvSpPr>
        <p:spPr>
          <a:xfrm>
            <a:off x="-1371600" y="4114800"/>
            <a:ext cx="4114800" cy="4114800"/>
          </a:xfrm>
          <a:prstGeom prst="ellipse">
            <a:avLst/>
          </a:prstGeom>
          <a:solidFill>
            <a:srgbClr val="F9E795">
              <a:alpha val="15000"/>
            </a:srgbClr>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1" name="Shape 0">
            <a:extLst>
              <a:ext uri="{FF2B5EF4-FFF2-40B4-BE49-F238E27FC236}">
                <a16:creationId xmlns:a16="http://schemas.microsoft.com/office/drawing/2014/main" id="{049F9987-06A7-4211-8EBD-2F90C4DE2C56}"/>
              </a:ext>
            </a:extLst>
          </p:cNvPr>
          <p:cNvSpPr/>
          <p:nvPr/>
        </p:nvSpPr>
        <p:spPr>
          <a:xfrm>
            <a:off x="510443" y="371475"/>
            <a:ext cx="4096281" cy="640080"/>
          </a:xfrm>
          <a:prstGeom prst="roundRect">
            <a:avLst>
              <a:gd name="adj" fmla="val 50000"/>
            </a:avLst>
          </a:prstGeom>
          <a:solidFill>
            <a:srgbClr val="F96167"/>
          </a:solidFill>
          <a:ln/>
        </p:spPr>
        <p:txBody>
          <a:bodyPr/>
          <a:lstStyle/>
          <a:p>
            <a:r>
              <a:rPr lang="en-US" altLang="ja-JP" sz="3200" b="1" dirty="0" err="1">
                <a:solidFill>
                  <a:schemeClr val="bg1"/>
                </a:solidFill>
                <a:latin typeface="Calibri" panose="020F0502020204030204" pitchFamily="34" charset="0"/>
                <a:ea typeface="Calibri" panose="020F0502020204030204" pitchFamily="34" charset="0"/>
                <a:cs typeface="Calibri" panose="020F0502020204030204" pitchFamily="34" charset="0"/>
              </a:rPr>
              <a:t>こだわったポイント</a:t>
            </a:r>
            <a:endParaRPr lang="ja-JP" altLang="en-US" sz="3200" dirty="0"/>
          </a:p>
        </p:txBody>
      </p:sp>
      <p:sp>
        <p:nvSpPr>
          <p:cNvPr id="4" name="Text 2"/>
          <p:cNvSpPr txBox="1"/>
          <p:nvPr/>
        </p:nvSpPr>
        <p:spPr>
          <a:xfrm>
            <a:off x="948642" y="971550"/>
            <a:ext cx="3794760" cy="548640"/>
          </a:xfrm>
          <a:prstGeom prst="rect">
            <a:avLst/>
          </a:prstGeom>
          <a:noFill/>
          <a:ln/>
        </p:spPr>
        <p:txBody>
          <a:bodyPr wrap="square" lIns="0" tIns="0" rIns="0" bIns="0" rtlCol="0" anchor="ctr"/>
          <a:lstStyle/>
          <a:p>
            <a:pPr marL="0" indent="0">
              <a:buNone/>
            </a:pPr>
            <a:endParaRPr lang="en-US" sz="3200" dirty="0">
              <a:solidFill>
                <a:schemeClr val="bg1"/>
              </a:solidFill>
            </a:endParaRPr>
          </a:p>
        </p:txBody>
      </p:sp>
      <p:sp>
        <p:nvSpPr>
          <p:cNvPr id="5" name="Shape 3"/>
          <p:cNvSpPr/>
          <p:nvPr/>
        </p:nvSpPr>
        <p:spPr>
          <a:xfrm>
            <a:off x="457198" y="1520190"/>
            <a:ext cx="3566160" cy="4235910"/>
          </a:xfrm>
          <a:prstGeom prst="roundRect">
            <a:avLst>
              <a:gd name="adj" fmla="val 3077"/>
            </a:avLst>
          </a:prstGeom>
          <a:solidFill>
            <a:schemeClr val="bg1"/>
          </a:solidFill>
          <a:ln w="12700">
            <a:solidFill>
              <a:srgbClr val="0E4D3C"/>
            </a:solidFill>
            <a:prstDash val="solid"/>
          </a:ln>
        </p:spPr>
      </p:sp>
      <p:sp>
        <p:nvSpPr>
          <p:cNvPr id="6" name="Shape 4"/>
          <p:cNvSpPr/>
          <p:nvPr/>
        </p:nvSpPr>
        <p:spPr>
          <a:xfrm>
            <a:off x="1703022" y="1863741"/>
            <a:ext cx="1005840" cy="1005840"/>
          </a:xfrm>
          <a:prstGeom prst="ellipse">
            <a:avLst/>
          </a:prstGeom>
          <a:solidFill>
            <a:srgbClr val="F96167"/>
          </a:solidFill>
          <a:ln/>
        </p:spPr>
      </p:sp>
      <p:sp>
        <p:nvSpPr>
          <p:cNvPr id="7" name="Text 5"/>
          <p:cNvSpPr txBox="1"/>
          <p:nvPr/>
        </p:nvSpPr>
        <p:spPr>
          <a:xfrm>
            <a:off x="1668684" y="1897380"/>
            <a:ext cx="1005840" cy="1005840"/>
          </a:xfrm>
          <a:prstGeom prst="rect">
            <a:avLst/>
          </a:prstGeom>
          <a:noFill/>
          <a:ln/>
        </p:spPr>
        <p:txBody>
          <a:bodyPr wrap="square" lIns="0" tIns="0" rIns="0" bIns="0" rtlCol="0" anchor="ctr"/>
          <a:lstStyle/>
          <a:p>
            <a:pPr marL="0" indent="0" algn="ctr">
              <a:buNone/>
            </a:pPr>
            <a:r>
              <a:rPr lang="en-US" sz="3080" dirty="0">
                <a:solidFill>
                  <a:srgbClr val="0E4D3C"/>
                </a:solidFill>
              </a:rPr>
              <a:t>🌗</a:t>
            </a:r>
          </a:p>
        </p:txBody>
      </p:sp>
      <p:sp>
        <p:nvSpPr>
          <p:cNvPr id="8" name="Text 6"/>
          <p:cNvSpPr txBox="1"/>
          <p:nvPr/>
        </p:nvSpPr>
        <p:spPr>
          <a:xfrm>
            <a:off x="581724" y="3006090"/>
            <a:ext cx="3383279" cy="548640"/>
          </a:xfrm>
          <a:prstGeom prst="rect">
            <a:avLst/>
          </a:prstGeom>
          <a:noFill/>
          <a:ln/>
        </p:spPr>
        <p:txBody>
          <a:bodyPr wrap="square" lIns="0" tIns="0" rIns="0" bIns="0" rtlCol="0" anchor="ctr"/>
          <a:lstStyle/>
          <a:p>
            <a:pPr marL="0" indent="0" algn="ctr">
              <a:buNone/>
            </a:pPr>
            <a:r>
              <a:rPr lang="en-US" sz="3200" b="1" dirty="0">
                <a:solidFill>
                  <a:srgbClr val="2F3C7E"/>
                </a:solidFill>
                <a:latin typeface="Calibri" pitchFamily="34" charset="0"/>
                <a:ea typeface="Calibri" pitchFamily="34" charset="-122"/>
                <a:cs typeface="Calibri" pitchFamily="34" charset="-120"/>
              </a:rPr>
              <a:t>ダークモード対応</a:t>
            </a:r>
            <a:endParaRPr lang="en-US" sz="3200" dirty="0">
              <a:solidFill>
                <a:srgbClr val="2F3C7E"/>
              </a:solidFill>
            </a:endParaRPr>
          </a:p>
        </p:txBody>
      </p:sp>
      <p:sp>
        <p:nvSpPr>
          <p:cNvPr id="9" name="Text 7"/>
          <p:cNvSpPr txBox="1"/>
          <p:nvPr/>
        </p:nvSpPr>
        <p:spPr>
          <a:xfrm>
            <a:off x="582613" y="3825940"/>
            <a:ext cx="3390803" cy="1631431"/>
          </a:xfrm>
          <a:prstGeom prst="rect">
            <a:avLst/>
          </a:prstGeom>
          <a:noFill/>
          <a:ln/>
        </p:spPr>
        <p:txBody>
          <a:bodyPr wrap="square" lIns="0" tIns="0" rIns="0" bIns="0" rtlCol="0" anchor="t"/>
          <a:lstStyle/>
          <a:p>
            <a:pPr marL="0" indent="0" algn="ctr">
              <a:buNone/>
            </a:pPr>
            <a:r>
              <a:rPr lang="en-US" sz="2800" dirty="0" err="1">
                <a:solidFill>
                  <a:srgbClr val="626262"/>
                </a:solidFill>
                <a:ea typeface="Calibri" pitchFamily="34" charset="-122"/>
                <a:cs typeface="Calibri" pitchFamily="34" charset="-120"/>
              </a:rPr>
              <a:t>幅広い年代が</a:t>
            </a:r>
            <a:endParaRPr lang="en-US" sz="2800" dirty="0">
              <a:solidFill>
                <a:srgbClr val="626262"/>
              </a:solidFill>
              <a:ea typeface="Calibri" pitchFamily="34" charset="-122"/>
              <a:cs typeface="Calibri" pitchFamily="34" charset="-120"/>
            </a:endParaRPr>
          </a:p>
          <a:p>
            <a:pPr marL="0" indent="0" algn="ctr">
              <a:buNone/>
            </a:pPr>
            <a:r>
              <a:rPr lang="en-US" sz="2800" dirty="0" err="1">
                <a:solidFill>
                  <a:srgbClr val="626262"/>
                </a:solidFill>
                <a:ea typeface="Calibri" pitchFamily="34" charset="-122"/>
                <a:cs typeface="Calibri" pitchFamily="34" charset="-120"/>
              </a:rPr>
              <a:t>見やすいように</a:t>
            </a:r>
            <a:r>
              <a:rPr lang="ja-JP" altLang="en-US" sz="2800" dirty="0" err="1">
                <a:solidFill>
                  <a:srgbClr val="626262"/>
                </a:solidFill>
                <a:ea typeface="Calibri" pitchFamily="34" charset="-122"/>
                <a:cs typeface="Calibri" pitchFamily="34" charset="-120"/>
              </a:rPr>
              <a:t>、</a:t>
            </a:r>
            <a:endParaRPr lang="en-US" altLang="ja-JP" sz="2800" dirty="0">
              <a:solidFill>
                <a:srgbClr val="626262"/>
              </a:solidFill>
              <a:ea typeface="Calibri" pitchFamily="34" charset="-122"/>
              <a:cs typeface="Calibri" pitchFamily="34" charset="-120"/>
            </a:endParaRPr>
          </a:p>
          <a:p>
            <a:pPr marL="0" indent="0" algn="ctr">
              <a:buNone/>
            </a:pPr>
            <a:r>
              <a:rPr lang="en-US" sz="2800" dirty="0" err="1">
                <a:solidFill>
                  <a:srgbClr val="626262"/>
                </a:solidFill>
                <a:ea typeface="Calibri" pitchFamily="34" charset="-122"/>
                <a:cs typeface="Calibri" pitchFamily="34" charset="-120"/>
              </a:rPr>
              <a:t>ダークモードを実装</a:t>
            </a:r>
            <a:endParaRPr lang="en-US" sz="2800" dirty="0">
              <a:solidFill>
                <a:srgbClr val="626262"/>
              </a:solidFill>
            </a:endParaRPr>
          </a:p>
        </p:txBody>
      </p:sp>
      <p:sp>
        <p:nvSpPr>
          <p:cNvPr id="10" name="Shape 8"/>
          <p:cNvSpPr/>
          <p:nvPr/>
        </p:nvSpPr>
        <p:spPr>
          <a:xfrm>
            <a:off x="4276891" y="1536395"/>
            <a:ext cx="3566160" cy="4235910"/>
          </a:xfrm>
          <a:prstGeom prst="roundRect">
            <a:avLst>
              <a:gd name="adj" fmla="val 3077"/>
            </a:avLst>
          </a:prstGeom>
          <a:solidFill>
            <a:srgbClr val="FFFFFF"/>
          </a:solidFill>
          <a:ln w="12700">
            <a:solidFill>
              <a:srgbClr val="0E4D3C"/>
            </a:solidFill>
            <a:prstDash val="solid"/>
          </a:ln>
        </p:spPr>
      </p:sp>
      <p:sp>
        <p:nvSpPr>
          <p:cNvPr id="11" name="Shape 9"/>
          <p:cNvSpPr/>
          <p:nvPr/>
        </p:nvSpPr>
        <p:spPr>
          <a:xfrm>
            <a:off x="5593080" y="1892171"/>
            <a:ext cx="1005840" cy="1005840"/>
          </a:xfrm>
          <a:prstGeom prst="ellipse">
            <a:avLst/>
          </a:prstGeom>
          <a:solidFill>
            <a:srgbClr val="F96167"/>
          </a:solidFill>
          <a:ln/>
        </p:spPr>
        <p:txBody>
          <a:bodyPr/>
          <a:lstStyle/>
          <a:p>
            <a:endParaRPr lang="ja-JP" altLang="en-US" dirty="0"/>
          </a:p>
        </p:txBody>
      </p:sp>
      <p:sp>
        <p:nvSpPr>
          <p:cNvPr id="12" name="Text 10"/>
          <p:cNvSpPr txBox="1"/>
          <p:nvPr/>
        </p:nvSpPr>
        <p:spPr>
          <a:xfrm>
            <a:off x="5593080" y="1886348"/>
            <a:ext cx="1005840" cy="1005840"/>
          </a:xfrm>
          <a:prstGeom prst="rect">
            <a:avLst/>
          </a:prstGeom>
          <a:noFill/>
          <a:ln/>
        </p:spPr>
        <p:txBody>
          <a:bodyPr wrap="square" lIns="0" tIns="0" rIns="0" bIns="0" rtlCol="0" anchor="ctr"/>
          <a:lstStyle/>
          <a:p>
            <a:pPr marL="0" indent="0" algn="ctr">
              <a:buNone/>
            </a:pPr>
            <a:r>
              <a:rPr lang="en-US" sz="3080" dirty="0">
                <a:solidFill>
                  <a:srgbClr val="0E4D3C"/>
                </a:solidFill>
              </a:rPr>
              <a:t>📱</a:t>
            </a:r>
          </a:p>
        </p:txBody>
      </p:sp>
      <p:sp>
        <p:nvSpPr>
          <p:cNvPr id="13" name="Text 11"/>
          <p:cNvSpPr txBox="1"/>
          <p:nvPr/>
        </p:nvSpPr>
        <p:spPr>
          <a:xfrm>
            <a:off x="4251959" y="2903220"/>
            <a:ext cx="3566159" cy="725262"/>
          </a:xfrm>
          <a:prstGeom prst="rect">
            <a:avLst/>
          </a:prstGeom>
          <a:noFill/>
          <a:ln/>
        </p:spPr>
        <p:txBody>
          <a:bodyPr wrap="square" lIns="0" tIns="0" rIns="0" bIns="0" rtlCol="0" anchor="ctr"/>
          <a:lstStyle/>
          <a:p>
            <a:pPr marL="0" indent="0" algn="ctr">
              <a:buNone/>
            </a:pPr>
            <a:r>
              <a:rPr lang="en-US" sz="3200" b="1" dirty="0">
                <a:solidFill>
                  <a:srgbClr val="2F3C7E"/>
                </a:solidFill>
                <a:latin typeface="Calibri" pitchFamily="34" charset="0"/>
                <a:ea typeface="Calibri" pitchFamily="34" charset="-122"/>
                <a:cs typeface="Calibri" pitchFamily="34" charset="-120"/>
              </a:rPr>
              <a:t>レスポンシブ対応</a:t>
            </a:r>
            <a:endParaRPr lang="en-US" sz="3200" dirty="0"/>
          </a:p>
        </p:txBody>
      </p:sp>
      <p:sp>
        <p:nvSpPr>
          <p:cNvPr id="14" name="Text 12"/>
          <p:cNvSpPr txBox="1"/>
          <p:nvPr/>
        </p:nvSpPr>
        <p:spPr>
          <a:xfrm>
            <a:off x="4457410" y="3838274"/>
            <a:ext cx="3108960" cy="1934031"/>
          </a:xfrm>
          <a:prstGeom prst="rect">
            <a:avLst/>
          </a:prstGeom>
          <a:noFill/>
          <a:ln/>
        </p:spPr>
        <p:txBody>
          <a:bodyPr wrap="square" lIns="0" tIns="0" rIns="0" bIns="0" rtlCol="0" anchor="t"/>
          <a:lstStyle/>
          <a:p>
            <a:pPr marL="0" indent="0" algn="ctr">
              <a:buNone/>
            </a:pPr>
            <a:r>
              <a:rPr lang="en-US" sz="2800" dirty="0" err="1">
                <a:solidFill>
                  <a:srgbClr val="5A5A5A"/>
                </a:solidFill>
                <a:latin typeface="Calibri" pitchFamily="34" charset="0"/>
                <a:ea typeface="Calibri" pitchFamily="34" charset="-122"/>
                <a:cs typeface="Calibri" pitchFamily="34" charset="-120"/>
              </a:rPr>
              <a:t>将来的なスマホアプリ化も見据え、レイアウトを調整</a:t>
            </a:r>
            <a:endParaRPr lang="en-US" sz="2800" dirty="0"/>
          </a:p>
        </p:txBody>
      </p:sp>
      <p:sp>
        <p:nvSpPr>
          <p:cNvPr id="15" name="Shape 13"/>
          <p:cNvSpPr/>
          <p:nvPr/>
        </p:nvSpPr>
        <p:spPr>
          <a:xfrm>
            <a:off x="8046720" y="1507856"/>
            <a:ext cx="3566160" cy="4235910"/>
          </a:xfrm>
          <a:prstGeom prst="roundRect">
            <a:avLst>
              <a:gd name="adj" fmla="val 3077"/>
            </a:avLst>
          </a:prstGeom>
          <a:solidFill>
            <a:srgbClr val="FFFFFF"/>
          </a:solidFill>
          <a:ln w="12700">
            <a:solidFill>
              <a:srgbClr val="0E4D3C"/>
            </a:solidFill>
            <a:prstDash val="solid"/>
          </a:ln>
        </p:spPr>
      </p:sp>
      <p:sp>
        <p:nvSpPr>
          <p:cNvPr id="16" name="Shape 14"/>
          <p:cNvSpPr/>
          <p:nvPr/>
        </p:nvSpPr>
        <p:spPr>
          <a:xfrm>
            <a:off x="9326880" y="1855675"/>
            <a:ext cx="1005840" cy="1005840"/>
          </a:xfrm>
          <a:prstGeom prst="ellipse">
            <a:avLst/>
          </a:prstGeom>
          <a:solidFill>
            <a:srgbClr val="F96167"/>
          </a:solidFill>
          <a:ln/>
        </p:spPr>
      </p:sp>
      <p:sp>
        <p:nvSpPr>
          <p:cNvPr id="17" name="Text 15"/>
          <p:cNvSpPr txBox="1"/>
          <p:nvPr/>
        </p:nvSpPr>
        <p:spPr>
          <a:xfrm>
            <a:off x="9326880" y="1855675"/>
            <a:ext cx="1005840" cy="1005840"/>
          </a:xfrm>
          <a:prstGeom prst="rect">
            <a:avLst/>
          </a:prstGeom>
          <a:noFill/>
          <a:ln/>
        </p:spPr>
        <p:txBody>
          <a:bodyPr wrap="square" lIns="0" tIns="0" rIns="0" bIns="0" rtlCol="0" anchor="ctr"/>
          <a:lstStyle/>
          <a:p>
            <a:pPr marL="0" indent="0" algn="ctr">
              <a:buNone/>
            </a:pPr>
            <a:r>
              <a:rPr lang="en-US" sz="3080" dirty="0">
                <a:solidFill>
                  <a:srgbClr val="0E4D3C"/>
                </a:solidFill>
              </a:rPr>
              <a:t>⚙️</a:t>
            </a:r>
          </a:p>
        </p:txBody>
      </p:sp>
      <p:sp>
        <p:nvSpPr>
          <p:cNvPr id="18" name="Text 16"/>
          <p:cNvSpPr txBox="1"/>
          <p:nvPr/>
        </p:nvSpPr>
        <p:spPr>
          <a:xfrm>
            <a:off x="7975439" y="2903799"/>
            <a:ext cx="3634837" cy="725262"/>
          </a:xfrm>
          <a:prstGeom prst="rect">
            <a:avLst/>
          </a:prstGeom>
          <a:noFill/>
          <a:ln/>
        </p:spPr>
        <p:txBody>
          <a:bodyPr wrap="square" lIns="0" tIns="0" rIns="0" bIns="0" rtlCol="0" anchor="ctr"/>
          <a:lstStyle/>
          <a:p>
            <a:pPr marL="0" indent="0" algn="ctr">
              <a:buNone/>
            </a:pPr>
            <a:r>
              <a:rPr lang="en-US" sz="3200" b="1" dirty="0" err="1">
                <a:solidFill>
                  <a:srgbClr val="2F3C7E"/>
                </a:solidFill>
                <a:latin typeface="Calibri" pitchFamily="34" charset="0"/>
                <a:ea typeface="Calibri" pitchFamily="34" charset="-122"/>
                <a:cs typeface="Calibri" pitchFamily="34" charset="-120"/>
              </a:rPr>
              <a:t>アカウント</a:t>
            </a:r>
            <a:br>
              <a:rPr lang="en-US" sz="3200" b="1" dirty="0">
                <a:solidFill>
                  <a:srgbClr val="2F3C7E"/>
                </a:solidFill>
                <a:latin typeface="Calibri" pitchFamily="34" charset="0"/>
                <a:ea typeface="Calibri" pitchFamily="34" charset="-122"/>
                <a:cs typeface="Calibri" pitchFamily="34" charset="-120"/>
              </a:rPr>
            </a:br>
            <a:r>
              <a:rPr lang="en-US" sz="3200" b="1" dirty="0" err="1">
                <a:solidFill>
                  <a:srgbClr val="2F3C7E"/>
                </a:solidFill>
                <a:latin typeface="Calibri" pitchFamily="34" charset="0"/>
                <a:ea typeface="Calibri" pitchFamily="34" charset="-122"/>
                <a:cs typeface="Calibri" pitchFamily="34" charset="-120"/>
              </a:rPr>
              <a:t>設定機能</a:t>
            </a:r>
            <a:endParaRPr lang="en-US" sz="3200" dirty="0"/>
          </a:p>
        </p:txBody>
      </p:sp>
      <p:sp>
        <p:nvSpPr>
          <p:cNvPr id="19" name="Text 17"/>
          <p:cNvSpPr txBox="1"/>
          <p:nvPr/>
        </p:nvSpPr>
        <p:spPr>
          <a:xfrm>
            <a:off x="8275320" y="3854479"/>
            <a:ext cx="3108960" cy="1495665"/>
          </a:xfrm>
          <a:prstGeom prst="rect">
            <a:avLst/>
          </a:prstGeom>
          <a:noFill/>
          <a:ln/>
        </p:spPr>
        <p:txBody>
          <a:bodyPr wrap="square" lIns="0" tIns="0" rIns="0" bIns="0" rtlCol="0" anchor="t"/>
          <a:lstStyle/>
          <a:p>
            <a:pPr marL="0" indent="0" algn="ctr">
              <a:buNone/>
            </a:pPr>
            <a:r>
              <a:rPr lang="en-US" sz="2800" dirty="0" err="1">
                <a:solidFill>
                  <a:srgbClr val="5A5A5A"/>
                </a:solidFill>
                <a:latin typeface="Calibri" pitchFamily="34" charset="0"/>
                <a:ea typeface="Calibri" pitchFamily="34" charset="-122"/>
                <a:cs typeface="Calibri" pitchFamily="34" charset="-120"/>
              </a:rPr>
              <a:t>パスワード変更・退会など、自分でアカウントを管理</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0" name="Shape 0">
            <a:extLst>
              <a:ext uri="{FF2B5EF4-FFF2-40B4-BE49-F238E27FC236}">
                <a16:creationId xmlns:a16="http://schemas.microsoft.com/office/drawing/2014/main" id="{483C2591-5BC5-4279-AC86-94DF19955ECD}"/>
              </a:ext>
            </a:extLst>
          </p:cNvPr>
          <p:cNvSpPr/>
          <p:nvPr/>
        </p:nvSpPr>
        <p:spPr>
          <a:xfrm>
            <a:off x="411480" y="251460"/>
            <a:ext cx="4345715" cy="640080"/>
          </a:xfrm>
          <a:prstGeom prst="roundRect">
            <a:avLst>
              <a:gd name="adj" fmla="val 50000"/>
            </a:avLst>
          </a:prstGeom>
          <a:solidFill>
            <a:srgbClr val="F96167"/>
          </a:solidFill>
          <a:ln/>
        </p:spPr>
      </p:sp>
      <p:sp>
        <p:nvSpPr>
          <p:cNvPr id="4" name="Text 2"/>
          <p:cNvSpPr txBox="1"/>
          <p:nvPr/>
        </p:nvSpPr>
        <p:spPr>
          <a:xfrm>
            <a:off x="603040" y="255511"/>
            <a:ext cx="3906456" cy="640080"/>
          </a:xfrm>
          <a:prstGeom prst="rect">
            <a:avLst/>
          </a:prstGeom>
          <a:noFill/>
          <a:ln/>
        </p:spPr>
        <p:txBody>
          <a:bodyPr wrap="square" lIns="0" tIns="0" rIns="0" bIns="0" rtlCol="0" anchor="ctr"/>
          <a:lstStyle/>
          <a:p>
            <a:pPr marL="0" indent="0">
              <a:buNone/>
            </a:pPr>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rPr>
              <a:t>苦労した点:環境構築</a:t>
            </a:r>
            <a:endParaRPr lang="en-US" sz="3200" dirty="0">
              <a:solidFill>
                <a:schemeClr val="bg1"/>
              </a:solidFill>
            </a:endParaRPr>
          </a:p>
        </p:txBody>
      </p:sp>
      <p:sp>
        <p:nvSpPr>
          <p:cNvPr id="5" name="Shape 3"/>
          <p:cNvSpPr/>
          <p:nvPr/>
        </p:nvSpPr>
        <p:spPr>
          <a:xfrm>
            <a:off x="411480" y="1259326"/>
            <a:ext cx="5394960" cy="5280370"/>
          </a:xfrm>
          <a:prstGeom prst="roundRect">
            <a:avLst>
              <a:gd name="adj" fmla="val 2791"/>
            </a:avLst>
          </a:prstGeom>
          <a:solidFill>
            <a:schemeClr val="bg1"/>
          </a:solidFill>
          <a:ln>
            <a:solidFill>
              <a:srgbClr val="ED5551"/>
            </a:solidFill>
          </a:ln>
        </p:spPr>
      </p:sp>
      <p:sp>
        <p:nvSpPr>
          <p:cNvPr id="6" name="Shape 4"/>
          <p:cNvSpPr/>
          <p:nvPr/>
        </p:nvSpPr>
        <p:spPr>
          <a:xfrm>
            <a:off x="664963" y="1501815"/>
            <a:ext cx="731520" cy="731520"/>
          </a:xfrm>
          <a:prstGeom prst="ellipse">
            <a:avLst/>
          </a:prstGeom>
          <a:solidFill>
            <a:srgbClr val="F96167"/>
          </a:solidFill>
          <a:ln/>
        </p:spPr>
      </p:sp>
      <p:sp>
        <p:nvSpPr>
          <p:cNvPr id="7" name="Text 5"/>
          <p:cNvSpPr txBox="1"/>
          <p:nvPr/>
        </p:nvSpPr>
        <p:spPr>
          <a:xfrm>
            <a:off x="664963" y="1464487"/>
            <a:ext cx="731520" cy="731520"/>
          </a:xfrm>
          <a:prstGeom prst="rect">
            <a:avLst/>
          </a:prstGeom>
          <a:noFill/>
          <a:ln/>
        </p:spPr>
        <p:txBody>
          <a:bodyPr wrap="square" lIns="0" tIns="0" rIns="0" bIns="0" rtlCol="0" anchor="ctr"/>
          <a:lstStyle/>
          <a:p>
            <a:pPr marL="0" indent="0" algn="ctr">
              <a:buNone/>
            </a:pPr>
            <a:r>
              <a:rPr lang="en-US" sz="2240" dirty="0">
                <a:solidFill>
                  <a:srgbClr val="2F3C7E"/>
                </a:solidFill>
              </a:rPr>
              <a:t>🐢</a:t>
            </a:r>
          </a:p>
        </p:txBody>
      </p:sp>
      <p:sp>
        <p:nvSpPr>
          <p:cNvPr id="8" name="Text 6"/>
          <p:cNvSpPr txBox="1"/>
          <p:nvPr/>
        </p:nvSpPr>
        <p:spPr>
          <a:xfrm>
            <a:off x="1691640" y="1638975"/>
            <a:ext cx="1433525" cy="457200"/>
          </a:xfrm>
          <a:prstGeom prst="rect">
            <a:avLst/>
          </a:prstGeom>
          <a:noFill/>
          <a:ln/>
        </p:spPr>
        <p:txBody>
          <a:bodyPr wrap="square" lIns="0" tIns="0" rIns="0" bIns="0" rtlCol="0" anchor="ctr"/>
          <a:lstStyle/>
          <a:p>
            <a:pPr marL="0" indent="0">
              <a:buNone/>
            </a:pPr>
            <a:r>
              <a:rPr lang="en-US" sz="2800" b="1" dirty="0">
                <a:solidFill>
                  <a:srgbClr val="F96167"/>
                </a:solidFill>
                <a:latin typeface="Calibri" pitchFamily="34" charset="0"/>
                <a:ea typeface="Calibri" pitchFamily="34" charset="-122"/>
                <a:cs typeface="Calibri" pitchFamily="34" charset="-120"/>
              </a:rPr>
              <a:t>課題</a:t>
            </a:r>
            <a:endParaRPr lang="en-US" sz="2800" dirty="0"/>
          </a:p>
        </p:txBody>
      </p:sp>
      <p:sp>
        <p:nvSpPr>
          <p:cNvPr id="9" name="Text 7"/>
          <p:cNvSpPr txBox="1"/>
          <p:nvPr/>
        </p:nvSpPr>
        <p:spPr>
          <a:xfrm>
            <a:off x="793445" y="2443560"/>
            <a:ext cx="4663440" cy="3820156"/>
          </a:xfrm>
          <a:prstGeom prst="rect">
            <a:avLst/>
          </a:prstGeom>
          <a:noFill/>
          <a:ln/>
        </p:spPr>
        <p:txBody>
          <a:bodyPr wrap="square" lIns="0" tIns="0" rIns="0" bIns="0" rtlCol="0" anchor="t"/>
          <a:lstStyle/>
          <a:p>
            <a:pPr marL="228600" indent="-228600">
              <a:spcAft>
                <a:spcPts val="1400"/>
              </a:spcAft>
              <a:buSzPct val="100000"/>
              <a:buChar char="●"/>
            </a:pPr>
            <a:r>
              <a:rPr lang="en-US" sz="2800" dirty="0">
                <a:solidFill>
                  <a:srgbClr val="6B3A36"/>
                </a:solidFill>
                <a:latin typeface="Calibri" pitchFamily="34" charset="0"/>
                <a:ea typeface="Calibri" pitchFamily="34" charset="-122"/>
                <a:cs typeface="Calibri" pitchFamily="34" charset="-120"/>
              </a:rPr>
              <a:t>当初はWindows上で直接開発していた</a:t>
            </a:r>
            <a:endParaRPr lang="en-US" sz="2800" dirty="0"/>
          </a:p>
          <a:p>
            <a:pPr marL="228600" indent="-228600">
              <a:spcAft>
                <a:spcPts val="1400"/>
              </a:spcAft>
              <a:buSzPct val="100000"/>
              <a:buChar char="●"/>
            </a:pPr>
            <a:r>
              <a:rPr lang="en-US" sz="2800" dirty="0" err="1">
                <a:solidFill>
                  <a:srgbClr val="6B3A36"/>
                </a:solidFill>
                <a:latin typeface="Calibri" pitchFamily="34" charset="0"/>
                <a:ea typeface="Calibri" pitchFamily="34" charset="-122"/>
                <a:cs typeface="Calibri" pitchFamily="34" charset="-120"/>
              </a:rPr>
              <a:t>データベースへの保存処理に</a:t>
            </a:r>
            <a:r>
              <a:rPr lang="en-US" sz="2800" dirty="0">
                <a:solidFill>
                  <a:srgbClr val="6B3A36"/>
                </a:solidFill>
                <a:latin typeface="Calibri" pitchFamily="34" charset="0"/>
                <a:ea typeface="Calibri" pitchFamily="34" charset="-122"/>
                <a:cs typeface="Calibri" pitchFamily="34" charset="-120"/>
              </a:rPr>
              <a:t>、</a:t>
            </a:r>
            <a:r>
              <a:rPr lang="ja-JP" altLang="en-US" sz="2800" dirty="0">
                <a:solidFill>
                  <a:srgbClr val="6B3A36"/>
                </a:solidFill>
                <a:latin typeface="Calibri" pitchFamily="34" charset="0"/>
                <a:ea typeface="Calibri" pitchFamily="34" charset="-122"/>
                <a:cs typeface="Calibri" pitchFamily="34" charset="-120"/>
              </a:rPr>
              <a:t>一単語</a:t>
            </a:r>
            <a:r>
              <a:rPr lang="en-US" altLang="ja-JP" sz="2800" dirty="0">
                <a:solidFill>
                  <a:srgbClr val="6B3A36"/>
                </a:solidFill>
                <a:latin typeface="Calibri" pitchFamily="34" charset="0"/>
                <a:ea typeface="Calibri" pitchFamily="34" charset="-122"/>
                <a:cs typeface="Calibri" pitchFamily="34" charset="-120"/>
              </a:rPr>
              <a:t>40</a:t>
            </a:r>
            <a:r>
              <a:rPr lang="ja-JP" altLang="en-US" sz="2800" dirty="0">
                <a:solidFill>
                  <a:srgbClr val="6B3A36"/>
                </a:solidFill>
                <a:latin typeface="Calibri" pitchFamily="34" charset="0"/>
                <a:ea typeface="Calibri" pitchFamily="34" charset="-122"/>
                <a:cs typeface="Calibri" pitchFamily="34" charset="-120"/>
              </a:rPr>
              <a:t>秒前後</a:t>
            </a:r>
            <a:r>
              <a:rPr lang="en-US" sz="2800" dirty="0" err="1">
                <a:solidFill>
                  <a:srgbClr val="6B3A36"/>
                </a:solidFill>
                <a:latin typeface="Calibri" pitchFamily="34" charset="0"/>
                <a:ea typeface="Calibri" pitchFamily="34" charset="-122"/>
                <a:cs typeface="Calibri" pitchFamily="34" charset="-120"/>
              </a:rPr>
              <a:t>の時間がかかる問題が発生</a:t>
            </a:r>
            <a:endParaRPr lang="en-US" sz="2800" dirty="0"/>
          </a:p>
          <a:p>
            <a:pPr marL="228600" indent="-228600">
              <a:spcAft>
                <a:spcPts val="1400"/>
              </a:spcAft>
              <a:buSzPct val="100000"/>
              <a:buChar char="●"/>
            </a:pPr>
            <a:r>
              <a:rPr lang="en-US" sz="2800" dirty="0">
                <a:solidFill>
                  <a:srgbClr val="6B3A36"/>
                </a:solidFill>
                <a:latin typeface="Calibri" pitchFamily="34" charset="0"/>
                <a:ea typeface="Calibri" pitchFamily="34" charset="-122"/>
                <a:cs typeface="Calibri" pitchFamily="34" charset="-120"/>
              </a:rPr>
              <a:t>原因を調べるところから始めた</a:t>
            </a:r>
            <a:endParaRPr lang="en-US" sz="2800" dirty="0"/>
          </a:p>
        </p:txBody>
      </p:sp>
      <p:sp>
        <p:nvSpPr>
          <p:cNvPr id="10" name="Shape 8"/>
          <p:cNvSpPr/>
          <p:nvPr/>
        </p:nvSpPr>
        <p:spPr>
          <a:xfrm>
            <a:off x="6096000" y="1259326"/>
            <a:ext cx="5577840" cy="5280370"/>
          </a:xfrm>
          <a:prstGeom prst="roundRect">
            <a:avLst>
              <a:gd name="adj" fmla="val 2791"/>
            </a:avLst>
          </a:prstGeom>
          <a:solidFill>
            <a:srgbClr val="2F3C7E"/>
          </a:solidFill>
          <a:ln>
            <a:solidFill>
              <a:srgbClr val="F8FB8D"/>
            </a:solidFill>
          </a:ln>
        </p:spPr>
      </p:sp>
      <p:sp>
        <p:nvSpPr>
          <p:cNvPr id="11" name="Shape 9"/>
          <p:cNvSpPr/>
          <p:nvPr/>
        </p:nvSpPr>
        <p:spPr>
          <a:xfrm>
            <a:off x="6353923" y="1481270"/>
            <a:ext cx="731520" cy="731520"/>
          </a:xfrm>
          <a:prstGeom prst="ellipse">
            <a:avLst/>
          </a:prstGeom>
          <a:solidFill>
            <a:srgbClr val="F9E795"/>
          </a:solidFill>
          <a:ln/>
        </p:spPr>
      </p:sp>
      <p:sp>
        <p:nvSpPr>
          <p:cNvPr id="12" name="Text 10"/>
          <p:cNvSpPr txBox="1"/>
          <p:nvPr/>
        </p:nvSpPr>
        <p:spPr>
          <a:xfrm>
            <a:off x="6353923" y="1501815"/>
            <a:ext cx="731520" cy="731520"/>
          </a:xfrm>
          <a:prstGeom prst="rect">
            <a:avLst/>
          </a:prstGeom>
          <a:noFill/>
          <a:ln/>
        </p:spPr>
        <p:txBody>
          <a:bodyPr wrap="square" lIns="0" tIns="0" rIns="0" bIns="0" rtlCol="0" anchor="ctr"/>
          <a:lstStyle/>
          <a:p>
            <a:pPr marL="0" indent="0" algn="ctr">
              <a:buNone/>
            </a:pPr>
            <a:r>
              <a:rPr lang="en-US" sz="2240" dirty="0">
                <a:solidFill>
                  <a:srgbClr val="000000"/>
                </a:solidFill>
              </a:rPr>
              <a:t>✅</a:t>
            </a:r>
            <a:endParaRPr lang="en-US" sz="2240" dirty="0"/>
          </a:p>
        </p:txBody>
      </p:sp>
      <p:sp>
        <p:nvSpPr>
          <p:cNvPr id="13" name="Text 11"/>
          <p:cNvSpPr txBox="1"/>
          <p:nvPr/>
        </p:nvSpPr>
        <p:spPr>
          <a:xfrm>
            <a:off x="7343366" y="1618430"/>
            <a:ext cx="3931920" cy="457200"/>
          </a:xfrm>
          <a:prstGeom prst="rect">
            <a:avLst/>
          </a:prstGeom>
          <a:noFill/>
          <a:ln/>
        </p:spPr>
        <p:txBody>
          <a:bodyPr wrap="square" lIns="0" tIns="0" rIns="0" bIns="0" rtlCol="0" anchor="ctr"/>
          <a:lstStyle/>
          <a:p>
            <a:pPr marL="0" indent="0">
              <a:buNone/>
            </a:pPr>
            <a:r>
              <a:rPr lang="en-US" sz="2800" b="1" dirty="0">
                <a:solidFill>
                  <a:srgbClr val="F9E795"/>
                </a:solidFill>
                <a:latin typeface="Calibri" pitchFamily="34" charset="0"/>
                <a:ea typeface="Calibri" pitchFamily="34" charset="-122"/>
                <a:cs typeface="Calibri" pitchFamily="34" charset="-120"/>
              </a:rPr>
              <a:t>解決</a:t>
            </a:r>
            <a:endParaRPr lang="en-US" sz="2800" dirty="0"/>
          </a:p>
        </p:txBody>
      </p:sp>
      <p:sp>
        <p:nvSpPr>
          <p:cNvPr id="14" name="Text 12"/>
          <p:cNvSpPr txBox="1"/>
          <p:nvPr/>
        </p:nvSpPr>
        <p:spPr>
          <a:xfrm>
            <a:off x="6492240" y="2352052"/>
            <a:ext cx="5029200" cy="3911664"/>
          </a:xfrm>
          <a:prstGeom prst="rect">
            <a:avLst/>
          </a:prstGeom>
          <a:noFill/>
          <a:ln/>
        </p:spPr>
        <p:txBody>
          <a:bodyPr wrap="square" lIns="0" tIns="0" rIns="0" bIns="0" rtlCol="0" anchor="t"/>
          <a:lstStyle/>
          <a:p>
            <a:pPr marL="228600" indent="-228600">
              <a:spcAft>
                <a:spcPts val="1400"/>
              </a:spcAft>
              <a:buSzPct val="100000"/>
              <a:buChar char="●"/>
            </a:pPr>
            <a:r>
              <a:rPr lang="en-US" sz="2800" dirty="0">
                <a:solidFill>
                  <a:srgbClr val="FFFFFF"/>
                </a:solidFill>
                <a:latin typeface="Calibri" pitchFamily="34" charset="0"/>
                <a:ea typeface="Calibri" pitchFamily="34" charset="-122"/>
                <a:cs typeface="Calibri" pitchFamily="34" charset="-120"/>
              </a:rPr>
              <a:t>WSL2(Linux環境)上で作業する方が処理が高速だと判明</a:t>
            </a:r>
            <a:endParaRPr lang="en-US" sz="2800" dirty="0"/>
          </a:p>
          <a:p>
            <a:pPr marL="228600" indent="-228600">
              <a:spcAft>
                <a:spcPts val="1400"/>
              </a:spcAft>
              <a:buSzPct val="100000"/>
              <a:buChar char="●"/>
            </a:pPr>
            <a:r>
              <a:rPr lang="en-US" sz="2800" dirty="0">
                <a:solidFill>
                  <a:srgbClr val="FFFFFF"/>
                </a:solidFill>
                <a:latin typeface="Calibri" pitchFamily="34" charset="0"/>
                <a:ea typeface="Calibri" pitchFamily="34" charset="-122"/>
                <a:cs typeface="Calibri" pitchFamily="34" charset="-120"/>
              </a:rPr>
              <a:t>開発環境をWindows直下からWSL2 + Dockerへ移行</a:t>
            </a:r>
            <a:endParaRPr lang="en-US" sz="2800" dirty="0"/>
          </a:p>
          <a:p>
            <a:pPr marL="228600" indent="-228600">
              <a:spcAft>
                <a:spcPts val="1400"/>
              </a:spcAft>
              <a:buSzPct val="100000"/>
              <a:buChar char="●"/>
            </a:pPr>
            <a:r>
              <a:rPr lang="en-US" sz="2800" dirty="0">
                <a:solidFill>
                  <a:srgbClr val="FFFFFF"/>
                </a:solidFill>
                <a:latin typeface="Calibri" pitchFamily="34" charset="0"/>
                <a:ea typeface="Calibri" pitchFamily="34" charset="-122"/>
                <a:cs typeface="Calibri" pitchFamily="34" charset="-120"/>
              </a:rPr>
              <a:t>VSCodeの起動確認やGitHub連携など、細かなトラブルにも対応しながら安定した環境を構築</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6" name="Shape 0">
            <a:extLst>
              <a:ext uri="{FF2B5EF4-FFF2-40B4-BE49-F238E27FC236}">
                <a16:creationId xmlns:a16="http://schemas.microsoft.com/office/drawing/2014/main" id="{D6CD6040-3560-455A-A608-F7B3191BC803}"/>
              </a:ext>
            </a:extLst>
          </p:cNvPr>
          <p:cNvSpPr/>
          <p:nvPr/>
        </p:nvSpPr>
        <p:spPr>
          <a:xfrm>
            <a:off x="411480" y="251460"/>
            <a:ext cx="2606040" cy="640080"/>
          </a:xfrm>
          <a:prstGeom prst="roundRect">
            <a:avLst>
              <a:gd name="adj" fmla="val 50000"/>
            </a:avLst>
          </a:prstGeom>
          <a:solidFill>
            <a:srgbClr val="F96167"/>
          </a:solidFill>
          <a:ln/>
        </p:spPr>
      </p:sp>
      <p:sp>
        <p:nvSpPr>
          <p:cNvPr id="4" name="Text 2"/>
          <p:cNvSpPr txBox="1"/>
          <p:nvPr/>
        </p:nvSpPr>
        <p:spPr>
          <a:xfrm>
            <a:off x="685800" y="277792"/>
            <a:ext cx="2193403" cy="640080"/>
          </a:xfrm>
          <a:prstGeom prst="rect">
            <a:avLst/>
          </a:prstGeom>
          <a:noFill/>
          <a:ln/>
        </p:spPr>
        <p:txBody>
          <a:bodyPr wrap="square" lIns="0" tIns="0" rIns="0" bIns="0" rtlCol="0" anchor="ctr"/>
          <a:lstStyle/>
          <a:p>
            <a:pPr marL="0" indent="0">
              <a:buNone/>
            </a:pPr>
            <a:r>
              <a:rPr lang="en-US" sz="3200" b="1" dirty="0" err="1">
                <a:solidFill>
                  <a:schemeClr val="bg1"/>
                </a:solidFill>
                <a:latin typeface="Calibri" panose="020F0502020204030204" pitchFamily="34" charset="0"/>
                <a:ea typeface="Calibri" panose="020F0502020204030204" pitchFamily="34" charset="0"/>
                <a:cs typeface="Calibri" panose="020F0502020204030204" pitchFamily="34" charset="0"/>
              </a:rPr>
              <a:t>今後の課題</a:t>
            </a:r>
            <a:endParaRPr lang="en-US" sz="3200" dirty="0">
              <a:solidFill>
                <a:schemeClr val="bg1"/>
              </a:solidFill>
            </a:endParaRPr>
          </a:p>
        </p:txBody>
      </p:sp>
      <p:sp>
        <p:nvSpPr>
          <p:cNvPr id="5" name="Shape 3"/>
          <p:cNvSpPr/>
          <p:nvPr/>
        </p:nvSpPr>
        <p:spPr>
          <a:xfrm>
            <a:off x="594360" y="1296365"/>
            <a:ext cx="2651760" cy="5150155"/>
          </a:xfrm>
          <a:prstGeom prst="roundRect">
            <a:avLst>
              <a:gd name="adj" fmla="val 4138"/>
            </a:avLst>
          </a:prstGeom>
          <a:solidFill>
            <a:srgbClr val="FFFFFF"/>
          </a:solidFill>
          <a:ln w="12700">
            <a:solidFill>
              <a:srgbClr val="EAD9D0"/>
            </a:solidFill>
            <a:prstDash val="solid"/>
          </a:ln>
        </p:spPr>
      </p:sp>
      <p:sp>
        <p:nvSpPr>
          <p:cNvPr id="6" name="Shape 4"/>
          <p:cNvSpPr/>
          <p:nvPr/>
        </p:nvSpPr>
        <p:spPr>
          <a:xfrm>
            <a:off x="1418767" y="1391713"/>
            <a:ext cx="914400" cy="914400"/>
          </a:xfrm>
          <a:prstGeom prst="ellipse">
            <a:avLst/>
          </a:prstGeom>
          <a:solidFill>
            <a:srgbClr val="F96167"/>
          </a:solidFill>
          <a:ln/>
        </p:spPr>
      </p:sp>
      <p:sp>
        <p:nvSpPr>
          <p:cNvPr id="7" name="Text 5"/>
          <p:cNvSpPr txBox="1"/>
          <p:nvPr/>
        </p:nvSpPr>
        <p:spPr>
          <a:xfrm>
            <a:off x="1430342" y="1391713"/>
            <a:ext cx="914400" cy="914400"/>
          </a:xfrm>
          <a:prstGeom prst="rect">
            <a:avLst/>
          </a:prstGeom>
          <a:noFill/>
          <a:ln/>
        </p:spPr>
        <p:txBody>
          <a:bodyPr wrap="square" lIns="0" tIns="0" rIns="0" bIns="0" rtlCol="0" anchor="ctr"/>
          <a:lstStyle/>
          <a:p>
            <a:pPr marL="0" indent="0" algn="ctr">
              <a:buNone/>
            </a:pPr>
            <a:r>
              <a:rPr lang="en-US" sz="4400" dirty="0">
                <a:solidFill>
                  <a:srgbClr val="000000"/>
                </a:solidFill>
              </a:rPr>
              <a:t>©️</a:t>
            </a:r>
            <a:endParaRPr lang="en-US" sz="4400" dirty="0"/>
          </a:p>
        </p:txBody>
      </p:sp>
      <p:sp>
        <p:nvSpPr>
          <p:cNvPr id="8" name="Text 6"/>
          <p:cNvSpPr txBox="1"/>
          <p:nvPr/>
        </p:nvSpPr>
        <p:spPr>
          <a:xfrm>
            <a:off x="685800" y="2456148"/>
            <a:ext cx="2377440" cy="548640"/>
          </a:xfrm>
          <a:prstGeom prst="rect">
            <a:avLst/>
          </a:prstGeom>
          <a:noFill/>
          <a:ln/>
        </p:spPr>
        <p:txBody>
          <a:bodyPr wrap="square" lIns="0" tIns="0" rIns="0" bIns="0" rtlCol="0" anchor="ctr"/>
          <a:lstStyle/>
          <a:p>
            <a:pPr marL="0" indent="0" algn="ctr">
              <a:buNone/>
            </a:pPr>
            <a:r>
              <a:rPr lang="en-US" sz="2800" b="1" dirty="0">
                <a:solidFill>
                  <a:srgbClr val="2F3C7E"/>
                </a:solidFill>
                <a:latin typeface="Calibri" pitchFamily="34" charset="0"/>
                <a:ea typeface="Calibri" pitchFamily="34" charset="-122"/>
                <a:cs typeface="Calibri" pitchFamily="34" charset="-120"/>
              </a:rPr>
              <a:t>教材の著作権</a:t>
            </a:r>
            <a:endParaRPr lang="en-US" sz="2800" dirty="0"/>
          </a:p>
        </p:txBody>
      </p:sp>
      <p:sp>
        <p:nvSpPr>
          <p:cNvPr id="9" name="Text 7"/>
          <p:cNvSpPr txBox="1"/>
          <p:nvPr/>
        </p:nvSpPr>
        <p:spPr>
          <a:xfrm>
            <a:off x="777240" y="3372524"/>
            <a:ext cx="2286000" cy="2978074"/>
          </a:xfrm>
          <a:prstGeom prst="rect">
            <a:avLst/>
          </a:prstGeom>
          <a:noFill/>
          <a:ln/>
        </p:spPr>
        <p:txBody>
          <a:bodyPr wrap="square" lIns="0" tIns="0" rIns="0" bIns="0" rtlCol="0" anchor="t"/>
          <a:lstStyle/>
          <a:p>
            <a:pPr marL="0" indent="0" algn="ctr">
              <a:buNone/>
            </a:pPr>
            <a:r>
              <a:rPr lang="en-US" sz="2800" dirty="0" err="1">
                <a:solidFill>
                  <a:srgbClr val="5A5A5A"/>
                </a:solidFill>
                <a:latin typeface="Calibri" pitchFamily="34" charset="0"/>
                <a:ea typeface="Calibri" pitchFamily="34" charset="-122"/>
                <a:cs typeface="Calibri" pitchFamily="34" charset="-120"/>
              </a:rPr>
              <a:t>現在は</a:t>
            </a:r>
            <a:r>
              <a:rPr lang="ja-JP" altLang="en-US" sz="2800" dirty="0">
                <a:solidFill>
                  <a:srgbClr val="5A5A5A"/>
                </a:solidFill>
                <a:latin typeface="Calibri" pitchFamily="34" charset="0"/>
                <a:ea typeface="Calibri" pitchFamily="34" charset="-122"/>
                <a:cs typeface="Calibri" pitchFamily="34" charset="-120"/>
              </a:rPr>
              <a:t>市販</a:t>
            </a:r>
            <a:r>
              <a:rPr lang="en-US" sz="2800" dirty="0" err="1">
                <a:solidFill>
                  <a:srgbClr val="5A5A5A"/>
                </a:solidFill>
                <a:latin typeface="Calibri" pitchFamily="34" charset="0"/>
                <a:ea typeface="Calibri" pitchFamily="34" charset="-122"/>
                <a:cs typeface="Calibri" pitchFamily="34" charset="-120"/>
              </a:rPr>
              <a:t>の手話学習カードを使用しているため</a:t>
            </a:r>
            <a:r>
              <a:rPr lang="en-US" sz="2800" dirty="0">
                <a:solidFill>
                  <a:srgbClr val="5A5A5A"/>
                </a:solidFill>
                <a:latin typeface="Calibri" pitchFamily="34" charset="0"/>
                <a:ea typeface="Calibri" pitchFamily="34" charset="-122"/>
                <a:cs typeface="Calibri" pitchFamily="34" charset="-120"/>
              </a:rPr>
              <a:t>、</a:t>
            </a:r>
            <a:r>
              <a:rPr lang="ja-JP" altLang="en-US" sz="2800" dirty="0">
                <a:solidFill>
                  <a:srgbClr val="5A5A5A"/>
                </a:solidFill>
                <a:latin typeface="Calibri" pitchFamily="34" charset="0"/>
                <a:ea typeface="Calibri" pitchFamily="34" charset="-122"/>
                <a:cs typeface="Calibri" pitchFamily="34" charset="-120"/>
              </a:rPr>
              <a:t>この</a:t>
            </a:r>
            <a:r>
              <a:rPr lang="en-US" sz="2800" dirty="0" err="1">
                <a:solidFill>
                  <a:srgbClr val="5A5A5A"/>
                </a:solidFill>
                <a:latin typeface="Calibri" pitchFamily="34" charset="0"/>
                <a:ea typeface="Calibri" pitchFamily="34" charset="-122"/>
                <a:cs typeface="Calibri" pitchFamily="34" charset="-120"/>
              </a:rPr>
              <a:t>ままでは製品化できない</a:t>
            </a:r>
            <a:endParaRPr lang="en-US" sz="2800" dirty="0"/>
          </a:p>
        </p:txBody>
      </p:sp>
      <p:sp>
        <p:nvSpPr>
          <p:cNvPr id="10" name="Shape 8"/>
          <p:cNvSpPr/>
          <p:nvPr/>
        </p:nvSpPr>
        <p:spPr>
          <a:xfrm>
            <a:off x="3429000" y="1296365"/>
            <a:ext cx="2651760" cy="5150155"/>
          </a:xfrm>
          <a:prstGeom prst="roundRect">
            <a:avLst>
              <a:gd name="adj" fmla="val 4138"/>
            </a:avLst>
          </a:prstGeom>
          <a:solidFill>
            <a:srgbClr val="FFFFFF"/>
          </a:solidFill>
          <a:ln w="12700">
            <a:solidFill>
              <a:srgbClr val="EAD9D0"/>
            </a:solidFill>
            <a:prstDash val="solid"/>
          </a:ln>
        </p:spPr>
      </p:sp>
      <p:sp>
        <p:nvSpPr>
          <p:cNvPr id="11" name="Shape 9"/>
          <p:cNvSpPr/>
          <p:nvPr/>
        </p:nvSpPr>
        <p:spPr>
          <a:xfrm>
            <a:off x="4297680" y="1415876"/>
            <a:ext cx="914400" cy="914400"/>
          </a:xfrm>
          <a:prstGeom prst="ellipse">
            <a:avLst/>
          </a:prstGeom>
          <a:solidFill>
            <a:srgbClr val="F96167"/>
          </a:solidFill>
          <a:ln/>
        </p:spPr>
        <p:txBody>
          <a:bodyPr/>
          <a:lstStyle/>
          <a:p>
            <a:endParaRPr lang="ja-JP" altLang="en-US" sz="2800" dirty="0"/>
          </a:p>
        </p:txBody>
      </p:sp>
      <p:sp>
        <p:nvSpPr>
          <p:cNvPr id="12" name="Text 10"/>
          <p:cNvSpPr txBox="1"/>
          <p:nvPr/>
        </p:nvSpPr>
        <p:spPr>
          <a:xfrm>
            <a:off x="4289144" y="1391713"/>
            <a:ext cx="914400" cy="9144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3" name="Text 11"/>
          <p:cNvSpPr txBox="1"/>
          <p:nvPr/>
        </p:nvSpPr>
        <p:spPr>
          <a:xfrm>
            <a:off x="3383280" y="2456148"/>
            <a:ext cx="2651760" cy="548640"/>
          </a:xfrm>
          <a:prstGeom prst="rect">
            <a:avLst/>
          </a:prstGeom>
          <a:noFill/>
          <a:ln/>
        </p:spPr>
        <p:txBody>
          <a:bodyPr wrap="square" lIns="0" tIns="0" rIns="0" bIns="0" rtlCol="0" anchor="ctr"/>
          <a:lstStyle/>
          <a:p>
            <a:pPr marL="0" indent="0" algn="ctr">
              <a:buNone/>
            </a:pPr>
            <a:r>
              <a:rPr lang="en-US" sz="2800" b="1" dirty="0">
                <a:solidFill>
                  <a:srgbClr val="2F3C7E"/>
                </a:solidFill>
                <a:latin typeface="Calibri" pitchFamily="34" charset="0"/>
                <a:ea typeface="Calibri" pitchFamily="34" charset="-122"/>
                <a:cs typeface="Calibri" pitchFamily="34" charset="-120"/>
              </a:rPr>
              <a:t>自作イラスト化</a:t>
            </a:r>
            <a:endParaRPr lang="en-US" sz="2800" dirty="0"/>
          </a:p>
        </p:txBody>
      </p:sp>
      <p:sp>
        <p:nvSpPr>
          <p:cNvPr id="14" name="Text 12"/>
          <p:cNvSpPr txBox="1"/>
          <p:nvPr/>
        </p:nvSpPr>
        <p:spPr>
          <a:xfrm>
            <a:off x="3615466" y="3372524"/>
            <a:ext cx="2286000" cy="2964456"/>
          </a:xfrm>
          <a:prstGeom prst="rect">
            <a:avLst/>
          </a:prstGeom>
          <a:noFill/>
          <a:ln/>
        </p:spPr>
        <p:txBody>
          <a:bodyPr wrap="square" lIns="0" tIns="0" rIns="0" bIns="0" rtlCol="0" anchor="t"/>
          <a:lstStyle/>
          <a:p>
            <a:pPr marL="0" indent="0" algn="ctr">
              <a:buNone/>
            </a:pPr>
            <a:r>
              <a:rPr lang="en-US" sz="2800" dirty="0" err="1">
                <a:solidFill>
                  <a:srgbClr val="5A5A5A"/>
                </a:solidFill>
                <a:latin typeface="Calibri" pitchFamily="34" charset="0"/>
                <a:ea typeface="Calibri" pitchFamily="34" charset="-122"/>
                <a:cs typeface="Calibri" pitchFamily="34" charset="-120"/>
              </a:rPr>
              <a:t>自分でイラストを生成できるようになり、オリジナル教材として提供したい</a:t>
            </a:r>
            <a:endParaRPr lang="en-US" sz="2800" dirty="0"/>
          </a:p>
        </p:txBody>
      </p:sp>
      <p:sp>
        <p:nvSpPr>
          <p:cNvPr id="15" name="Shape 13"/>
          <p:cNvSpPr/>
          <p:nvPr/>
        </p:nvSpPr>
        <p:spPr>
          <a:xfrm>
            <a:off x="6309360" y="1296365"/>
            <a:ext cx="2651760" cy="5150155"/>
          </a:xfrm>
          <a:prstGeom prst="roundRect">
            <a:avLst>
              <a:gd name="adj" fmla="val 4138"/>
            </a:avLst>
          </a:prstGeom>
          <a:solidFill>
            <a:srgbClr val="FFFFFF"/>
          </a:solidFill>
          <a:ln w="12700">
            <a:solidFill>
              <a:srgbClr val="EAD9D0"/>
            </a:solidFill>
            <a:prstDash val="solid"/>
          </a:ln>
        </p:spPr>
      </p:sp>
      <p:sp>
        <p:nvSpPr>
          <p:cNvPr id="16" name="Shape 14"/>
          <p:cNvSpPr/>
          <p:nvPr/>
        </p:nvSpPr>
        <p:spPr>
          <a:xfrm>
            <a:off x="7203794" y="1377388"/>
            <a:ext cx="914400" cy="914400"/>
          </a:xfrm>
          <a:prstGeom prst="ellipse">
            <a:avLst/>
          </a:prstGeom>
          <a:solidFill>
            <a:srgbClr val="2F3C7E"/>
          </a:solidFill>
          <a:ln/>
        </p:spPr>
      </p:sp>
      <p:sp>
        <p:nvSpPr>
          <p:cNvPr id="17" name="Text 15"/>
          <p:cNvSpPr txBox="1"/>
          <p:nvPr/>
        </p:nvSpPr>
        <p:spPr>
          <a:xfrm>
            <a:off x="7203794" y="1391713"/>
            <a:ext cx="914400" cy="914400"/>
          </a:xfrm>
          <a:prstGeom prst="rect">
            <a:avLst/>
          </a:prstGeom>
          <a:noFill/>
          <a:ln/>
        </p:spPr>
        <p:txBody>
          <a:bodyPr wrap="square" lIns="0" tIns="0" rIns="0" bIns="0" rtlCol="0" anchor="ctr"/>
          <a:lstStyle/>
          <a:p>
            <a:pPr marL="0" indent="0" algn="ctr">
              <a:buNone/>
            </a:pPr>
            <a:r>
              <a:rPr lang="en-US" sz="2800" dirty="0">
                <a:solidFill>
                  <a:schemeClr val="bg1"/>
                </a:solidFill>
              </a:rPr>
              <a:t>📶</a:t>
            </a:r>
          </a:p>
        </p:txBody>
      </p:sp>
      <p:sp>
        <p:nvSpPr>
          <p:cNvPr id="18" name="Text 16"/>
          <p:cNvSpPr txBox="1"/>
          <p:nvPr/>
        </p:nvSpPr>
        <p:spPr>
          <a:xfrm>
            <a:off x="6446520" y="2611580"/>
            <a:ext cx="2377440" cy="548640"/>
          </a:xfrm>
          <a:prstGeom prst="rect">
            <a:avLst/>
          </a:prstGeom>
          <a:noFill/>
          <a:ln/>
        </p:spPr>
        <p:txBody>
          <a:bodyPr wrap="square" lIns="0" tIns="0" rIns="0" bIns="0" rtlCol="0" anchor="ctr"/>
          <a:lstStyle/>
          <a:p>
            <a:pPr marL="0" indent="0" algn="ctr">
              <a:buNone/>
            </a:pPr>
            <a:r>
              <a:rPr lang="en-US" sz="2800" b="1" dirty="0">
                <a:solidFill>
                  <a:srgbClr val="2F3C7E"/>
                </a:solidFill>
                <a:latin typeface="Calibri" pitchFamily="34" charset="0"/>
                <a:ea typeface="Calibri" pitchFamily="34" charset="-122"/>
                <a:cs typeface="Calibri" pitchFamily="34" charset="-120"/>
              </a:rPr>
              <a:t>外部アクセス対応</a:t>
            </a:r>
            <a:endParaRPr lang="en-US" sz="2800" dirty="0"/>
          </a:p>
        </p:txBody>
      </p:sp>
      <p:sp>
        <p:nvSpPr>
          <p:cNvPr id="19" name="Text 17"/>
          <p:cNvSpPr txBox="1"/>
          <p:nvPr/>
        </p:nvSpPr>
        <p:spPr>
          <a:xfrm>
            <a:off x="6492240" y="3465687"/>
            <a:ext cx="2286000" cy="2514588"/>
          </a:xfrm>
          <a:prstGeom prst="rect">
            <a:avLst/>
          </a:prstGeom>
          <a:noFill/>
          <a:ln/>
        </p:spPr>
        <p:txBody>
          <a:bodyPr wrap="square" lIns="0" tIns="0" rIns="0" bIns="0" rtlCol="0" anchor="t"/>
          <a:lstStyle/>
          <a:p>
            <a:pPr marL="0" indent="0" algn="ctr">
              <a:buNone/>
            </a:pPr>
            <a:r>
              <a:rPr lang="en-US" sz="2800" dirty="0">
                <a:solidFill>
                  <a:srgbClr val="5A5A5A"/>
                </a:solidFill>
                <a:latin typeface="Calibri" pitchFamily="34" charset="0"/>
                <a:ea typeface="Calibri" pitchFamily="34" charset="-122"/>
                <a:cs typeface="Calibri" pitchFamily="34" charset="-120"/>
              </a:rPr>
              <a:t>スマホから第三者が実際にアクセスできるよう公開範囲を広げたい</a:t>
            </a:r>
            <a:endParaRPr lang="en-US" sz="2800" dirty="0"/>
          </a:p>
        </p:txBody>
      </p:sp>
      <p:sp>
        <p:nvSpPr>
          <p:cNvPr id="20" name="Shape 18"/>
          <p:cNvSpPr/>
          <p:nvPr/>
        </p:nvSpPr>
        <p:spPr>
          <a:xfrm>
            <a:off x="9189720" y="1296364"/>
            <a:ext cx="2651760" cy="5150155"/>
          </a:xfrm>
          <a:prstGeom prst="roundRect">
            <a:avLst>
              <a:gd name="adj" fmla="val 4138"/>
            </a:avLst>
          </a:prstGeom>
          <a:solidFill>
            <a:srgbClr val="FFFFFF"/>
          </a:solidFill>
          <a:ln w="12700">
            <a:solidFill>
              <a:srgbClr val="EAD9D0"/>
            </a:solidFill>
            <a:prstDash val="solid"/>
          </a:ln>
        </p:spPr>
      </p:sp>
      <p:sp>
        <p:nvSpPr>
          <p:cNvPr id="21" name="Shape 19"/>
          <p:cNvSpPr/>
          <p:nvPr/>
        </p:nvSpPr>
        <p:spPr>
          <a:xfrm>
            <a:off x="10058400" y="1391713"/>
            <a:ext cx="914400" cy="914400"/>
          </a:xfrm>
          <a:prstGeom prst="ellipse">
            <a:avLst/>
          </a:prstGeom>
          <a:solidFill>
            <a:srgbClr val="2F3C7E"/>
          </a:solidFill>
          <a:ln/>
        </p:spPr>
      </p:sp>
      <p:sp>
        <p:nvSpPr>
          <p:cNvPr id="22" name="Text 20"/>
          <p:cNvSpPr txBox="1"/>
          <p:nvPr/>
        </p:nvSpPr>
        <p:spPr>
          <a:xfrm>
            <a:off x="10058400" y="1415876"/>
            <a:ext cx="914400" cy="914400"/>
          </a:xfrm>
          <a:prstGeom prst="rect">
            <a:avLst/>
          </a:prstGeom>
          <a:noFill/>
          <a:ln/>
        </p:spPr>
        <p:txBody>
          <a:bodyPr wrap="square" lIns="0" tIns="0" rIns="0" bIns="0" rtlCol="0" anchor="ctr"/>
          <a:lstStyle/>
          <a:p>
            <a:pPr marL="0" indent="0" algn="ctr">
              <a:buNone/>
            </a:pPr>
            <a:r>
              <a:rPr lang="en-US" sz="3200" dirty="0">
                <a:solidFill>
                  <a:schemeClr val="bg1"/>
                </a:solidFill>
              </a:rPr>
              <a:t>🏆</a:t>
            </a:r>
          </a:p>
        </p:txBody>
      </p:sp>
      <p:sp>
        <p:nvSpPr>
          <p:cNvPr id="23" name="Text 21"/>
          <p:cNvSpPr txBox="1"/>
          <p:nvPr/>
        </p:nvSpPr>
        <p:spPr>
          <a:xfrm>
            <a:off x="9326880" y="2600833"/>
            <a:ext cx="2377440" cy="548640"/>
          </a:xfrm>
          <a:prstGeom prst="rect">
            <a:avLst/>
          </a:prstGeom>
          <a:noFill/>
          <a:ln/>
        </p:spPr>
        <p:txBody>
          <a:bodyPr wrap="square" lIns="0" tIns="0" rIns="0" bIns="0" rtlCol="0" anchor="ctr"/>
          <a:lstStyle/>
          <a:p>
            <a:pPr marL="0" indent="0" algn="ctr">
              <a:buNone/>
            </a:pPr>
            <a:r>
              <a:rPr lang="en-US" sz="2800" b="1" dirty="0" err="1">
                <a:solidFill>
                  <a:srgbClr val="2F3C7E"/>
                </a:solidFill>
                <a:latin typeface="Calibri" pitchFamily="34" charset="0"/>
                <a:ea typeface="Calibri" pitchFamily="34" charset="-122"/>
                <a:cs typeface="Calibri" pitchFamily="34" charset="-120"/>
              </a:rPr>
              <a:t>単語拡充</a:t>
            </a:r>
            <a:r>
              <a:rPr lang="en-US" sz="2800" b="1" dirty="0">
                <a:solidFill>
                  <a:srgbClr val="2F3C7E"/>
                </a:solidFill>
                <a:latin typeface="Calibri" pitchFamily="34" charset="0"/>
                <a:ea typeface="Calibri" pitchFamily="34" charset="-122"/>
                <a:cs typeface="Calibri" pitchFamily="34" charset="-120"/>
              </a:rPr>
              <a:t>・</a:t>
            </a:r>
            <a:br>
              <a:rPr lang="en-US" sz="2800" b="1" dirty="0">
                <a:solidFill>
                  <a:srgbClr val="2F3C7E"/>
                </a:solidFill>
                <a:latin typeface="Calibri" pitchFamily="34" charset="0"/>
                <a:ea typeface="Calibri" pitchFamily="34" charset="-122"/>
                <a:cs typeface="Calibri" pitchFamily="34" charset="-120"/>
              </a:rPr>
            </a:br>
            <a:r>
              <a:rPr lang="en-US" sz="2800" b="1" dirty="0" err="1">
                <a:solidFill>
                  <a:srgbClr val="2F3C7E"/>
                </a:solidFill>
                <a:latin typeface="Calibri" pitchFamily="34" charset="0"/>
                <a:ea typeface="Calibri" pitchFamily="34" charset="-122"/>
                <a:cs typeface="Calibri" pitchFamily="34" charset="-120"/>
              </a:rPr>
              <a:t>ランキング</a:t>
            </a:r>
            <a:endParaRPr lang="en-US" sz="2800" dirty="0"/>
          </a:p>
        </p:txBody>
      </p:sp>
      <p:sp>
        <p:nvSpPr>
          <p:cNvPr id="24" name="Text 22"/>
          <p:cNvSpPr txBox="1"/>
          <p:nvPr/>
        </p:nvSpPr>
        <p:spPr>
          <a:xfrm>
            <a:off x="9418320" y="3492661"/>
            <a:ext cx="2286000" cy="2468868"/>
          </a:xfrm>
          <a:prstGeom prst="rect">
            <a:avLst/>
          </a:prstGeom>
          <a:noFill/>
          <a:ln/>
        </p:spPr>
        <p:txBody>
          <a:bodyPr wrap="square" lIns="0" tIns="0" rIns="0" bIns="0" rtlCol="0" anchor="t"/>
          <a:lstStyle/>
          <a:p>
            <a:pPr marL="0" indent="0" algn="ctr">
              <a:buNone/>
            </a:pPr>
            <a:r>
              <a:rPr lang="en-US" sz="2800" dirty="0">
                <a:solidFill>
                  <a:srgbClr val="5A5A5A"/>
                </a:solidFill>
                <a:latin typeface="Calibri" pitchFamily="34" charset="0"/>
                <a:ea typeface="Calibri" pitchFamily="34" charset="-122"/>
                <a:cs typeface="Calibri" pitchFamily="34" charset="-120"/>
              </a:rPr>
              <a:t>単語数を増やし、学習ランキングなどやる気を継続できる機能を追加したい</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F96167">
              <a:alpha val="20000"/>
            </a:srgbClr>
          </a:solidFill>
          <a:ln/>
        </p:spPr>
      </p:sp>
      <p:sp>
        <p:nvSpPr>
          <p:cNvPr id="7" name="四角形: 角を丸くする 6">
            <a:extLst>
              <a:ext uri="{FF2B5EF4-FFF2-40B4-BE49-F238E27FC236}">
                <a16:creationId xmlns:a16="http://schemas.microsoft.com/office/drawing/2014/main" id="{0A8D2B30-D23D-4EBB-B9BD-5B2A72220E9E}"/>
              </a:ext>
            </a:extLst>
          </p:cNvPr>
          <p:cNvSpPr/>
          <p:nvPr/>
        </p:nvSpPr>
        <p:spPr>
          <a:xfrm>
            <a:off x="532503" y="1109831"/>
            <a:ext cx="11126993" cy="5100469"/>
          </a:xfrm>
          <a:prstGeom prst="roundRect">
            <a:avLst/>
          </a:prstGeom>
          <a:solidFill>
            <a:srgbClr val="2F3C7E"/>
          </a:solidFill>
          <a:ln>
            <a:solidFill>
              <a:srgbClr val="F8FB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Text 2"/>
          <p:cNvSpPr txBox="1"/>
          <p:nvPr/>
        </p:nvSpPr>
        <p:spPr>
          <a:xfrm>
            <a:off x="799566" y="1374065"/>
            <a:ext cx="10698480" cy="4572000"/>
          </a:xfrm>
          <a:prstGeom prst="rect">
            <a:avLst/>
          </a:prstGeom>
          <a:noFill/>
          <a:ln/>
        </p:spPr>
        <p:txBody>
          <a:bodyPr wrap="square" lIns="0" tIns="0" rIns="0" bIns="0" rtlCol="0" anchor="t"/>
          <a:lstStyle/>
          <a:p>
            <a:pPr marL="228600" indent="-228600">
              <a:spcAft>
                <a:spcPts val="2000"/>
              </a:spcAft>
              <a:buSzPct val="100000"/>
              <a:buChar char="●"/>
            </a:pPr>
            <a:r>
              <a:rPr lang="en-US" sz="3200" dirty="0">
                <a:solidFill>
                  <a:srgbClr val="FFFFFF"/>
                </a:solidFill>
                <a:latin typeface="Calibri" pitchFamily="34" charset="0"/>
                <a:ea typeface="Calibri" pitchFamily="34" charset="-122"/>
                <a:cs typeface="Calibri" pitchFamily="34" charset="-120"/>
              </a:rPr>
              <a:t>分厚い手話辞典に代わる、手軽に学べるデジタル教材を目指して開発した</a:t>
            </a:r>
            <a:endParaRPr lang="en-US" sz="3200" dirty="0"/>
          </a:p>
          <a:p>
            <a:pPr marL="228600" indent="-228600">
              <a:spcAft>
                <a:spcPts val="2000"/>
              </a:spcAft>
              <a:buSzPct val="100000"/>
              <a:buChar char="●"/>
            </a:pPr>
            <a:r>
              <a:rPr lang="en-US" sz="3200" dirty="0">
                <a:solidFill>
                  <a:srgbClr val="FFFFFF"/>
                </a:solidFill>
                <a:latin typeface="Calibri" pitchFamily="34" charset="0"/>
                <a:ea typeface="Calibri" pitchFamily="34" charset="-122"/>
                <a:cs typeface="Calibri" pitchFamily="34" charset="-120"/>
              </a:rPr>
              <a:t>クイズ・進捗管理・ダークモード対応など、幅広い年代が使いやすい工夫を実装</a:t>
            </a:r>
            <a:endParaRPr lang="en-US" sz="3200" dirty="0"/>
          </a:p>
          <a:p>
            <a:pPr marL="228600" indent="-228600">
              <a:spcAft>
                <a:spcPts val="2000"/>
              </a:spcAft>
              <a:buSzPct val="100000"/>
              <a:buChar char="●"/>
            </a:pPr>
            <a:r>
              <a:rPr lang="en-US" sz="3200" dirty="0">
                <a:solidFill>
                  <a:srgbClr val="FFFFFF"/>
                </a:solidFill>
                <a:latin typeface="Calibri" pitchFamily="34" charset="0"/>
                <a:ea typeface="Calibri" pitchFamily="34" charset="-122"/>
                <a:cs typeface="Calibri" pitchFamily="34" charset="-120"/>
              </a:rPr>
              <a:t>環境構築のトラブルを乗り越え、Laravel・MySQL・Dockerによる開発の流れを実践的に学んだ</a:t>
            </a:r>
            <a:endParaRPr lang="en-US" sz="3200" dirty="0"/>
          </a:p>
          <a:p>
            <a:pPr marL="228600" indent="-228600">
              <a:spcAft>
                <a:spcPts val="2000"/>
              </a:spcAft>
              <a:buSzPct val="100000"/>
              <a:buChar char="●"/>
            </a:pPr>
            <a:r>
              <a:rPr lang="en-US" sz="3200" dirty="0">
                <a:solidFill>
                  <a:srgbClr val="FFFFFF"/>
                </a:solidFill>
                <a:latin typeface="Calibri" pitchFamily="34" charset="0"/>
                <a:ea typeface="Calibri" pitchFamily="34" charset="-122"/>
                <a:cs typeface="Calibri" pitchFamily="34" charset="-120"/>
              </a:rPr>
              <a:t>著作権の壁を越えるオリジナル教材化など、今後もさらに発展させていきたい</a:t>
            </a:r>
            <a:endParaRPr lang="en-US" sz="3200" dirty="0"/>
          </a:p>
        </p:txBody>
      </p:sp>
      <p:sp>
        <p:nvSpPr>
          <p:cNvPr id="8" name="Shape 0">
            <a:extLst>
              <a:ext uri="{FF2B5EF4-FFF2-40B4-BE49-F238E27FC236}">
                <a16:creationId xmlns:a16="http://schemas.microsoft.com/office/drawing/2014/main" id="{0C3DC32E-EAF9-4FD6-A9BC-6C7248D7CDA0}"/>
              </a:ext>
            </a:extLst>
          </p:cNvPr>
          <p:cNvSpPr/>
          <p:nvPr/>
        </p:nvSpPr>
        <p:spPr>
          <a:xfrm>
            <a:off x="528373" y="167864"/>
            <a:ext cx="1865204" cy="640080"/>
          </a:xfrm>
          <a:prstGeom prst="roundRect">
            <a:avLst>
              <a:gd name="adj" fmla="val 50000"/>
            </a:avLst>
          </a:prstGeom>
          <a:solidFill>
            <a:srgbClr val="F96167"/>
          </a:solidFill>
          <a:ln/>
        </p:spPr>
        <p:txBody>
          <a:bodyPr/>
          <a:lstStyle/>
          <a:p>
            <a:r>
              <a:rPr lang="ja-JP" altLang="en-US" sz="3200" b="1" dirty="0">
                <a:solidFill>
                  <a:schemeClr val="bg1"/>
                </a:solidFill>
                <a:latin typeface="Calibri" panose="020F0502020204030204" pitchFamily="34" charset="0"/>
                <a:cs typeface="Calibri" panose="020F0502020204030204" pitchFamily="34" charset="0"/>
              </a:rPr>
              <a:t>まとめ</a:t>
            </a:r>
            <a:endParaRPr lang="ja-JP" alt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0">
            <a:extLst>
              <a:ext uri="{FF2B5EF4-FFF2-40B4-BE49-F238E27FC236}">
                <a16:creationId xmlns:a16="http://schemas.microsoft.com/office/drawing/2014/main" id="{E6FAF425-0EF5-48E5-A019-F1F54E49E739}"/>
              </a:ext>
            </a:extLst>
          </p:cNvPr>
          <p:cNvSpPr/>
          <p:nvPr/>
        </p:nvSpPr>
        <p:spPr>
          <a:xfrm>
            <a:off x="9120850" y="-937833"/>
            <a:ext cx="4869469" cy="4312607"/>
          </a:xfrm>
          <a:prstGeom prst="ellipse">
            <a:avLst/>
          </a:prstGeom>
          <a:solidFill>
            <a:srgbClr val="F96167">
              <a:alpha val="22000"/>
            </a:srgbClr>
          </a:solidFill>
          <a:ln/>
        </p:spPr>
      </p:sp>
      <p:sp>
        <p:nvSpPr>
          <p:cNvPr id="8" name="四角形: 角を丸くする 7">
            <a:extLst>
              <a:ext uri="{FF2B5EF4-FFF2-40B4-BE49-F238E27FC236}">
                <a16:creationId xmlns:a16="http://schemas.microsoft.com/office/drawing/2014/main" id="{34D225DA-6AD9-4CB2-A2E7-4D2FBBD615EA}"/>
              </a:ext>
            </a:extLst>
          </p:cNvPr>
          <p:cNvSpPr/>
          <p:nvPr/>
        </p:nvSpPr>
        <p:spPr>
          <a:xfrm>
            <a:off x="2405265" y="1626704"/>
            <a:ext cx="7381461" cy="3604591"/>
          </a:xfrm>
          <a:prstGeom prst="roundRect">
            <a:avLst/>
          </a:prstGeom>
          <a:solidFill>
            <a:srgbClr val="2F3C7E"/>
          </a:solidFill>
          <a:ln>
            <a:solidFill>
              <a:srgbClr val="F8FB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Text 2"/>
          <p:cNvSpPr txBox="1"/>
          <p:nvPr/>
        </p:nvSpPr>
        <p:spPr>
          <a:xfrm>
            <a:off x="4156523" y="2971799"/>
            <a:ext cx="3878943" cy="914400"/>
          </a:xfrm>
          <a:prstGeom prst="rect">
            <a:avLst/>
          </a:prstGeom>
          <a:noFill/>
          <a:ln/>
        </p:spPr>
        <p:txBody>
          <a:bodyPr wrap="square" lIns="0" tIns="0" rIns="0" bIns="0" rtlCol="0" anchor="ctr"/>
          <a:lstStyle/>
          <a:p>
            <a:pPr marL="0" indent="0" algn="ctr">
              <a:buNone/>
            </a:pPr>
            <a:r>
              <a:rPr lang="ja-JP" altLang="en-US" sz="6000" b="1" spc="600" dirty="0">
                <a:solidFill>
                  <a:schemeClr val="bg1"/>
                </a:solidFill>
                <a:latin typeface="Calibri" panose="020F0502020204030204" pitchFamily="34" charset="0"/>
                <a:cs typeface="Calibri" panose="020F0502020204030204" pitchFamily="34" charset="0"/>
              </a:rPr>
              <a:t>質疑応答</a:t>
            </a:r>
            <a:endParaRPr lang="en-US" sz="6000" spc="600" dirty="0">
              <a:solidFill>
                <a:schemeClr val="bg1"/>
              </a:solidFill>
            </a:endParaRPr>
          </a:p>
        </p:txBody>
      </p:sp>
      <p:sp>
        <p:nvSpPr>
          <p:cNvPr id="11" name="Shape 1">
            <a:extLst>
              <a:ext uri="{FF2B5EF4-FFF2-40B4-BE49-F238E27FC236}">
                <a16:creationId xmlns:a16="http://schemas.microsoft.com/office/drawing/2014/main" id="{29AF9673-C7EF-419A-A71F-80604C1F41CA}"/>
              </a:ext>
            </a:extLst>
          </p:cNvPr>
          <p:cNvSpPr/>
          <p:nvPr/>
        </p:nvSpPr>
        <p:spPr>
          <a:xfrm>
            <a:off x="-1371600" y="4114800"/>
            <a:ext cx="4114800" cy="4114800"/>
          </a:xfrm>
          <a:prstGeom prst="ellipse">
            <a:avLst/>
          </a:prstGeom>
          <a:solidFill>
            <a:srgbClr val="F9E795">
              <a:alpha val="15000"/>
            </a:srgbClr>
          </a:solidFill>
          <a:ln/>
        </p:spPr>
      </p:sp>
    </p:spTree>
    <p:extLst>
      <p:ext uri="{BB962C8B-B14F-4D97-AF65-F5344CB8AC3E}">
        <p14:creationId xmlns:p14="http://schemas.microsoft.com/office/powerpoint/2010/main" val="3539656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120850" y="-1645920"/>
            <a:ext cx="4869469" cy="4312607"/>
          </a:xfrm>
          <a:prstGeom prst="ellipse">
            <a:avLst/>
          </a:prstGeom>
          <a:solidFill>
            <a:srgbClr val="F96167">
              <a:alpha val="22000"/>
            </a:srgbClr>
          </a:solidFill>
          <a:ln/>
        </p:spPr>
      </p:sp>
      <p:sp>
        <p:nvSpPr>
          <p:cNvPr id="3" name="Shape 1"/>
          <p:cNvSpPr/>
          <p:nvPr/>
        </p:nvSpPr>
        <p:spPr>
          <a:xfrm>
            <a:off x="-1371600" y="4114800"/>
            <a:ext cx="4114800" cy="4114800"/>
          </a:xfrm>
          <a:prstGeom prst="ellipse">
            <a:avLst/>
          </a:prstGeom>
          <a:solidFill>
            <a:srgbClr val="F9E795">
              <a:alpha val="15000"/>
            </a:srgbClr>
          </a:solidFill>
          <a:ln/>
        </p:spPr>
      </p:sp>
      <p:grpSp>
        <p:nvGrpSpPr>
          <p:cNvPr id="10" name="グループ化 9">
            <a:extLst>
              <a:ext uri="{FF2B5EF4-FFF2-40B4-BE49-F238E27FC236}">
                <a16:creationId xmlns:a16="http://schemas.microsoft.com/office/drawing/2014/main" id="{EA3DD52E-38B0-4049-B0A1-EF98EDEC0D70}"/>
              </a:ext>
            </a:extLst>
          </p:cNvPr>
          <p:cNvGrpSpPr/>
          <p:nvPr/>
        </p:nvGrpSpPr>
        <p:grpSpPr>
          <a:xfrm>
            <a:off x="5266095" y="1094472"/>
            <a:ext cx="1805651" cy="1552557"/>
            <a:chOff x="5257800" y="1248987"/>
            <a:chExt cx="1661160" cy="1673587"/>
          </a:xfrm>
        </p:grpSpPr>
        <p:sp>
          <p:nvSpPr>
            <p:cNvPr id="4" name="Shape 2"/>
            <p:cNvSpPr/>
            <p:nvPr/>
          </p:nvSpPr>
          <p:spPr>
            <a:xfrm>
              <a:off x="5257800" y="1248987"/>
              <a:ext cx="1645920" cy="1645920"/>
            </a:xfrm>
            <a:prstGeom prst="ellipse">
              <a:avLst/>
            </a:prstGeom>
            <a:solidFill>
              <a:srgbClr val="F8FB8D"/>
            </a:solidFill>
            <a:ln/>
          </p:spPr>
        </p:sp>
        <p:sp>
          <p:nvSpPr>
            <p:cNvPr id="5" name="Text 3"/>
            <p:cNvSpPr txBox="1"/>
            <p:nvPr/>
          </p:nvSpPr>
          <p:spPr>
            <a:xfrm>
              <a:off x="5273040" y="1276654"/>
              <a:ext cx="1645920" cy="1645920"/>
            </a:xfrm>
            <a:prstGeom prst="rect">
              <a:avLst/>
            </a:prstGeom>
            <a:noFill/>
            <a:ln/>
          </p:spPr>
          <p:txBody>
            <a:bodyPr wrap="square" lIns="0" tIns="0" rIns="0" bIns="0" rtlCol="0" anchor="ctr"/>
            <a:lstStyle/>
            <a:p>
              <a:pPr marL="0" indent="0" algn="ctr">
                <a:buNone/>
              </a:pPr>
              <a:r>
                <a:rPr lang="en-US" sz="6600" dirty="0">
                  <a:solidFill>
                    <a:srgbClr val="376CAD"/>
                  </a:solidFill>
                </a:rPr>
                <a:t>🤟</a:t>
              </a:r>
            </a:p>
          </p:txBody>
        </p:sp>
      </p:grpSp>
      <p:sp>
        <p:nvSpPr>
          <p:cNvPr id="6" name="Text 4"/>
          <p:cNvSpPr txBox="1"/>
          <p:nvPr/>
        </p:nvSpPr>
        <p:spPr>
          <a:xfrm>
            <a:off x="819681" y="4849970"/>
            <a:ext cx="10698480" cy="753273"/>
          </a:xfrm>
          <a:prstGeom prst="rect">
            <a:avLst/>
          </a:prstGeom>
          <a:noFill/>
          <a:ln/>
        </p:spPr>
        <p:txBody>
          <a:bodyPr wrap="square" lIns="0" tIns="0" rIns="0" bIns="0" rtlCol="0" anchor="ctr"/>
          <a:lstStyle/>
          <a:p>
            <a:pPr algn="ctr"/>
            <a:endParaRPr lang="en-US" sz="4400" dirty="0"/>
          </a:p>
        </p:txBody>
      </p:sp>
      <p:sp>
        <p:nvSpPr>
          <p:cNvPr id="8" name="Text 6"/>
          <p:cNvSpPr txBox="1"/>
          <p:nvPr/>
        </p:nvSpPr>
        <p:spPr>
          <a:xfrm>
            <a:off x="-46395" y="380914"/>
            <a:ext cx="5579189" cy="713558"/>
          </a:xfrm>
          <a:prstGeom prst="rect">
            <a:avLst/>
          </a:prstGeom>
          <a:noFill/>
          <a:ln/>
        </p:spPr>
        <p:txBody>
          <a:bodyPr wrap="square" lIns="0" tIns="0" rIns="0" bIns="0" rtlCol="0" anchor="ctr"/>
          <a:lstStyle/>
          <a:p>
            <a:pPr marL="0" indent="0" algn="ctr">
              <a:buNone/>
            </a:pPr>
            <a:r>
              <a:rPr lang="en-US" sz="2800" dirty="0">
                <a:solidFill>
                  <a:schemeClr val="bg1"/>
                </a:solidFill>
                <a:latin typeface="Calibri" pitchFamily="34" charset="0"/>
                <a:ea typeface="Calibri" pitchFamily="34" charset="-122"/>
                <a:cs typeface="Calibri" pitchFamily="34" charset="-120"/>
              </a:rPr>
              <a:t>Webアプリ開発実習 成果発表</a:t>
            </a:r>
            <a:endParaRPr lang="en-US" sz="2800" dirty="0">
              <a:solidFill>
                <a:schemeClr val="bg1"/>
              </a:solidFill>
            </a:endParaRPr>
          </a:p>
        </p:txBody>
      </p:sp>
      <p:grpSp>
        <p:nvGrpSpPr>
          <p:cNvPr id="11" name="グループ化 10">
            <a:extLst>
              <a:ext uri="{FF2B5EF4-FFF2-40B4-BE49-F238E27FC236}">
                <a16:creationId xmlns:a16="http://schemas.microsoft.com/office/drawing/2014/main" id="{9EA16452-061F-4CD5-A6FD-C052FEDA02C9}"/>
              </a:ext>
            </a:extLst>
          </p:cNvPr>
          <p:cNvGrpSpPr/>
          <p:nvPr/>
        </p:nvGrpSpPr>
        <p:grpSpPr>
          <a:xfrm>
            <a:off x="1274094" y="2743200"/>
            <a:ext cx="9853286" cy="2200624"/>
            <a:chOff x="1235435" y="2421669"/>
            <a:chExt cx="9853286" cy="2200624"/>
          </a:xfrm>
        </p:grpSpPr>
        <p:grpSp>
          <p:nvGrpSpPr>
            <p:cNvPr id="22" name="グループ化 21">
              <a:extLst>
                <a:ext uri="{FF2B5EF4-FFF2-40B4-BE49-F238E27FC236}">
                  <a16:creationId xmlns:a16="http://schemas.microsoft.com/office/drawing/2014/main" id="{46B2DB1D-EC05-45B1-ACA2-8685845615AD}"/>
                </a:ext>
              </a:extLst>
            </p:cNvPr>
            <p:cNvGrpSpPr/>
            <p:nvPr/>
          </p:nvGrpSpPr>
          <p:grpSpPr>
            <a:xfrm>
              <a:off x="1235435" y="2421669"/>
              <a:ext cx="9853286" cy="2200624"/>
              <a:chOff x="2148970" y="1155784"/>
              <a:chExt cx="8773610" cy="1653787"/>
            </a:xfrm>
          </p:grpSpPr>
          <p:sp>
            <p:nvSpPr>
              <p:cNvPr id="21" name="四角形: 角を丸くする 20">
                <a:extLst>
                  <a:ext uri="{FF2B5EF4-FFF2-40B4-BE49-F238E27FC236}">
                    <a16:creationId xmlns:a16="http://schemas.microsoft.com/office/drawing/2014/main" id="{1E11F142-131B-4DCB-BBE4-632C3FE352F5}"/>
                  </a:ext>
                </a:extLst>
              </p:cNvPr>
              <p:cNvSpPr/>
              <p:nvPr/>
            </p:nvSpPr>
            <p:spPr>
              <a:xfrm>
                <a:off x="2148970" y="1155784"/>
                <a:ext cx="8773610" cy="165378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Text 4">
                <a:extLst>
                  <a:ext uri="{FF2B5EF4-FFF2-40B4-BE49-F238E27FC236}">
                    <a16:creationId xmlns:a16="http://schemas.microsoft.com/office/drawing/2014/main" id="{A6694F7F-E7A4-4AF2-8989-BE587BD956B8}"/>
                  </a:ext>
                </a:extLst>
              </p:cNvPr>
              <p:cNvSpPr txBox="1"/>
              <p:nvPr/>
            </p:nvSpPr>
            <p:spPr>
              <a:xfrm>
                <a:off x="2706642" y="1616970"/>
                <a:ext cx="7727112" cy="725665"/>
              </a:xfrm>
              <a:prstGeom prst="rect">
                <a:avLst/>
              </a:prstGeom>
              <a:noFill/>
              <a:ln/>
            </p:spPr>
            <p:txBody>
              <a:bodyPr wrap="square" lIns="0" tIns="0" rIns="0" bIns="0" rtlCol="0" anchor="ctr"/>
              <a:lstStyle/>
              <a:p>
                <a:pPr algn="ctr"/>
                <a:r>
                  <a:rPr lang="ja-JP" altLang="en-US" sz="5400" b="1" dirty="0">
                    <a:solidFill>
                      <a:srgbClr val="0070C0"/>
                    </a:solidFill>
                    <a:latin typeface="HGPｺﾞｼｯｸE" panose="020B0900000000000000" pitchFamily="50" charset="-128"/>
                    <a:ea typeface="HGPｺﾞｼｯｸE" panose="020B0900000000000000" pitchFamily="50" charset="-128"/>
                    <a:cs typeface="Calibri" panose="020F0502020204030204" pitchFamily="34" charset="0"/>
                  </a:rPr>
                  <a:t>ご清聴ありがとうございました</a:t>
                </a:r>
                <a:endParaRPr lang="en-US" sz="5400" dirty="0">
                  <a:solidFill>
                    <a:srgbClr val="0070C0"/>
                  </a:solidFill>
                  <a:latin typeface="HGPｺﾞｼｯｸE" panose="020B0900000000000000" pitchFamily="50" charset="-128"/>
                  <a:ea typeface="HGPｺﾞｼｯｸE" panose="020B0900000000000000" pitchFamily="50" charset="-128"/>
                </a:endParaRPr>
              </a:p>
            </p:txBody>
          </p:sp>
        </p:grpSp>
        <p:sp>
          <p:nvSpPr>
            <p:cNvPr id="17" name="Text 4">
              <a:extLst>
                <a:ext uri="{FF2B5EF4-FFF2-40B4-BE49-F238E27FC236}">
                  <a16:creationId xmlns:a16="http://schemas.microsoft.com/office/drawing/2014/main" id="{1F87E23D-8982-437F-B4E3-AEE251AF7746}"/>
                </a:ext>
              </a:extLst>
            </p:cNvPr>
            <p:cNvSpPr txBox="1"/>
            <p:nvPr/>
          </p:nvSpPr>
          <p:spPr>
            <a:xfrm>
              <a:off x="1879099" y="3009684"/>
              <a:ext cx="8678006" cy="965612"/>
            </a:xfrm>
            <a:prstGeom prst="rect">
              <a:avLst/>
            </a:prstGeom>
            <a:noFill/>
            <a:ln/>
          </p:spPr>
          <p:txBody>
            <a:bodyPr wrap="square" lIns="0" tIns="0" rIns="0" bIns="0" rtlCol="0" anchor="ctr"/>
            <a:lstStyle/>
            <a:p>
              <a:pPr algn="ctr"/>
              <a:r>
                <a:rPr lang="ja-JP" altLang="en-US" sz="5400" b="1" dirty="0">
                  <a:solidFill>
                    <a:srgbClr val="ED5551"/>
                  </a:solidFill>
                  <a:latin typeface="HGPｺﾞｼｯｸE" panose="020B0900000000000000" pitchFamily="50" charset="-128"/>
                  <a:ea typeface="HGPｺﾞｼｯｸE" panose="020B0900000000000000" pitchFamily="50" charset="-128"/>
                  <a:cs typeface="Calibri" panose="020F0502020204030204" pitchFamily="34" charset="0"/>
                </a:rPr>
                <a:t>ご清聴ありがとうございました</a:t>
              </a:r>
              <a:endParaRPr lang="en-US" sz="5400" dirty="0">
                <a:solidFill>
                  <a:srgbClr val="ED5551"/>
                </a:solidFill>
                <a:latin typeface="HGPｺﾞｼｯｸE" panose="020B0900000000000000" pitchFamily="50" charset="-128"/>
                <a:ea typeface="HGPｺﾞｼｯｸE" panose="020B0900000000000000" pitchFamily="50" charset="-128"/>
              </a:endParaRPr>
            </a:p>
          </p:txBody>
        </p:sp>
      </p:grpSp>
    </p:spTree>
    <p:extLst>
      <p:ext uri="{BB962C8B-B14F-4D97-AF65-F5344CB8AC3E}">
        <p14:creationId xmlns:p14="http://schemas.microsoft.com/office/powerpoint/2010/main" val="663821474"/>
      </p:ext>
    </p:extLst>
  </p:cSld>
  <p:clrMapOvr>
    <a:masterClrMapping/>
  </p:clrMapOvr>
</p:sld>
</file>

<file path=ppt/theme/theme1.xml><?xml version="1.0" encoding="utf-8"?>
<a:theme xmlns:a="http://schemas.openxmlformats.org/drawingml/2006/main" name="Office Theme">
  <a:themeElements>
    <a:clrScheme name="Office テーマ">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810</TotalTime>
  <Words>1555</Words>
  <Application>Microsoft Office PowerPoint</Application>
  <PresentationFormat>ワイド画面</PresentationFormat>
  <Paragraphs>203</Paragraphs>
  <Slides>18</Slides>
  <Notes>18</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18</vt:i4>
      </vt:variant>
    </vt:vector>
  </HeadingPairs>
  <TitlesOfParts>
    <vt:vector size="25" baseType="lpstr">
      <vt:lpstr>HGPｺﾞｼｯｸE</vt:lpstr>
      <vt:lpstr>游ゴシック</vt:lpstr>
      <vt:lpstr>游ゴシック Light</vt:lpstr>
      <vt:lpstr>Arial</vt:lpstr>
      <vt:lpstr>Calibri</vt:lpstr>
      <vt:lpstr>Calibri Light</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2025_CS 賀来 らら</cp:lastModifiedBy>
  <cp:revision>61</cp:revision>
  <dcterms:created xsi:type="dcterms:W3CDTF">2026-09-22T11:33:05Z</dcterms:created>
  <dcterms:modified xsi:type="dcterms:W3CDTF">2026-10-05T02:55:53Z</dcterms:modified>
</cp:coreProperties>
</file>